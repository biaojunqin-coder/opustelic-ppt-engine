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7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8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全球工业AI资本开支指数(2020=100)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  <c:pt idx="7">
                    <c:v>2027E</c:v>
                  </c:pt>
                  <c:pt idx="8">
                    <c:v>2028E</c:v>
                  </c:pt>
                  <c:pt idx="9">
                    <c:v>2029E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120</c:v>
                </c:pt>
                <c:pt idx="1">
                  <c:v>145</c:v>
                </c:pt>
                <c:pt idx="2">
                  <c:v>168</c:v>
                </c:pt>
                <c:pt idx="3">
                  <c:v>205</c:v>
                </c:pt>
                <c:pt idx="4">
                  <c:v>248</c:v>
                </c:pt>
                <c:pt idx="5">
                  <c:v>310</c:v>
                </c:pt>
                <c:pt idx="6">
                  <c:v>380</c:v>
                </c:pt>
                <c:pt idx="7">
                  <c:v>462</c:v>
                </c:pt>
                <c:pt idx="8">
                  <c:v>548</c:v>
                </c:pt>
                <c:pt idx="9">
                  <c:v>635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全球工业AI渗透率(%)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A93B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  <c:pt idx="7">
                    <c:v>2027E</c:v>
                  </c:pt>
                  <c:pt idx="8">
                    <c:v>2028E</c:v>
                  </c:pt>
                  <c:pt idx="9">
                    <c:v>2029E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</c:v>
                </c:pt>
                <c:pt idx="1">
                  <c:v>11</c:v>
                </c:pt>
                <c:pt idx="2">
                  <c:v>15</c:v>
                </c:pt>
                <c:pt idx="3">
                  <c:v>19</c:v>
                </c:pt>
                <c:pt idx="4">
                  <c:v>24</c:v>
                </c:pt>
                <c:pt idx="5">
                  <c:v>30</c:v>
                </c:pt>
                <c:pt idx="6">
                  <c:v>37</c:v>
                </c:pt>
                <c:pt idx="7">
                  <c:v>45</c:v>
                </c:pt>
                <c:pt idx="8">
                  <c:v>53</c:v>
                </c:pt>
                <c:pt idx="9">
                  <c:v>61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中国工业AI渗透率(%)</c:v>
                </c:pt>
              </c:strCache>
            </c:strRef>
          </c:tx>
          <c:spPr>
            <a:solidFill>
              <a:srgbClr val="F2A93B"/>
            </a:solidFill>
            <a:ln w="3175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  <c:pt idx="7">
                    <c:v>2027E</c:v>
                  </c:pt>
                  <c:pt idx="8">
                    <c:v>2028E</c:v>
                  </c:pt>
                  <c:pt idx="9">
                    <c:v>2029E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</c:v>
                </c:pt>
                <c:pt idx="1">
                  <c:v>7</c:v>
                </c:pt>
                <c:pt idx="2">
                  <c:v>10</c:v>
                </c:pt>
                <c:pt idx="3">
                  <c:v>14</c:v>
                </c:pt>
                <c:pt idx="4">
                  <c:v>19</c:v>
                </c:pt>
                <c:pt idx="5">
                  <c:v>26</c:v>
                </c:pt>
                <c:pt idx="6">
                  <c:v>34</c:v>
                </c:pt>
                <c:pt idx="7">
                  <c:v>43</c:v>
                </c:pt>
                <c:pt idx="8">
                  <c:v>52</c:v>
                </c:pt>
                <c:pt idx="9">
                  <c:v>60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资本开支指数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行业均值</c:v>
                </c:pt>
              </c:strCache>
            </c:strRef>
          </c:tx>
          <c:spPr>
            <a:solidFill>
              <a:srgbClr val="64748B"/>
            </a:solidFill>
            <a:ln w="254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数据基础设施</c:v>
                  </c:pt>
                  <c:pt idx="1">
                    <c:v>预测性运维</c:v>
                  </c:pt>
                  <c:pt idx="2">
                    <c:v>视觉质检自动化</c:v>
                  </c:pt>
                  <c:pt idx="3">
                    <c:v>智能排产</c:v>
                  </c:pt>
                  <c:pt idx="4">
                    <c:v>知识管理</c:v>
                  </c:pt>
                  <c:pt idx="5">
                    <c:v>组织与人才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48</c:v>
                </c:pt>
                <c:pt idx="2">
                  <c:v>42</c:v>
                </c:pt>
                <c:pt idx="3">
                  <c:v>40</c:v>
                </c:pt>
                <c:pt idx="4">
                  <c:v>38</c:v>
                </c:pt>
                <c:pt idx="5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领先者标杆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数据基础设施</c:v>
                  </c:pt>
                  <c:pt idx="1">
                    <c:v>预测性运维</c:v>
                  </c:pt>
                  <c:pt idx="2">
                    <c:v>视觉质检自动化</c:v>
                  </c:pt>
                  <c:pt idx="3">
                    <c:v>智能排产</c:v>
                  </c:pt>
                  <c:pt idx="4">
                    <c:v>知识管理</c:v>
                  </c:pt>
                  <c:pt idx="5">
                    <c:v>组织与人才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88</c:v>
                </c:pt>
                <c:pt idx="1">
                  <c:v>82</c:v>
                </c:pt>
                <c:pt idx="2">
                  <c:v>85</c:v>
                </c:pt>
                <c:pt idx="3">
                  <c:v>78</c:v>
                </c:pt>
                <c:pt idx="4">
                  <c:v>80</c:v>
                </c:pt>
                <c:pt idx="5">
                  <c:v>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云枢重工现状</c:v>
                </c:pt>
              </c:strCache>
            </c:strRef>
          </c:tx>
          <c:spPr>
            <a:solidFill>
              <a:srgbClr val="F2A93B"/>
            </a:solidFill>
            <a:ln w="2540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数据基础设施</c:v>
                  </c:pt>
                  <c:pt idx="1">
                    <c:v>预测性运维</c:v>
                  </c:pt>
                  <c:pt idx="2">
                    <c:v>视觉质检自动化</c:v>
                  </c:pt>
                  <c:pt idx="3">
                    <c:v>智能排产</c:v>
                  </c:pt>
                  <c:pt idx="4">
                    <c:v>知识管理</c:v>
                  </c:pt>
                  <c:pt idx="5">
                    <c:v>组织与人才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38</c:v>
                </c:pt>
                <c:pt idx="1">
                  <c:v>30</c:v>
                </c:pt>
                <c:pt idx="2">
                  <c:v>22</c:v>
                </c:pt>
                <c:pt idx="3">
                  <c:v>25</c:v>
                </c:pt>
                <c:pt idx="4">
                  <c:v>20</c:v>
                </c:pt>
                <c:pt idx="5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行业标杆</c:v>
                </c:pt>
              </c:strCache>
            </c:strRef>
          </c:tx>
          <c:spPr>
            <a:solidFill>
              <a:srgbClr val="CADCFC"/>
            </a:solidFill>
            <a:ln w="254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数据治理</c:v>
                  </c:pt>
                  <c:pt idx="1">
                    <c:v>系统集成</c:v>
                  </c:pt>
                  <c:pt idx="2">
                    <c:v>算法能力</c:v>
                  </c:pt>
                  <c:pt idx="3">
                    <c:v>组织能力</c:v>
                  </c:pt>
                  <c:pt idx="4">
                    <c:v>安全合规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80</c:v>
                </c:pt>
                <c:pt idx="2">
                  <c:v>78</c:v>
                </c:pt>
                <c:pt idx="3">
                  <c:v>74</c:v>
                </c:pt>
                <c:pt idx="4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云枢重工现状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数据治理</c:v>
                  </c:pt>
                  <c:pt idx="1">
                    <c:v>系统集成</c:v>
                  </c:pt>
                  <c:pt idx="2">
                    <c:v>算法能力</c:v>
                  </c:pt>
                  <c:pt idx="3">
                    <c:v>组织能力</c:v>
                  </c:pt>
                  <c:pt idx="4">
                    <c:v>安全合规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42</c:v>
                </c:pt>
                <c:pt idx="2">
                  <c:v>20</c:v>
                </c:pt>
                <c:pt idx="3">
                  <c:v>38</c:v>
                </c:pt>
                <c:pt idx="4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转型前（2026基线）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非计划停机时长(小时/月)</c:v>
                  </c:pt>
                  <c:pt idx="1">
                    <c:v>单位维护成本(万元/月)</c:v>
                  </c:pt>
                  <c:pt idx="2">
                    <c:v>紧急抢修次数(次/月)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186</c:v>
                </c:pt>
                <c:pt idx="1">
                  <c:v>142</c:v>
                </c:pt>
                <c:pt idx="2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转型后（2029目标）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非计划停机时长(小时/月)</c:v>
                  </c:pt>
                  <c:pt idx="1">
                    <c:v>单位维护成本(万元/月)</c:v>
                  </c:pt>
                  <c:pt idx="2">
                    <c:v>紧急抢修次数(次/月)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108</c:v>
                </c:pt>
                <c:pt idx="1">
                  <c:v>104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转型前漏检率(%)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铸造</c:v>
                  </c:pt>
                  <c:pt idx="1">
                    <c:v>焊接</c:v>
                  </c:pt>
                  <c:pt idx="2">
                    <c:v>涂装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8.9</c:v>
                </c:pt>
                <c:pt idx="1">
                  <c:v>6.4</c:v>
                </c:pt>
                <c:pt idx="2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转型后漏检率(%)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铸造</c:v>
                  </c:pt>
                  <c:pt idx="1">
                    <c:v>焊接</c:v>
                  </c:pt>
                  <c:pt idx="2">
                    <c:v>涂装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2.8</c:v>
                </c:pt>
                <c:pt idx="1">
                  <c:v>2.2</c:v>
                </c:pt>
                <c:pt idx="2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转型前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排产等待</c:v>
                  </c:pt>
                  <c:pt idx="1">
                    <c:v>生产制造</c:v>
                  </c:pt>
                  <c:pt idx="2">
                    <c:v>质检入库</c:v>
                  </c:pt>
                  <c:pt idx="3">
                    <c:v>物流交付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</c:v>
                </c:pt>
                <c:pt idx="1">
                  <c:v>14.2</c:v>
                </c:pt>
                <c:pt idx="2">
                  <c:v>3.8</c:v>
                </c:pt>
                <c:pt idx="3">
                  <c:v>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转型后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排产等待</c:v>
                  </c:pt>
                  <c:pt idx="1">
                    <c:v>生产制造</c:v>
                  </c:pt>
                  <c:pt idx="2">
                    <c:v>质检入库</c:v>
                  </c:pt>
                  <c:pt idx="3">
                    <c:v>物流交付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</c:v>
                </c:pt>
                <c:pt idx="1">
                  <c:v>12.8</c:v>
                </c:pt>
                <c:pt idx="2">
                  <c:v>2.1</c:v>
                </c:pt>
                <c:pt idx="3">
                  <c:v>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转型前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工艺工程师</c:v>
                  </c:pt>
                  <c:pt idx="1">
                    <c:v>设备工程师</c:v>
                  </c:pt>
                  <c:pt idx="2">
                    <c:v>质量工程师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6.2</c:v>
                </c:pt>
                <c:pt idx="1">
                  <c:v>5.8</c:v>
                </c:pt>
                <c:pt idx="2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转型后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工艺工程师</c:v>
                  </c:pt>
                  <c:pt idx="1">
                    <c:v>设备工程师</c:v>
                  </c:pt>
                  <c:pt idx="2">
                    <c:v>质量工程师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3.1</c:v>
                </c:pt>
                <c:pt idx="1">
                  <c:v>3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年度投入(万元)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8200</c:v>
                </c:pt>
                <c:pt idx="1">
                  <c:v>6300</c:v>
                </c:pt>
                <c:pt idx="2">
                  <c:v>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累计净收益(万元)</c:v>
                </c:pt>
              </c:strCache>
            </c:strRef>
          </c:tx>
          <c:spPr>
            <a:solidFill>
              <a:srgbClr val="F2A93B"/>
            </a:solidFill>
            <a:ln w="3175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-3100</c:v>
                </c:pt>
                <c:pt idx="1">
                  <c:v>4800</c:v>
                </c:pt>
                <c:pt idx="2">
                  <c:v>15600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64748B"/>
                    </a:solidFill>
                    <a:latin typeface="Arial"/>
                  </a:rPr>
                  <a:t>年度投入(万元)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6350">
            <a:solidFill>
              <a:srgbClr val="2A35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1234440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364284"/>
          </a:solidFill>
          <a:ln w="12700">
            <a:solidFill>
              <a:srgbClr val="4A56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41664" y="1234440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设备感知层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195560" y="1984248"/>
            <a:ext cx="0" cy="27432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686800" y="2258568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364284"/>
          </a:solidFill>
          <a:ln w="12700">
            <a:solidFill>
              <a:srgbClr val="4A56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41664" y="2258568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数据中台层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195560" y="3008376"/>
            <a:ext cx="0" cy="27432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86800" y="3282696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364284"/>
          </a:solidFill>
          <a:ln w="12700">
            <a:solidFill>
              <a:srgbClr val="4A56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41664" y="3282696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AI模型层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195560" y="4032504"/>
            <a:ext cx="0" cy="27432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686800" y="4306824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364284"/>
          </a:solidFill>
          <a:ln w="12700">
            <a:solidFill>
              <a:srgbClr val="4A56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41664" y="4306824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业务应用层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机密文件 · 董事会提案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云枢重工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457200" y="265176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转型路线图 2027–2029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45720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从设备制造商到智能制造运营商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006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提交对象：云枢重工董事会 · 高级管理层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编制单位：战略转型办公室（联合外部AI转型咨询团队）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文件版本：V1.0 · 2026年7月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 CONTENTS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Roadmap Overview · 五大部分 · 39页完整论证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777240" cy="621792"/>
          </a:xfrm>
          <a:prstGeom prst="roundRect">
            <a:avLst>
              <a:gd name="adj" fmla="val 11765"/>
            </a:avLst>
          </a:prstGeom>
          <a:solidFill>
            <a:srgbClr val="3642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3619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17320" y="1554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外部趋势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Executive Summary · 行业渗透 · 政策拐点 · 标杆对比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271455" y="153619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P.03–06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77295" cy="0"/>
          </a:xfrm>
          <a:prstGeom prst="line">
            <a:avLst/>
          </a:prstGeom>
          <a:noFill/>
          <a:ln w="9525">
            <a:solidFill>
              <a:srgbClr val="343E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32304"/>
            <a:ext cx="777240" cy="621792"/>
          </a:xfrm>
          <a:prstGeom prst="roundRect">
            <a:avLst>
              <a:gd name="adj" fmla="val 11765"/>
            </a:avLst>
          </a:prstGeom>
          <a:solidFill>
            <a:srgbClr val="36428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32304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17320" y="24505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现状诊断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27980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业务概览 · IT/数据成熟度 · 现场痛点 · 技术选型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271455" y="243230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P.07–11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11277295" cy="0"/>
          </a:xfrm>
          <a:prstGeom prst="line">
            <a:avLst/>
          </a:prstGeom>
          <a:noFill/>
          <a:ln w="9525">
            <a:solidFill>
              <a:srgbClr val="343E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28416"/>
            <a:ext cx="777240" cy="621792"/>
          </a:xfrm>
          <a:prstGeom prst="roundRect">
            <a:avLst>
              <a:gd name="adj" fmla="val 11765"/>
            </a:avLst>
          </a:prstGeom>
          <a:solidFill>
            <a:srgbClr val="36428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28416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17320" y="33467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转型架构与战略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36941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北极星目标 · 四层架构 · 四大战略支柱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271455" y="3328416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P.12–26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11277295" cy="0"/>
          </a:xfrm>
          <a:prstGeom prst="line">
            <a:avLst/>
          </a:prstGeom>
          <a:noFill/>
          <a:ln w="9525">
            <a:solidFill>
              <a:srgbClr val="343E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24528"/>
            <a:ext cx="777240" cy="621792"/>
          </a:xfrm>
          <a:prstGeom prst="roundRect">
            <a:avLst>
              <a:gd name="adj" fmla="val 11765"/>
            </a:avLst>
          </a:prstGeom>
          <a:solidFill>
            <a:srgbClr val="36428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24528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17320" y="42428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分阶段路线图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17320" y="459028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数据中台 · 组织能力 · 变革管理 · 三阶段甘特图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271455" y="422452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P.27–33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065776"/>
            <a:ext cx="11277295" cy="0"/>
          </a:xfrm>
          <a:prstGeom prst="line">
            <a:avLst/>
          </a:prstGeom>
          <a:noFill/>
          <a:ln w="9525">
            <a:solidFill>
              <a:srgbClr val="343E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120640"/>
            <a:ext cx="777240" cy="621792"/>
          </a:xfrm>
          <a:prstGeom prst="roundRect">
            <a:avLst>
              <a:gd name="adj" fmla="val 11765"/>
            </a:avLst>
          </a:prstGeom>
          <a:solidFill>
            <a:srgbClr val="36428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512064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417320" y="51389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投资与治理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17320" y="54864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ROI测算 · 风险矩阵 · 治理机制 · KPI看板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271455" y="512064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P.34–39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摘要 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三年转型目标：以四大AI战略支柱驱动可量化的运营改善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78608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087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非计划停机时长下降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预测性运维闭环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255264" y="1371600"/>
            <a:ext cx="2578608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38144" y="15087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人工质检漏检率下降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AI视觉质检双闭环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6053328" y="1371600"/>
            <a:ext cx="2578608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5087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订单交付周期缩短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智能排产+数字孪生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8851392" y="1371600"/>
            <a:ext cx="2578608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34272" y="15087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工程师问题处理效率提升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知识库+AI Copilot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本提案核心论证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112772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工业AI已从概念验证进入规模化落地阶段，2027年前是行业窗口期，先动者构筑数据与组织壁垒；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云枢重工当前IT/数据成熟度落后行业标杆约1.8个成熟度等级，存在四大现场痛点亟待解决；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建议以「四层技术架构 + 四大战略支柱」为骨架，分三阶段（6/18/36个月）滚动推进，三年总投入约¥1.85亿，ROI回收周期2.3年。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5623560"/>
            <a:ext cx="11277295" cy="566928"/>
          </a:xfrm>
          <a:prstGeom prst="roundRect">
            <a:avLst>
              <a:gd name="adj" fmla="val 12903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62356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以上四项预期效益为标杆企业对标测算 + 云枢重工现场诊断数据外推，详见附录数据假设（P.39）。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制造业AI应用大势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全球与中国工业AI渗透率持续攀升，2027年后进入规模化拐点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39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25880"/>
          <a:ext cx="1127729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5321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注：渗透率定义为已部署至少一类AI应用（预测性维护/视觉质检/智能排产/知识管理）的规上制造企业占比，测算基于第三方行业研究外推。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政策与技术三大拐点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工业大模型成熟、算力成本下降、智能制造政策导向三线共振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10728655" cy="0"/>
          </a:xfrm>
          <a:prstGeom prst="line">
            <a:avLst/>
          </a:prstGeom>
          <a:noFill/>
          <a:ln w="254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3483864"/>
            <a:ext cx="164592" cy="164592"/>
          </a:xfrm>
          <a:prstGeom prst="oval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2990088"/>
            <a:ext cx="0" cy="5760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97280" y="1207008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1316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2024–2025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88720" y="1609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工业大模型成熟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11680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多模态工业大模型走向可用，缺陷识别准确率突破98%，具备产线级部署条件。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27064" y="3483864"/>
            <a:ext cx="164592" cy="164592"/>
          </a:xfrm>
          <a:prstGeom prst="oval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566160"/>
            <a:ext cx="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892040" y="4069080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4178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44714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算力成本下降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983480" y="4873752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推理成本三年下降约76%，边缘AI芯片单价降至可规模化部署门槛以下。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21824" y="3483864"/>
            <a:ext cx="164592" cy="164592"/>
          </a:xfrm>
          <a:prstGeom prst="oval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04120" y="2990088"/>
            <a:ext cx="0" cy="5760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686800" y="1207008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0" y="1316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2026–2027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78240" y="1609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智能制造政策导向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778240" y="2011680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国家及地方智能制造专项持续加码，重点行业设备联网与数据合规要求趋严。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窗口期：三线交汇 → 2027年后规模化落地成本曲线跨越拐点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竞对与标杆企业AI成熟度对比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云枢重工现状对比行业均值与领先者，六维成熟度均有差距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39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6858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35240" y="1280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解读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35240" y="1664208"/>
            <a:ext cx="4069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云枢重工六维成熟度全面落后行业均值，差距最大在「视觉质检自动化」（-20分）与「知识管理」（-18分）；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对比领先者标杆，综合差距约42分（百分制），相当于1.8个成熟度等级；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「组织与人才」是六维中差距相对最小的一项，说明具备承接转型的组织基础，优先应补齐技术与数据能力。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35240" y="466344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46634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样本说明：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「行业均值」「领先者标杆」取自12家同规模装备制造企业对标调研（2026Q2），云枢现状为战略转型办公室内部诊断评分。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云枢重工业务概览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三大产品线支撑，全国五大生产基地布局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67588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3675888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3675888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3258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重型工程机械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192024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¥58.4亿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2026年营收 · 占比46%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" y="269748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挖掘机、装载机、压路机整机制造，出口占比28%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34256" y="1325880"/>
            <a:ext cx="367588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4256" y="1325880"/>
            <a:ext cx="3675888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4334256" y="1600200"/>
            <a:ext cx="3675888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471416" y="13258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精密传动部件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8848" y="192024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¥39.2亿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2026年营收 · 占比31%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98848" y="269748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减速器、齿轮箱、液压元件，配套主机厂与售后市场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11312" y="1325880"/>
            <a:ext cx="367588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11312" y="1325880"/>
            <a:ext cx="3675888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11312" y="1600200"/>
            <a:ext cx="3675888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348472" y="13258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工业自动化装备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75904" y="192024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¥29.1亿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2026年营收 · 占比23%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375904" y="269748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产线机器人集成、智能仓储装备，近三年增速最快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年营收 ¥126.7亿（2026） · 全国五大生产基地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4251960"/>
            <a:ext cx="109728" cy="109728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4074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徐州（总部/重装）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937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年产能4.2万台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20340" y="4114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31" name="Shape 29"/>
          <p:cNvSpPr/>
          <p:nvPr/>
        </p:nvSpPr>
        <p:spPr>
          <a:xfrm>
            <a:off x="2857500" y="4251960"/>
            <a:ext cx="109728" cy="109728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2857500" y="44074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常州（精密传动）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57500" y="4937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年产能380万件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4114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4251960"/>
            <a:ext cx="109728" cy="109728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44074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青岛（自动化装备）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4937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年产能1200套产线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46620" y="4114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39" name="Shape 37"/>
          <p:cNvSpPr/>
          <p:nvPr/>
        </p:nvSpPr>
        <p:spPr>
          <a:xfrm>
            <a:off x="7383780" y="4251960"/>
            <a:ext cx="109728" cy="109728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40" name="Text 38"/>
          <p:cNvSpPr/>
          <p:nvPr/>
        </p:nvSpPr>
        <p:spPr>
          <a:xfrm>
            <a:off x="7383780" y="44074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长沙（重装第二基地）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83780" y="4937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年产能2.6万台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509760" y="4114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43" name="Shape 41"/>
          <p:cNvSpPr/>
          <p:nvPr/>
        </p:nvSpPr>
        <p:spPr>
          <a:xfrm>
            <a:off x="9646920" y="4251960"/>
            <a:ext cx="109728" cy="109728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44" name="Text 42"/>
          <p:cNvSpPr/>
          <p:nvPr/>
        </p:nvSpPr>
        <p:spPr>
          <a:xfrm>
            <a:off x="9646920" y="44074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成都（西南配套基地）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46920" y="4937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年产能150万件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5623560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EEF2FB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56235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在册员工1.84万人，其中一线生产人员1.1万人、研发工程师2200人；现有工业设备联网率仅31%，是AI转型的关键基础短板。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IT / 数据成熟度评估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五维内部诊断：数据治理、系统集成、算法能力、组织、安全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39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658368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35240" y="129844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数据治理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35/100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35240" y="154533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缺统一数据标准，主数据分散在7套异构系统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35240" y="20848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系统集成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42/100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35240" y="23317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ERP/MES/SCADA打通率不足40%，存在信息孤岛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35240" y="28712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算法能力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20/100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35240" y="311810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无自建算法团队，历史仅试点1个供应商POC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35240" y="36576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组织能力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38/100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35240" y="390448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缺少专职数据/算法岗位，转型职责未明确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635240" y="44439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安全合规  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55/100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35240" y="46908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工控网络已分区，但设备联网数据加密覆盖不全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生产现场问题清单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四类现场痛点直接侵蚀交付效率与产品质量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27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276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2139696"/>
            <a:ext cx="228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21792" y="2523744"/>
            <a:ext cx="2284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设备非计划停机率，高于行业均值3.2个百分点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45104" y="1463040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27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9696" y="16276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509696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09696" y="2139696"/>
            <a:ext cx="228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09696" y="2523744"/>
            <a:ext cx="2284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人工质检漏检率，主要集中在铸造与焊接工序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1463040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27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97600" y="16276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39760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97600" y="2139696"/>
            <a:ext cx="228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5.4天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97600" y="2523744"/>
            <a:ext cx="2284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排产响应周期，订单变更到产线调整平均耗时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20911" y="1463040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27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5503" y="16276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285503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85503" y="2139696"/>
            <a:ext cx="228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285503" y="2523744"/>
            <a:ext cx="2284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工艺知识断层，核心工艺参数依赖老师傅经验传承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566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问题详解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1127729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597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现场问题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根因说明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设备非计划停机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关键设备（数控机床/热处理炉）故障多为事后维修，缺乏振动/温度早期预警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人工质检漏检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依赖抽检+目视检查，疲劳作业下漏检率随班次末段明显上升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排产响应迟缓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排产计划靠Excel+经验拍板，插单/紧急订单难以快速重排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工艺知识断层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近三年15%的资深工艺师退休，关键工艺Know-how未系统沉淀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核心痛点诊断四象限矩阵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按影响度×紧迫度排序，锁定优先级最高的攻坚点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1463040"/>
            <a:ext cx="3657600" cy="2148840"/>
          </a:xfrm>
          <a:prstGeom prst="rect">
            <a:avLst/>
          </a:prstGeom>
          <a:solidFill>
            <a:srgbClr val="EEF2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3657600" cy="2148840"/>
          </a:xfrm>
          <a:prstGeom prst="rect">
            <a:avLst/>
          </a:prstGeom>
          <a:solidFill>
            <a:srgbClr val="F7F9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3611880"/>
            <a:ext cx="3657600" cy="2148840"/>
          </a:xfrm>
          <a:prstGeom prst="rect">
            <a:avLst/>
          </a:prstGeom>
          <a:solidFill>
            <a:srgbClr val="F7F9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3611880"/>
            <a:ext cx="3657600" cy="2148840"/>
          </a:xfrm>
          <a:prstGeom prst="rect">
            <a:avLst/>
          </a:prstGeom>
          <a:solidFill>
            <a:srgbClr val="EEF2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3611880"/>
            <a:ext cx="7315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463040"/>
            <a:ext cx="0" cy="42976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53619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重要不紧急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36208" y="153619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重要且紧急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78608" y="541324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次要不紧急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6208" y="541324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次要但紧急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58338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紧迫度 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 rot="16200000">
            <a:off x="5486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影响度 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48472" y="1988820"/>
            <a:ext cx="237744" cy="237744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98664" y="22448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设备非计划停机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16952" y="2719426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297545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人工质检漏检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73368" y="3278124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35341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排产响应迟缓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76088" y="2289658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54569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工艺知识断层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98264" y="4352544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46085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备件库存冗余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85432" y="4696358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5624" y="495239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能耗管理粗放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5943600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EEF2FB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9436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结论：设备非计划停机与人工质检漏检落在「重要且紧急」象限，是四大战略支柱优先落地的两个方向。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技术选型对比：自建 vs SaaS采购 vs 混合模式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综合成本、周期、可控性、风险四维评估，推荐混合模式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39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72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27578"/>
                <a:gridCol w="3027578"/>
                <a:gridCol w="30275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评估维度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自建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SaaS采购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混合模式（推荐）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初期投入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高，¥6000万+自建团队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低，订阅制¥800万/年起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中，核心自建+外围采购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实施周期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12–18个月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3–6个月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6–9个月分模块上线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数据可控性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最高，数据不出域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较低，依赖第三方云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高，核心数据留存本地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技术风险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团队组建/留存风险高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供应商锁定风险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风险分散，接口标准化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长期总成本(3年)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¥1.4亿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¥0.9亿（含逐年上涨）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¥1.1亿，性价比最优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25780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2578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推荐结论：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数据中台与核心AI模型自建以保障数据安全与长期议价能力；视觉质检硬件、通用算力与部分SaaS工具采购成熟方案，缩短交付周期。三年总成本较纯自建节省约21%，同时保留关键数据主权。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北极星目标 NORTH STAR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让每台设备都有数字孪生，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让每个决策都有AI辅助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352044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≥65%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关键设备联网率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（2026年31% → 2029年65%）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0" y="3840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2.3年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全周期ROI回收周期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0" y="3840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¥1.85亿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三年总投入规模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转型总体架构：四层技术架构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设备感知层 → 数据中台层 → AI模型层 → 业务应用层，逐层解耦、双向反馈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932688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426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设备感知层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64284"/>
          </a:solidFill>
          <a:ln w="9525">
            <a:solidFill>
              <a:srgbClr val="4A56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37360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振动/温度传感器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2254" y="1737360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64284"/>
          </a:solidFill>
          <a:ln w="9525">
            <a:solidFill>
              <a:srgbClr val="4A56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2254" y="1737360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工业相机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4428" y="1737360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64284"/>
          </a:solidFill>
          <a:ln w="9525">
            <a:solidFill>
              <a:srgbClr val="4A56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4428" y="1737360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PLC/SCADA数据网关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26601" y="1737360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64284"/>
          </a:solidFill>
          <a:ln w="9525">
            <a:solidFill>
              <a:srgbClr val="4A56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26601" y="1737360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边缘计算节点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5848" y="2304288"/>
            <a:ext cx="0" cy="20116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2505456"/>
            <a:ext cx="11277295" cy="932688"/>
          </a:xfrm>
          <a:prstGeom prst="roundRect">
            <a:avLst>
              <a:gd name="adj" fmla="val 8824"/>
            </a:avLst>
          </a:prstGeom>
          <a:solidFill>
            <a:srgbClr val="2E3A78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数据中台层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871216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D4A8C"/>
          </a:solidFill>
          <a:ln w="9525">
            <a:solidFill>
              <a:srgbClr val="5A66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871216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实时数据采集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02254" y="2871216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D4A8C"/>
          </a:solidFill>
          <a:ln w="9525">
            <a:solidFill>
              <a:srgbClr val="5A66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2254" y="2871216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数据治理与主数据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64428" y="2871216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D4A8C"/>
          </a:solidFill>
          <a:ln w="9525">
            <a:solidFill>
              <a:srgbClr val="5A66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4428" y="2871216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统一数据湖仓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26601" y="2871216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3D4A8C"/>
          </a:solidFill>
          <a:ln w="9525">
            <a:solidFill>
              <a:srgbClr val="5A66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26601" y="2871216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特征工程服务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95848" y="3438144"/>
            <a:ext cx="0" cy="20116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" y="3639312"/>
            <a:ext cx="11277295" cy="932688"/>
          </a:xfrm>
          <a:prstGeom prst="roundRect">
            <a:avLst>
              <a:gd name="adj" fmla="val 8824"/>
            </a:avLst>
          </a:prstGeom>
          <a:solidFill>
            <a:srgbClr val="3D4A8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6941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AI模型层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005072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4C58A0"/>
          </a:solidFill>
          <a:ln w="9525">
            <a:solidFill>
              <a:srgbClr val="6A76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005072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时序预测模型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02254" y="4005072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4C58A0"/>
          </a:solidFill>
          <a:ln w="9525">
            <a:solidFill>
              <a:srgbClr val="6A76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2254" y="4005072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视觉缺陷检测模型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64428" y="4005072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4C58A0"/>
          </a:solidFill>
          <a:ln w="9525">
            <a:solidFill>
              <a:srgbClr val="6A76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4428" y="4005072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排产优化算法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926601" y="4005072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4C58A0"/>
          </a:solidFill>
          <a:ln w="9525">
            <a:solidFill>
              <a:srgbClr val="6A76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26601" y="4005072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RAG知识问答模型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95848" y="4572000"/>
            <a:ext cx="0" cy="20116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57200" y="4773168"/>
            <a:ext cx="1127729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" y="4828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业务应用层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" y="5138928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EEF2FB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138928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预测性运维工单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02254" y="5138928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EEF2FB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02254" y="5138928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质检看板与复核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64428" y="5138928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EEF2FB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64428" y="5138928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排产驾驶舱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926601" y="5138928"/>
            <a:ext cx="2625014" cy="475488"/>
          </a:xfrm>
          <a:prstGeom prst="roundRect">
            <a:avLst>
              <a:gd name="adj" fmla="val 11538"/>
            </a:avLst>
          </a:prstGeom>
          <a:solidFill>
            <a:srgbClr val="EEF2FB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6601" y="5138928"/>
            <a:ext cx="26250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工程师AI Copilot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688775" y="1554480"/>
            <a:ext cx="0" cy="3968496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10134295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业务反馈回流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587044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四层解耦：任一层技术升级不影响其他层，业务应用层的使用反馈持续回流优化模型与数据治理规则。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四大战略支柱总览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对应四大现场痛点，逐一构建技术闭环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设备智能运维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振动/温度传感器 + 时序预测模型，从事后维修转向事前预警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50749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74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停机↓42%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55848" y="141732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38728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53872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38728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AI视觉质检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538728" y="292608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工业相机 + 缺陷检测模型 + 人工复核闭环，替代疲劳目视检查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38728" y="50749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EEF2FB"/>
          </a:solidFill>
          <a:ln/>
        </p:spPr>
      </p:sp>
      <p:sp>
        <p:nvSpPr>
          <p:cNvPr id="20" name="Text 18"/>
          <p:cNvSpPr/>
          <p:nvPr/>
        </p:nvSpPr>
        <p:spPr>
          <a:xfrm>
            <a:off x="3538728" y="5074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漏检↓65%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54496" y="141732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37376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3737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37376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智能排产与供应链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37376" y="292608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数字孪生 + 排产优化算法，插单响应从5.4天缩短至小时级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37376" y="50749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EEF2FB"/>
          </a:solidFill>
          <a:ln/>
        </p:spPr>
      </p:sp>
      <p:sp>
        <p:nvSpPr>
          <p:cNvPr id="27" name="Text 25"/>
          <p:cNvSpPr/>
          <p:nvPr/>
        </p:nvSpPr>
        <p:spPr>
          <a:xfrm>
            <a:off x="6437376" y="5074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交付↓28%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153144" y="141732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36024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33602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36024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知识管理与Copilot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336024" y="292608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企业知识库 + RAG架构，把老师傅经验沉淀为可检索的工艺资产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336024" y="50749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EEF2FB"/>
          </a:solidFill>
          <a:ln/>
        </p:spPr>
      </p:sp>
      <p:sp>
        <p:nvSpPr>
          <p:cNvPr id="34" name="Text 32"/>
          <p:cNvSpPr/>
          <p:nvPr/>
        </p:nvSpPr>
        <p:spPr>
          <a:xfrm>
            <a:off x="9336024" y="5074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上岗↓50%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支柱一 · 设备智能运维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技术方案：振动/温度传感器 + 时序预测模型，提前7–14天预警故障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技术方案要点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在137台关键设备（数控机床、热处理炉、大型压机）加装振动/温度/电流传感器，采样频率10kHz；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边缘网关就近做特征提取（FFT频谱、包络分析），降低云端传输带宽压力约80%；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云端部署时序异常检测模型（LSTM+孤立森林集成），结合设备台账做个性化基线校准；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预警结果自动生成运维工单，按紧急度分级推送至现场班组与设备管理部。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37160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数控加工中心  </a:t>
            </a:r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792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主要风险点：主轴轴承磨损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233172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热处理炉  </a:t>
            </a:r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18120" y="2752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主要风险点：加热元件老化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35240" y="329184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大型压力机  </a:t>
            </a:r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3712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主要风险点：液压系统泄漏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选型依据：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对比LSTM、Transformer时序模型与传统阈值告警方案，LSTM+孤立森林集成在小样本故障场景下F1值最高（0.87），且边缘侧推理延迟&lt;50ms，满足产线实时性要求。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支柱一架构：边缘采集 → 云端模型 → 告警工单闭环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端到端闭环设计，确保预警可追溯、可处置、可复盘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9468" y="21945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4332" y="219456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传感器边缘采集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振动/温度/电流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10kHz采样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43988" y="2788920"/>
            <a:ext cx="320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64028" y="21945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8892" y="219456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边缘特征提取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FFT频谱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包络解调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38548" y="2788920"/>
            <a:ext cx="320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58588" y="21945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3452" y="219456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云端异常检测模型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LSTM+孤立森林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个性化基线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33108" y="2788920"/>
            <a:ext cx="320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53148" y="21945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8012" y="219456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分级告警引擎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紧急/重要/观察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三级阈值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27668" y="2788920"/>
            <a:ext cx="320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47708" y="21945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2572" y="219456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运维工单闭环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自动派工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处置反馈回流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484968" y="3383280"/>
            <a:ext cx="0" cy="45720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0484968" y="3840480"/>
            <a:ext cx="-8778240" cy="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706728" y="3840480"/>
            <a:ext cx="0" cy="-45720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69468" y="388620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处置结果回流 → 修正模型基线与告警阈值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闭环关键设计：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三级告警（紧急/重要/观察）避免误报疲劳；② 每次处置结果（真实故障/误报）回流至模型，持续降低误报率；③ 工单系统与现有EAM系统对接，避免重复建设。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支柱一预期效益：预测性运维前后对比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停机时长与维护成本双降，试点工厂数据外推全集团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39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7160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1371600"/>
            <a:ext cx="4526280" cy="1188720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60920" y="15087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停机时长下降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7178040" y="2743200"/>
            <a:ext cx="4526280" cy="1188720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60920" y="2880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维护成本下降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7178040" y="4114800"/>
            <a:ext cx="4526280" cy="1188720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60920" y="42519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紧急抢修次数下降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试点范围：徐州总部62台数控加工中心 · 2027年1–6月试点数据外推 · 全集团137台关键设备2029年全部覆盖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支柱二 · AI视觉质检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技术方案：工业相机 + 缺陷检测模型 + 人工复核闭环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技术方案要点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在铸造、焊接、涂装三大高漏检工序部署工业面阵相机+环形光源，实现100%全检覆盖；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缺陷检测模型采用YOLO系列改进架构，识别裂纹、气孔、焊瘤等7类缺陷，准确率≥97%；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模型判定为「疑似缺陷」的样本自动路由至人工复核工位，避免误判导致的产线误停；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复核结果（确认/驳回）持续回流至模型训练集，形成越用越准的正向飞轮。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37160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铸造工序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检出缺陷：气孔/砂眼/裂纹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18120" y="1947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18个检测点位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35240" y="233172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焊接工序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18120" y="2697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检出缺陷：焊瘤/未熔合/咬边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18120" y="29077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26个检测点位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35240" y="329184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涂装工序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18120" y="3657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检出缺陷：流挂/橘皮/色差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18120" y="3867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12个检测点位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选型依据：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对比传统机器视觉规则引擎与深度学习方案，深度学习在复杂纹理表面（铸造毛坯）缺陷识别准确率高出32个百分点；采用「模型初筛+人工复核」双闭环而非全自动判定，规避高风险漏检的合规责任。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支柱二流程：AI视觉质检五步闭环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从图像采集到质量档案归档，全流程可追溯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6608" y="2286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1472" y="22860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 图像采集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面阵相机+环形光源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100%全检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66848" y="297180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41168" y="2286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96032" y="22860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 模型初筛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YOLO改进架构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准确率≥97%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61408" y="297180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35728" y="2286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90592" y="22860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 疑似样本路由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置信度&lt;0.9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自动分流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55968" y="297180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30288" y="2286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85152" y="22860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 人工复核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复核工位确认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/驳回判定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50528" y="297180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24848" y="2286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79712" y="22860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 质量档案归档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结果回流模型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质量追溯链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95848" y="3657600"/>
            <a:ext cx="0" cy="502920"/>
          </a:xfrm>
          <a:prstGeom prst="line">
            <a:avLst/>
          </a:prstGeom>
          <a:noFill/>
          <a:ln w="1397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46608" y="42062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模型判定合格（置信度≥0.9）→ 直接放行入库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5029200"/>
            <a:ext cx="11277295" cy="109728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13892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流程设计原则：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模型只做「疑似缺陷」的初筛与合格品放行，最终缺陷判定权保留给人工复核，既提升效率又不牺牲质量责任可追溯性。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支柱二预期效益：漏检率与人力成本双优化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漏检率6.2%→2.1%，质检人力节省40%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75888" cy="1691640"/>
          </a:xfrm>
          <a:prstGeom prst="roundRect">
            <a:avLst>
              <a:gd name="adj" fmla="val 540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54480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6.2%→2.1%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人工质检漏检率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下降65%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334256" y="1417320"/>
            <a:ext cx="3675888" cy="1691640"/>
          </a:xfrm>
          <a:prstGeom prst="roundRect">
            <a:avLst>
              <a:gd name="adj" fmla="val 540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1554480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质检人力节省比例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复检岗位转型为异常处置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211312" y="1417320"/>
            <a:ext cx="3675888" cy="1691640"/>
          </a:xfrm>
          <a:prstGeom prst="roundRect">
            <a:avLst>
              <a:gd name="adj" fmla="val 540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94192" y="1554480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关键工序全检覆盖率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由抽检约30%提升至全检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分工序漏检率变化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3749040"/>
          <a:ext cx="11277295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支柱三 · 智能排产与供应链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数字孪生 + 排产优化算法，从经验拍板到算法辅助决策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技术方案要点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构建产线级数字孪生模型，实时映射设备状态、在制品位置与产能负荷；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需求预测模块基于历史订单+行业景气度，滚动生成4–12周需求预测；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排产优化采用混合整数规划（MIP）+启发式算法，秒级生成可行排产方案；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插单/紧急订单触发增量重排，响应时间从5.4天缩短至4小时以内。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37160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数字孪生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7922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产线/设备/在制品实时映射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233172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需求预测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18120" y="27523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4–12周滚动预测，MAPE&lt;12%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35240" y="329184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排产优化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MIP+启发式，秒级出方案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选型依据：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对比纯规则排产与强化学习排产，MIP+启发式方案在可解释性、部署周期与效果之间取得最优平衡，规避强化学习在稀疏订单场景下收敛慢的风险。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支柱三架构：需求预测 → 约束求解 → 排产看板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三级架构实现从预测到执行的算法闭环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8376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863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需求预测引擎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订单历史+景气度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滚动预测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5488" y="297180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8124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611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约束求解器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产能/工艺/物料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MIP建模求解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12968" y="297180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7872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359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排产看板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可视化排程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人工微调确认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10448" y="297180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7620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3107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执行与反馈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MES执行下发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实际产出回流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142068" y="3657600"/>
            <a:ext cx="0" cy="45720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142068" y="4114800"/>
            <a:ext cx="-8092440" cy="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049628" y="4114800"/>
            <a:ext cx="0" cy="-45720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83768" y="4160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实际产出与交付偏差回流 → 修正需求预测模型参数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架构关键设计：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排产看板保留人工微调确认环节，算法输出为「推荐方案」而非强制指令，兼顾现场调度经验与算法效率，降低一线抵触。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支柱三预期效益：交付周期与库存双优化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交付周期28天→20天，在制品库存下降18%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75888" cy="1691640"/>
          </a:xfrm>
          <a:prstGeom prst="roundRect">
            <a:avLst>
              <a:gd name="adj" fmla="val 540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54480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28→20天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订单交付周期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缩短28%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334256" y="1417320"/>
            <a:ext cx="3675888" cy="1691640"/>
          </a:xfrm>
          <a:prstGeom prst="roundRect">
            <a:avLst>
              <a:gd name="adj" fmla="val 540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1554480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在制品库存下降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211312" y="1417320"/>
            <a:ext cx="3675888" cy="1691640"/>
          </a:xfrm>
          <a:prstGeom prst="roundRect">
            <a:avLst>
              <a:gd name="adj" fmla="val 540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94192" y="1554480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5.4天→4小时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插单响应周期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交付周期分解对比（天）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3749040"/>
          <a:ext cx="11277295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支柱四 · 知识管理与AI Copilot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企业知识库 + RAG架构，把老师傅经验沉淀为可检索资产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技术方案要点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系统性采集工艺文件、设备手册、历史故障处置记录、资深工艺师访谈，构建企业知识库；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采用RAG（检索增强生成）架构，避免通用大模型幻觉，确保回答有据可查；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面向一线工程师提供自然语言问答界面，支持文字/语音双模态输入；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新员工上岗培训嵌入Copilot答疑，缩短经验依赖型岗位的培养周期。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37160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知识源覆盖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7922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工艺文件12000+份、故障记录8年台账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233172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问答准确率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18120" y="27523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内部测试集准确率91%，附引用溯源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35240" y="3291840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覆盖岗位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工艺/设备/质量三大条线工程师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选型依据：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对比微调专用模型与RAG架构，RAG在知识更新频繁场景下维护成本更低（无需重新训练），且回答可溯源至原始文档，满足工业场景的责任可追溯要求。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支柱四架构：RAG检索增强生成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知识源 → 向量库 → 大模型 → 工程师界面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8376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863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多源知识接入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工艺文件/手册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故障处置记录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5488" y="297180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8124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611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向量化知识库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文本切片+向量化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语义检索索引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12968" y="297180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7872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359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大模型生成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检索结果+提示词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生成带引用回答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10448" y="297180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76208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31072" y="228600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工程师交互界面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文字/语音问答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溯源原文展示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142068" y="3657600"/>
            <a:ext cx="0" cy="45720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142068" y="4114800"/>
            <a:ext cx="-8092440" cy="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049628" y="4114800"/>
            <a:ext cx="0" cy="-457200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83768" y="4160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工程师反馈（有用/无用）回流 → 优化知识切片与检索策略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8463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架构关键设计：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知识库私有化部署，不上传公有云，满足工艺保密要求；生成结果强制附带原文引用链接，杜绝无据幻觉回答，工程师可一键回溯原始文档核实。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支柱四预期效益：上岗效率与查询效率双提升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新员工上岗周期下降50%，工艺查询效率提升35%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75888" cy="1783080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00200"/>
            <a:ext cx="33101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新员工上岗周期下降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6个月→3个月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334256" y="1463040"/>
            <a:ext cx="3675888" cy="1783080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1600200"/>
            <a:ext cx="33101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工艺查询效率提升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平均响应时间从22分钟→14分钟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211312" y="1463040"/>
            <a:ext cx="3675888" cy="1783080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94192" y="1600200"/>
            <a:ext cx="33101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知识库问答准确率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内部测试集·附引用溯源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新员工上岗周期变化（月）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3886200"/>
          <a:ext cx="11277295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数据中台建设方案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数据采集、治理、服务三层能力建设，支撑四大战略支柱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39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1828800"/>
                <a:gridCol w="26819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能力层级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关键任务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建设周期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验收标准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数据采集层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设备联网改造、传感器加装、接口标准化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0–9个月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关键设备联网率≥65%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数据治理层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主数据标准、数据质量规则、元数据管理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3–12个月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核心数据质量合格率≥95%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数据服务层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统一数据湖仓、特征工程平台、API网关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6–15个月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支撑四大支柱模型秒级取数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703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三层能力递进关系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569568" y="4114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624432" y="4114800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数据采集层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联网/传感/接口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12768" y="4640580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724248" y="4114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79112" y="4114800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数据治理层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标准/质量/元数据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467448" y="4640580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878928" y="4114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33792" y="4114800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数据服务层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湖仓/特征/API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组织能力建设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转型办公室(PMO)统筹 + 三级人才梯队支撑落地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7295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41732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AI转型办公室（PMO）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向董事会直接汇报，统筹四大支柱进度、预算与跨部门协同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5848" y="2194560"/>
            <a:ext cx="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367588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7889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数据工程师梯队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12→28人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数据采集、治理、平台开发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34256" y="2606040"/>
            <a:ext cx="367588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17136" y="27889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算法工程师梯队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17136" y="32004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6→18人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17136" y="374904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时序/视觉/优化/大模型算法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11312" y="2606040"/>
            <a:ext cx="367588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27889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业务BP梯队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94192" y="32004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8→20人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94192" y="374904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驻场业务对接，需求转译与推广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5029200"/>
            <a:ext cx="11277295" cy="109728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3892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组建策略：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核心岗位（数据架构师、算法负责人）外部招聘+猎头引进；业务BP从内部生产/质量骨干转岗培养，保留工艺Know-how的同时补齐数字化能力。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变革管理计划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四阶段推进：意识建立 → 试点验证 → 规模推广 → 固化沉淀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意识建立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0–3个月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董事会/中高层转型共识宣贯，一线班组AI认知培训，设立转型专项奖励机制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82112" y="3566160"/>
            <a:ext cx="14630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55848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EF2FB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8728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38728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试点验证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38728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3–9个月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8728" y="297180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单点试点工厂验证预测性运维，用数据说话，树立标杆案例消除观望情绪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3566160"/>
            <a:ext cx="14630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54496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37376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37376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规模推广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37376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9–24个月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297180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四大支柱多厂复制推广，配套KPI考核调整，一线操作规程同步更新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79408" y="3566160"/>
            <a:ext cx="14630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53144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EF2FB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36024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336024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固化沉淀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36024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24–36个月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36024" y="297180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转型能力沉淀为标准作业程序(SOP)，知识库/模型持续迭代成为常态化机制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分阶段路线图 · Phase 1（0–6个月）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试点工厂 + 预测性维护单点验证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1435608"/>
            <a:ext cx="1529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89349" y="1435608"/>
            <a:ext cx="1529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18378" y="1435608"/>
            <a:ext cx="1529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47408" y="1435608"/>
            <a:ext cx="1529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76437" y="1435608"/>
            <a:ext cx="1529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05466" y="1435608"/>
            <a:ext cx="1529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89349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18378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47408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76437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05466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4495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转型办公室组建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0" y="219456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87752" y="1812341"/>
            <a:ext cx="1474165" cy="261518"/>
          </a:xfrm>
          <a:prstGeom prst="roundRect">
            <a:avLst>
              <a:gd name="adj" fmla="val 13986"/>
            </a:avLst>
          </a:prstGeom>
          <a:solidFill>
            <a:srgbClr val="F2A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0" y="2194560"/>
            <a:ext cx="9174175" cy="502920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试点工厂选定(徐州)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0" y="269748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87752" y="2315261"/>
            <a:ext cx="1474165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传感器加装与联网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0" y="320040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6781" y="2818181"/>
            <a:ext cx="3003194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2560320" y="3200400"/>
            <a:ext cx="9174175" cy="502920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时序预测模型开发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0" y="370332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81296" y="3321101"/>
            <a:ext cx="3767709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工单系统对接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60320" y="420624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74840" y="3824021"/>
            <a:ext cx="2238680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2560320" y="4206240"/>
            <a:ext cx="9174175" cy="502920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06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试运行与效果验证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560320" y="470916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68383" y="4326941"/>
            <a:ext cx="2238680" cy="261518"/>
          </a:xfrm>
          <a:prstGeom prst="roundRect">
            <a:avLst>
              <a:gd name="adj" fmla="val 13986"/>
            </a:avLst>
          </a:prstGeom>
          <a:solidFill>
            <a:srgbClr val="F2A93B"/>
          </a:solidFill>
          <a:ln/>
        </p:spPr>
      </p:sp>
      <p:sp>
        <p:nvSpPr>
          <p:cNvPr id="41" name="Text 39"/>
          <p:cNvSpPr/>
          <p:nvPr/>
        </p:nvSpPr>
        <p:spPr>
          <a:xfrm>
            <a:off x="9440951" y="4326941"/>
            <a:ext cx="2293544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560320" y="169164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5029200"/>
            <a:ext cx="11277295" cy="109728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513892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1 验收标准：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徐州试点工厂62台数控加工中心联网率100%，预测性运维模型上线，非计划停机时长环比下降≥25%，为Phase 2全面推广提供验证依据。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分阶段路线图 · Phase 2（6–18个月）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质检与排产双线推广，覆盖全部五大生产基地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70916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81513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109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02706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13302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3899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0916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81513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109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02706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13302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3899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34495" y="1691640"/>
            <a:ext cx="0" cy="329184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691640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视觉质检硬件部署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0" y="2161903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87752" y="1804503"/>
            <a:ext cx="2566329" cy="244537"/>
          </a:xfrm>
          <a:prstGeom prst="roundRect">
            <a:avLst>
              <a:gd name="adj" fmla="val 14957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0" y="2161903"/>
            <a:ext cx="9174175" cy="470263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161903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缺陷检测模型训练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0" y="2632166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98348" y="2274766"/>
            <a:ext cx="2566329" cy="244537"/>
          </a:xfrm>
          <a:prstGeom prst="roundRect">
            <a:avLst>
              <a:gd name="adj" fmla="val 1495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632166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质检五工厂推广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3102429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9541" y="2745029"/>
            <a:ext cx="3221627" cy="244537"/>
          </a:xfrm>
          <a:prstGeom prst="roundRect">
            <a:avLst>
              <a:gd name="adj" fmla="val 14957"/>
            </a:avLst>
          </a:prstGeom>
          <a:solidFill>
            <a:srgbClr val="1E2761"/>
          </a:solidFill>
          <a:ln/>
        </p:spPr>
      </p:sp>
      <p:sp>
        <p:nvSpPr>
          <p:cNvPr id="32" name="Shape 30"/>
          <p:cNvSpPr/>
          <p:nvPr/>
        </p:nvSpPr>
        <p:spPr>
          <a:xfrm>
            <a:off x="2560320" y="3102429"/>
            <a:ext cx="9174175" cy="470263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102429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数字孪生建模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0" y="3572691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3050" y="3215292"/>
            <a:ext cx="3221627" cy="244537"/>
          </a:xfrm>
          <a:prstGeom prst="roundRect">
            <a:avLst>
              <a:gd name="adj" fmla="val 14957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572691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排产优化算法上线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0" y="4042954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19541" y="3685555"/>
            <a:ext cx="2566329" cy="244537"/>
          </a:xfrm>
          <a:prstGeom prst="roundRect">
            <a:avLst>
              <a:gd name="adj" fmla="val 14957"/>
            </a:avLst>
          </a:prstGeom>
          <a:solidFill>
            <a:srgbClr val="1E2761"/>
          </a:solidFill>
          <a:ln/>
        </p:spPr>
      </p:sp>
      <p:sp>
        <p:nvSpPr>
          <p:cNvPr id="39" name="Shape 37"/>
          <p:cNvSpPr/>
          <p:nvPr/>
        </p:nvSpPr>
        <p:spPr>
          <a:xfrm>
            <a:off x="2560320" y="4042954"/>
            <a:ext cx="9174175" cy="470263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042954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排产系统全集团推广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60320" y="4513217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0734" y="4155817"/>
            <a:ext cx="1911031" cy="244537"/>
          </a:xfrm>
          <a:prstGeom prst="roundRect">
            <a:avLst>
              <a:gd name="adj" fmla="val 14957"/>
            </a:avLst>
          </a:prstGeom>
          <a:solidFill>
            <a:srgbClr val="F2A93B"/>
          </a:solidFill>
          <a:ln/>
        </p:spPr>
      </p:sp>
      <p:sp>
        <p:nvSpPr>
          <p:cNvPr id="43" name="Text 41"/>
          <p:cNvSpPr/>
          <p:nvPr/>
        </p:nvSpPr>
        <p:spPr>
          <a:xfrm>
            <a:off x="9113302" y="4155817"/>
            <a:ext cx="1965895" cy="244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4513217"/>
            <a:ext cx="20116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预测性运维复制推广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560320" y="498348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87752" y="4626080"/>
            <a:ext cx="3876925" cy="244537"/>
          </a:xfrm>
          <a:prstGeom prst="roundRect">
            <a:avLst>
              <a:gd name="adj" fmla="val 14957"/>
            </a:avLst>
          </a:prstGeom>
          <a:solidFill>
            <a:srgbClr val="1E2761"/>
          </a:solidFill>
          <a:ln/>
        </p:spPr>
      </p:sp>
      <p:sp>
        <p:nvSpPr>
          <p:cNvPr id="47" name="Shape 45"/>
          <p:cNvSpPr/>
          <p:nvPr/>
        </p:nvSpPr>
        <p:spPr>
          <a:xfrm>
            <a:off x="2560320" y="169164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525780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536752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2 验收标准：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视觉质检覆盖三大高漏检工序全部五大基地，排产优化系统上线并接管日常排产决策，交付周期较基线缩短≥15%。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分阶段路线图 · Phase 3（18–36个月）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全厂复制 + 知识中台固化，转型能力常态化运营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70916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81513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109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02706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13302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3899" y="1435608"/>
            <a:ext cx="1310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0916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81513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109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02706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13302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3899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34495" y="1691640"/>
            <a:ext cx="0" cy="301752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知识库全量建设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0" y="219456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87752" y="1812341"/>
            <a:ext cx="3221627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0" y="2194560"/>
            <a:ext cx="9174175" cy="502920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 Copilot上线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0" y="269748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08945" y="2315261"/>
            <a:ext cx="2566329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Copilot全员推广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320040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30138" y="2818181"/>
            <a:ext cx="2566329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32" name="Shape 30"/>
          <p:cNvSpPr/>
          <p:nvPr/>
        </p:nvSpPr>
        <p:spPr>
          <a:xfrm>
            <a:off x="2560320" y="3200400"/>
            <a:ext cx="9174175" cy="502920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四大支柱效果复盘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0" y="370332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8348" y="3321101"/>
            <a:ext cx="1255732" cy="261518"/>
          </a:xfrm>
          <a:prstGeom prst="roundRect">
            <a:avLst>
              <a:gd name="adj" fmla="val 13986"/>
            </a:avLst>
          </a:prstGeom>
          <a:solidFill>
            <a:srgbClr val="F2A93B"/>
          </a:solidFill>
          <a:ln/>
        </p:spPr>
      </p:sp>
      <p:sp>
        <p:nvSpPr>
          <p:cNvPr id="36" name="Text 34"/>
          <p:cNvSpPr/>
          <p:nvPr/>
        </p:nvSpPr>
        <p:spPr>
          <a:xfrm>
            <a:off x="3870916" y="3321101"/>
            <a:ext cx="1310596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复盘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全厂能力对标校准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0" y="420624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64243" y="3824021"/>
            <a:ext cx="3221627" cy="261518"/>
          </a:xfrm>
          <a:prstGeom prst="roundRect">
            <a:avLst>
              <a:gd name="adj" fmla="val 13986"/>
            </a:avLst>
          </a:prstGeom>
          <a:solidFill>
            <a:srgbClr val="1E2761"/>
          </a:solidFill>
          <a:ln/>
        </p:spPr>
      </p:sp>
      <p:sp>
        <p:nvSpPr>
          <p:cNvPr id="40" name="Shape 38"/>
          <p:cNvSpPr/>
          <p:nvPr/>
        </p:nvSpPr>
        <p:spPr>
          <a:xfrm>
            <a:off x="2560320" y="4206240"/>
            <a:ext cx="9174175" cy="502920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206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转型SOP固化沉淀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60320" y="470916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0734" y="4326941"/>
            <a:ext cx="2566329" cy="261518"/>
          </a:xfrm>
          <a:prstGeom prst="roundRect">
            <a:avLst>
              <a:gd name="adj" fmla="val 13986"/>
            </a:avLst>
          </a:prstGeom>
          <a:solidFill>
            <a:srgbClr val="F2A93B"/>
          </a:solidFill>
          <a:ln/>
        </p:spPr>
      </p:sp>
      <p:sp>
        <p:nvSpPr>
          <p:cNvPr id="44" name="Text 42"/>
          <p:cNvSpPr/>
          <p:nvPr/>
        </p:nvSpPr>
        <p:spPr>
          <a:xfrm>
            <a:off x="9113302" y="4326941"/>
            <a:ext cx="2621193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固化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0" y="1691640"/>
            <a:ext cx="9174175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5029200"/>
            <a:ext cx="11277295" cy="109728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513892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3 验收标准：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四大战略支柱在全部五大生产基地稳定运行，转型能力沉淀为标准作业程序，形成不依赖外部咨询团队的自我迭代机制，三年累计效益达成本提案北极星目标。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首90天行动计划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13周执行清单，确保转型第一步稳健落地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758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0934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6093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W1–2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01168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启动与授权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359152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董事会批复提案，PMO正式挂牌，明确各部门牵头人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34256" y="1463040"/>
            <a:ext cx="36758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98848" y="160934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16093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W3–4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98848" y="201168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试点工厂确认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2359152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徐州总部厂区详勘，62台关键设备清单锁定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11312" y="1463040"/>
            <a:ext cx="36758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75904" y="160934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16093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W5–6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75904" y="201168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供应商选型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75904" y="2359152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传感器/边缘网关/算法平台供应商比选定标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81528"/>
            <a:ext cx="36758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3227832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2278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W7–9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3630168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硬件部署启动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" y="397764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传感器安装与联网调试，网络安全评估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34256" y="3081528"/>
            <a:ext cx="36758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98848" y="3227832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498848" y="32278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W10–11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98848" y="3630168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数据基线建设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98848" y="397764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历史故障数据回溯清洗，模型训练数据集构建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11312" y="3081528"/>
            <a:ext cx="36758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75904" y="3227832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375904" y="32278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W12–13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75904" y="3630168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首月复盘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75904" y="397764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阶段进展汇报董事会，锁定Phase 1剩余里程碑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投资概算与ROI测算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三年总投入¥1.85亿，ROI回收周期2.3年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39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71600"/>
          <a:ext cx="6675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1371600"/>
            <a:ext cx="4526280" cy="1783080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60920" y="1508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¥1.85亿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三年总投入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7178040" y="3337560"/>
            <a:ext cx="4526280" cy="1783080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2700000">
              <a:srgbClr val="1E276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60920" y="34747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2.3年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ROI回收周期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45720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分项投入结构（¥万元）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56875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硬件与传感设备 6200 · 软件与算法平台 5400 · 数据中台建设 3100 · 组织与人才 2600 · 变革管理与培训 1200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风险矩阵与应对预案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四大风险分级管理，明确责任人与应对措施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39</a:t>
            </a:r>
            <a:endParaRPr lang="en-US" sz="10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4206240"/>
                <a:gridCol w="423641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风险类别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风险等级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具体表现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应对预案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数据质量风险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历史数据缺失/口径不一致，影响模型训练效果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先行3个月数据治理专项，建立数据质量看板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组织抵触风险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一线员工担心AI替代岗位，推广阻力大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转岗培训+绩效激励，试点树标杆消除疑虑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技术选型风险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算法效果不及预期，或供应商交付延期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关键模块保留自建能力，供应商设阶段验收门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安全合规风险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工控网络联网带来的信息安全暴露面扩大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分区分域部署，关键数据不出域，定期渗透测试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166360"/>
            <a:ext cx="11277295" cy="960120"/>
          </a:xfrm>
          <a:prstGeom prst="roundRect">
            <a:avLst>
              <a:gd name="adj" fmla="val 7619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27608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重点提示：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「数据质量风险」与「组织抵触风险」等级最高，直接决定四大支柱能否如期见效，建议在Phase 1即投入专项资源优先化解，避免拖累后续阶段进度。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治理机制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转型委员会统领，双周例会+季度董事会汇报节奏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7295" cy="1005840"/>
          </a:xfrm>
          <a:prstGeom prst="roundRect">
            <a:avLst>
              <a:gd name="adj" fmla="val 81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002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董事会 / 转型委员会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86000" y="19202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审议重大投资决策与阶段成果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180015" y="164592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364284"/>
          </a:solidFill>
          <a:ln/>
        </p:spPr>
      </p:sp>
      <p:sp>
        <p:nvSpPr>
          <p:cNvPr id="13" name="Text 11"/>
          <p:cNvSpPr/>
          <p:nvPr/>
        </p:nvSpPr>
        <p:spPr>
          <a:xfrm>
            <a:off x="10180015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季度例会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11277295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7889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PMO / 各支柱负责人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286000" y="31089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跟踪里程碑进度，协调跨部门资源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80015" y="283464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80015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双周例会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11277295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9776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数据/算法/业务BP团队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286000" y="42976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任务级站会，问题即时升级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180015" y="40233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27" name="Text 25"/>
          <p:cNvSpPr/>
          <p:nvPr/>
        </p:nvSpPr>
        <p:spPr>
          <a:xfrm>
            <a:off x="10180015" y="4023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每周例会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汇报节奏图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2064" y="502920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周站会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154680" y="5372100"/>
            <a:ext cx="20116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355848" y="50292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10712" y="502920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双周PMO例会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53328" y="5372100"/>
            <a:ext cx="20116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54496" y="50292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9360" y="502920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月度进展简报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951976" y="5372100"/>
            <a:ext cx="20116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153144" y="50292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208008" y="502920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季度董事会汇报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关键指标看板 KPI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12项过程与结果指标一览，按季度向董事会披露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39</a:t>
            </a:r>
            <a:endParaRPr lang="en-US" sz="10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2194560"/>
                <a:gridCol w="32305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类别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2026基线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2029目标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关键设备联网率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31%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≥65%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核心数据质量合格率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58%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≥95%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四大支柱模块上线数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0/4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4/4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过程指标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算法/数据团队编制到岗率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≥90%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非计划停机时长下降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基线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↓42%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人工质检漏检率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6.2%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2.1%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订单交付周期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28天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20天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在制品库存水平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基线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↓18%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工程师问题处理效率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基线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↑35%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新员工上岗周期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6个月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3个月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维护成本(单位)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基线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↓27%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ROI累计净收益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¥1.56亿(2029)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总结与下一步 SUMMARY &amp; NEXT STEPS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窗口期已至：2027年前是工业AI规模化落地的关键窗口，先动者将构筑难以复制的数据与组织壁垒；</a:t>
            </a:r>
            <a:endParaRPr lang="en-US" sz="1600" dirty="0"/>
          </a:p>
          <a:p>
            <a:pPr marL="342900" indent="-342900">
              <a:lnSpc>
                <a:spcPct val="14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路径已清晰：四层技术架构+四大战略支柱、三阶段滚动推进，每阶段均有可验收的量化里程碑；</a:t>
            </a:r>
            <a:endParaRPr lang="en-US" sz="1600" dirty="0"/>
          </a:p>
          <a:p>
            <a:pPr marL="342900" indent="-342900">
              <a:lnSpc>
                <a:spcPct val="14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投入产出可衡量：三年¥1.85亿投入，2.3年回收，2029年起进入持续正向现金流阶段。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11277295" cy="1371600"/>
          </a:xfrm>
          <a:prstGeom prst="roundRect">
            <a:avLst>
              <a:gd name="adj" fmla="val 8000"/>
            </a:avLst>
          </a:prstGeom>
          <a:solidFill>
            <a:srgbClr val="3642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79476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2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下一步行动 CTA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请董事会审议并批复本提案，授权战略转型办公室于本季度内启动首90天行动计划，锁定徐州试点工厂启动预测性运维单点验证。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云枢重工 · 战略转型办公室  ·  2026年7月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44752" y="274320"/>
            <a:ext cx="9466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附录：技术名词解释与数据来源假设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4752" y="713232"/>
            <a:ext cx="9466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供董事会与技术团队查阅核对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11535" y="365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39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技术名词解释</a:t>
            </a:r>
            <a:endParaRPr lang="en-US" sz="13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340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术语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解释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RAG（检索增强生成）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先从知识库检索相关内容，再交由大模型生成有据可查的回答，降低幻觉风险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数字孪生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物理产线/设备在虚拟空间的实时映射模型，用于仿真、监控与优化决策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MIP（混合整数规划）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一种数学优化方法，用于在产能/物料/工艺约束下求解最优排产方案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工业AI渗透率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已部署至少一类AI应用的规上制造企业占行业总量的比例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数据来源与假设说明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112772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行业渗透率、政策拐点数据：第三方行业研究报告外推测算，仅供趋势参考，非精确统计；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云枢重工现状诊断数据：战略转型办公室2026Q2内部诊断评分与现场调研数据；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标杆企业对标数据：12家同规模装备制造企业对标调研（2026Q2，匿名化处理）；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各项预期效益（停机/漏检/交付周期等）：基于试点数据与行业标杆外推，最终以实际试点结果为准。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云枢重工 · AI转型路线图 2027-2029 · 机密文件 · 董事会提案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云枢重工《AI转型路线图 2027-2029》</dc:title>
  <dc:subject>PptxGenJS Presentation</dc:subject>
  <dc:creator>云枢重工战略转型办公室</dc:creator>
  <cp:lastModifiedBy>云枢重工战略转型办公室</cp:lastModifiedBy>
  <cp:revision>1</cp:revision>
  <dcterms:created xsi:type="dcterms:W3CDTF">2026-07-05T02:52:23Z</dcterms:created>
  <dcterms:modified xsi:type="dcterms:W3CDTF">2026-07-05T02:52:23Z</dcterms:modified>
</cp:coreProperties>
</file>