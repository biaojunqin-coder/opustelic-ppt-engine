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4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5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6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7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8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Industrial AI Capex Index (2020=100)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  <c:pt idx="7">
                    <c:v>2027E</c:v>
                  </c:pt>
                  <c:pt idx="8">
                    <c:v>2028E</c:v>
                  </c:pt>
                  <c:pt idx="9">
                    <c:v>2029E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120</c:v>
                </c:pt>
                <c:pt idx="1">
                  <c:v>145</c:v>
                </c:pt>
                <c:pt idx="2">
                  <c:v>168</c:v>
                </c:pt>
                <c:pt idx="3">
                  <c:v>205</c:v>
                </c:pt>
                <c:pt idx="4">
                  <c:v>248</c:v>
                </c:pt>
                <c:pt idx="5">
                  <c:v>310</c:v>
                </c:pt>
                <c:pt idx="6">
                  <c:v>380</c:v>
                </c:pt>
                <c:pt idx="7">
                  <c:v>462</c:v>
                </c:pt>
                <c:pt idx="8">
                  <c:v>548</c:v>
                </c:pt>
                <c:pt idx="9">
                  <c:v>635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Global Industrial AI Adoption (%)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2A93B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  <c:pt idx="7">
                    <c:v>2027E</c:v>
                  </c:pt>
                  <c:pt idx="8">
                    <c:v>2028E</c:v>
                  </c:pt>
                  <c:pt idx="9">
                    <c:v>2029E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</c:v>
                </c:pt>
                <c:pt idx="1">
                  <c:v>11</c:v>
                </c:pt>
                <c:pt idx="2">
                  <c:v>15</c:v>
                </c:pt>
                <c:pt idx="3">
                  <c:v>19</c:v>
                </c:pt>
                <c:pt idx="4">
                  <c:v>24</c:v>
                </c:pt>
                <c:pt idx="5">
                  <c:v>30</c:v>
                </c:pt>
                <c:pt idx="6">
                  <c:v>37</c:v>
                </c:pt>
                <c:pt idx="7">
                  <c:v>45</c:v>
                </c:pt>
                <c:pt idx="8">
                  <c:v>53</c:v>
                </c:pt>
                <c:pt idx="9">
                  <c:v>61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China Industrial AI Adoption (%)</c:v>
                </c:pt>
              </c:strCache>
            </c:strRef>
          </c:tx>
          <c:spPr>
            <a:solidFill>
              <a:srgbClr val="F2A93B"/>
            </a:solidFill>
            <a:ln w="31750" cap="flat">
              <a:solidFill>
                <a:srgbClr val="F2A9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F2A9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  <c:pt idx="7">
                    <c:v>2027E</c:v>
                  </c:pt>
                  <c:pt idx="8">
                    <c:v>2028E</c:v>
                  </c:pt>
                  <c:pt idx="9">
                    <c:v>2029E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5</c:v>
                </c:pt>
                <c:pt idx="1">
                  <c:v>7</c:v>
                </c:pt>
                <c:pt idx="2">
                  <c:v>10</c:v>
                </c:pt>
                <c:pt idx="3">
                  <c:v>14</c:v>
                </c:pt>
                <c:pt idx="4">
                  <c:v>19</c:v>
                </c:pt>
                <c:pt idx="5">
                  <c:v>26</c:v>
                </c:pt>
                <c:pt idx="6">
                  <c:v>34</c:v>
                </c:pt>
                <c:pt idx="7">
                  <c:v>43</c:v>
                </c:pt>
                <c:pt idx="8">
                  <c:v>52</c:v>
                </c:pt>
                <c:pt idx="9">
                  <c:v>60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E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4748B"/>
                    </a:solidFill>
                    <a:latin typeface="Arial"/>
                  </a:rPr>
                  <a:t>Capex Index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Industry Average</c:v>
                </c:pt>
              </c:strCache>
            </c:strRef>
          </c:tx>
          <c:spPr>
            <a:solidFill>
              <a:srgbClr val="64748B"/>
            </a:solidFill>
            <a:ln w="25400" cap="flat">
              <a:solidFill>
                <a:srgbClr val="64748B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Data Infrastructure</c:v>
                  </c:pt>
                  <c:pt idx="1">
                    <c:v>Predictive Maintenance</c:v>
                  </c:pt>
                  <c:pt idx="2">
                    <c:v>Vision Inspection</c:v>
                  </c:pt>
                  <c:pt idx="3">
                    <c:v>Smart Scheduling</c:v>
                  </c:pt>
                  <c:pt idx="4">
                    <c:v>Knowledge Mgmt</c:v>
                  </c:pt>
                  <c:pt idx="5">
                    <c:v>Org &amp; Talent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</c:v>
                </c:pt>
                <c:pt idx="1">
                  <c:v>48</c:v>
                </c:pt>
                <c:pt idx="2">
                  <c:v>42</c:v>
                </c:pt>
                <c:pt idx="3">
                  <c:v>40</c:v>
                </c:pt>
                <c:pt idx="4">
                  <c:v>38</c:v>
                </c:pt>
                <c:pt idx="5">
                  <c:v>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Leading Benchmark</c:v>
                </c:pt>
              </c:strCache>
            </c:strRef>
          </c:tx>
          <c:spPr>
            <a:solidFill>
              <a:srgbClr val="1E2761"/>
            </a:solidFill>
            <a:ln w="254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Data Infrastructure</c:v>
                  </c:pt>
                  <c:pt idx="1">
                    <c:v>Predictive Maintenance</c:v>
                  </c:pt>
                  <c:pt idx="2">
                    <c:v>Vision Inspection</c:v>
                  </c:pt>
                  <c:pt idx="3">
                    <c:v>Smart Scheduling</c:v>
                  </c:pt>
                  <c:pt idx="4">
                    <c:v>Knowledge Mgmt</c:v>
                  </c:pt>
                  <c:pt idx="5">
                    <c:v>Org &amp; Talent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88</c:v>
                </c:pt>
                <c:pt idx="1">
                  <c:v>82</c:v>
                </c:pt>
                <c:pt idx="2">
                  <c:v>85</c:v>
                </c:pt>
                <c:pt idx="3">
                  <c:v>78</c:v>
                </c:pt>
                <c:pt idx="4">
                  <c:v>80</c:v>
                </c:pt>
                <c:pt idx="5">
                  <c:v>75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Yunshu Current State</c:v>
                </c:pt>
              </c:strCache>
            </c:strRef>
          </c:tx>
          <c:spPr>
            <a:solidFill>
              <a:srgbClr val="F2A93B"/>
            </a:solidFill>
            <a:ln w="25400" cap="flat">
              <a:solidFill>
                <a:srgbClr val="F2A93B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F2A93B"/>
              </a:solidFill>
              <a:ln w="9525" cap="flat">
                <a:solidFill>
                  <a:srgbClr val="F2A9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Data Infrastructure</c:v>
                  </c:pt>
                  <c:pt idx="1">
                    <c:v>Predictive Maintenance</c:v>
                  </c:pt>
                  <c:pt idx="2">
                    <c:v>Vision Inspection</c:v>
                  </c:pt>
                  <c:pt idx="3">
                    <c:v>Smart Scheduling</c:v>
                  </c:pt>
                  <c:pt idx="4">
                    <c:v>Knowledge Mgmt</c:v>
                  </c:pt>
                  <c:pt idx="5">
                    <c:v>Org &amp; Talent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38</c:v>
                </c:pt>
                <c:pt idx="1">
                  <c:v>30</c:v>
                </c:pt>
                <c:pt idx="2">
                  <c:v>22</c:v>
                </c:pt>
                <c:pt idx="3">
                  <c:v>25</c:v>
                </c:pt>
                <c:pt idx="4">
                  <c:v>20</c:v>
                </c:pt>
                <c:pt idx="5">
                  <c:v>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Industry Benchmark</c:v>
                </c:pt>
              </c:strCache>
            </c:strRef>
          </c:tx>
          <c:spPr>
            <a:solidFill>
              <a:srgbClr val="CADCFC"/>
            </a:solidFill>
            <a:ln w="25400" cap="flat">
              <a:solidFill>
                <a:srgbClr val="CADCFC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CADCFC"/>
              </a:solidFill>
              <a:ln w="9525" cap="flat">
                <a:solidFill>
                  <a:srgbClr val="CADCF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Data Governance</c:v>
                  </c:pt>
                  <c:pt idx="1">
                    <c:v>Systems Integration</c:v>
                  </c:pt>
                  <c:pt idx="2">
                    <c:v>Algorithm Capability</c:v>
                  </c:pt>
                  <c:pt idx="3">
                    <c:v>Org Capability</c:v>
                  </c:pt>
                  <c:pt idx="4">
                    <c:v>Security &amp; Compliance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</c:v>
                </c:pt>
                <c:pt idx="1">
                  <c:v>80</c:v>
                </c:pt>
                <c:pt idx="2">
                  <c:v>78</c:v>
                </c:pt>
                <c:pt idx="3">
                  <c:v>74</c:v>
                </c:pt>
                <c:pt idx="4">
                  <c:v>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Yunshu Current State</c:v>
                </c:pt>
              </c:strCache>
            </c:strRef>
          </c:tx>
          <c:spPr>
            <a:solidFill>
              <a:srgbClr val="1E2761"/>
            </a:solidFill>
            <a:ln w="254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Data Governance</c:v>
                  </c:pt>
                  <c:pt idx="1">
                    <c:v>Systems Integration</c:v>
                  </c:pt>
                  <c:pt idx="2">
                    <c:v>Algorithm Capability</c:v>
                  </c:pt>
                  <c:pt idx="3">
                    <c:v>Org Capability</c:v>
                  </c:pt>
                  <c:pt idx="4">
                    <c:v>Security &amp; Compliance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35</c:v>
                </c:pt>
                <c:pt idx="1">
                  <c:v>42</c:v>
                </c:pt>
                <c:pt idx="2">
                  <c:v>20</c:v>
                </c:pt>
                <c:pt idx="3">
                  <c:v>38</c:v>
                </c:pt>
                <c:pt idx="4">
                  <c:v>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(2026 baseline)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Unplanned Downtime (hrs/mo)</c:v>
                  </c:pt>
                  <c:pt idx="1">
                    <c:v>Unit Maint. Cost (RMB K/mo)</c:v>
                  </c:pt>
                  <c:pt idx="2">
                    <c:v>Emergency Repairs (per mo)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186</c:v>
                </c:pt>
                <c:pt idx="1">
                  <c:v>142</c:v>
                </c:pt>
                <c:pt idx="2">
                  <c:v>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(2029 target)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Unplanned Downtime (hrs/mo)</c:v>
                  </c:pt>
                  <c:pt idx="1">
                    <c:v>Unit Maint. Cost (RMB K/mo)</c:v>
                  </c:pt>
                  <c:pt idx="2">
                    <c:v>Emergency Repairs (per mo)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108</c:v>
                </c:pt>
                <c:pt idx="1">
                  <c:v>104</c:v>
                </c:pt>
                <c:pt idx="2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E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 Rate Before (%)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Casting</c:v>
                  </c:pt>
                  <c:pt idx="1">
                    <c:v>Welding</c:v>
                  </c:pt>
                  <c:pt idx="2">
                    <c:v>Coating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8.9</c:v>
                </c:pt>
                <c:pt idx="1">
                  <c:v>6.4</c:v>
                </c:pt>
                <c:pt idx="2">
                  <c:v>3.4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Miss Rate After (%)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Casting</c:v>
                  </c:pt>
                  <c:pt idx="1">
                    <c:v>Welding</c:v>
                  </c:pt>
                  <c:pt idx="2">
                    <c:v>Coating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2.8</c:v>
                </c:pt>
                <c:pt idx="1">
                  <c:v>2.2</c:v>
                </c:pt>
                <c:pt idx="2">
                  <c:v>1.2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E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Scheduling Wait</c:v>
                  </c:pt>
                  <c:pt idx="1">
                    <c:v>Production</c:v>
                  </c:pt>
                  <c:pt idx="2">
                    <c:v>QC &amp; Stocking</c:v>
                  </c:pt>
                  <c:pt idx="3">
                    <c:v>Logistics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5.4</c:v>
                </c:pt>
                <c:pt idx="1">
                  <c:v>14.2</c:v>
                </c:pt>
                <c:pt idx="2">
                  <c:v>3.8</c:v>
                </c:pt>
                <c:pt idx="3">
                  <c:v>4.6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Scheduling Wait</c:v>
                  </c:pt>
                  <c:pt idx="1">
                    <c:v>Production</c:v>
                  </c:pt>
                  <c:pt idx="2">
                    <c:v>QC &amp; Stocking</c:v>
                  </c:pt>
                  <c:pt idx="3">
                    <c:v>Logistics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</c:v>
                </c:pt>
                <c:pt idx="1">
                  <c:v>12.8</c:v>
                </c:pt>
                <c:pt idx="2">
                  <c:v>2.1</c:v>
                </c:pt>
                <c:pt idx="3">
                  <c:v>4.4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E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Process Eng.</c:v>
                  </c:pt>
                  <c:pt idx="1">
                    <c:v>Equipment Eng.</c:v>
                  </c:pt>
                  <c:pt idx="2">
                    <c:v>Quality Eng.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6.2</c:v>
                </c:pt>
                <c:pt idx="1">
                  <c:v>5.8</c:v>
                </c:pt>
                <c:pt idx="2">
                  <c:v>5.5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Process Eng.</c:v>
                  </c:pt>
                  <c:pt idx="1">
                    <c:v>Equipment Eng.</c:v>
                  </c:pt>
                  <c:pt idx="2">
                    <c:v>Quality Eng.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3.1</c:v>
                </c:pt>
                <c:pt idx="1">
                  <c:v>3</c:v>
                </c:pt>
                <c:pt idx="2">
                  <c:v>2.8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E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Investment (RMB K)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8200</c:v>
                </c:pt>
                <c:pt idx="1">
                  <c:v>6300</c:v>
                </c:pt>
                <c:pt idx="2">
                  <c:v>4000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Net Benefit (RMB K)</c:v>
                </c:pt>
              </c:strCache>
            </c:strRef>
          </c:tx>
          <c:spPr>
            <a:solidFill>
              <a:srgbClr val="F2A93B"/>
            </a:solidFill>
            <a:ln w="31750" cap="flat">
              <a:solidFill>
                <a:srgbClr val="F2A9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A93B"/>
              </a:solidFill>
              <a:ln w="9525" cap="flat">
                <a:solidFill>
                  <a:srgbClr val="F2A9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-3100</c:v>
                </c:pt>
                <c:pt idx="1">
                  <c:v>4800</c:v>
                </c:pt>
                <c:pt idx="2">
                  <c:v>15600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E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5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950" b="0" i="0" u="none" strike="noStrike">
                    <a:solidFill>
                      <a:srgbClr val="64748B"/>
                    </a:solidFill>
                    <a:latin typeface="Arial"/>
                  </a:rPr>
                  <a:t>Annual Investment (RMB K)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1234440"/>
            <a:ext cx="3017520" cy="749808"/>
          </a:xfrm>
          <a:prstGeom prst="roundRect">
            <a:avLst>
              <a:gd name="adj" fmla="val 9756"/>
            </a:avLst>
          </a:prstGeom>
          <a:solidFill>
            <a:srgbClr val="364284"/>
          </a:solidFill>
          <a:ln w="12700">
            <a:solidFill>
              <a:srgbClr val="4A569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41664" y="1234440"/>
            <a:ext cx="2907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Sensing Layer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195560" y="1984248"/>
            <a:ext cx="0" cy="27432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686800" y="2258568"/>
            <a:ext cx="3017520" cy="749808"/>
          </a:xfrm>
          <a:prstGeom prst="roundRect">
            <a:avLst>
              <a:gd name="adj" fmla="val 9756"/>
            </a:avLst>
          </a:prstGeom>
          <a:solidFill>
            <a:srgbClr val="364284"/>
          </a:solidFill>
          <a:ln w="12700">
            <a:solidFill>
              <a:srgbClr val="4A569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41664" y="2258568"/>
            <a:ext cx="2907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Platform Layer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195560" y="3008376"/>
            <a:ext cx="0" cy="27432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686800" y="3282696"/>
            <a:ext cx="3017520" cy="749808"/>
          </a:xfrm>
          <a:prstGeom prst="roundRect">
            <a:avLst>
              <a:gd name="adj" fmla="val 9756"/>
            </a:avLst>
          </a:prstGeom>
          <a:solidFill>
            <a:srgbClr val="364284"/>
          </a:solidFill>
          <a:ln w="12700">
            <a:solidFill>
              <a:srgbClr val="4A569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41664" y="3282696"/>
            <a:ext cx="2907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 Layer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195560" y="4032504"/>
            <a:ext cx="0" cy="27432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686800" y="4306824"/>
            <a:ext cx="3017520" cy="749808"/>
          </a:xfrm>
          <a:prstGeom prst="roundRect">
            <a:avLst>
              <a:gd name="adj" fmla="val 9756"/>
            </a:avLst>
          </a:prstGeom>
          <a:solidFill>
            <a:srgbClr val="364284"/>
          </a:solidFill>
          <a:ln w="12700">
            <a:solidFill>
              <a:srgbClr val="4A569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41664" y="4306824"/>
            <a:ext cx="2907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BOARD PROPOSAL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457200" y="26517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Transformation Roadmap 2027-2029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457200" y="3886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Equipment Manufacturer to Intelligent Manufacturing Operator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7200" y="4572000"/>
            <a:ext cx="201168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8006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AA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for: Yunshu Heavy Industries Board of Directors &amp; Senior Leadership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AA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Strategic Transformation Office (with external AI transformation advisors)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AA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Version: V1.0 · July 2026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9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Overview · Five Sections · 39-Page Full Case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36192"/>
            <a:ext cx="777240" cy="621792"/>
          </a:xfrm>
          <a:prstGeom prst="roundRect">
            <a:avLst>
              <a:gd name="adj" fmla="val 11765"/>
            </a:avLst>
          </a:prstGeom>
          <a:solidFill>
            <a:srgbClr val="36428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36192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417320" y="15544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Trends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190195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· Industry Adoption · Policy Shifts · Benchmarking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271455" y="1536192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P.03-06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11277295" cy="0"/>
          </a:xfrm>
          <a:prstGeom prst="line">
            <a:avLst/>
          </a:prstGeom>
          <a:noFill/>
          <a:ln w="9525">
            <a:solidFill>
              <a:srgbClr val="343E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432304"/>
            <a:ext cx="777240" cy="621792"/>
          </a:xfrm>
          <a:prstGeom prst="roundRect">
            <a:avLst>
              <a:gd name="adj" fmla="val 11765"/>
            </a:avLst>
          </a:prstGeom>
          <a:solidFill>
            <a:srgbClr val="36428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32304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417320" y="24505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Current-State Diagnosis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279806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Overview · IT/Data Maturity · Shop-Floor Pain Points · Tech Options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271455" y="2432304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P.07-11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73552"/>
            <a:ext cx="11277295" cy="0"/>
          </a:xfrm>
          <a:prstGeom prst="line">
            <a:avLst/>
          </a:prstGeom>
          <a:noFill/>
          <a:ln w="9525">
            <a:solidFill>
              <a:srgbClr val="343E7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328416"/>
            <a:ext cx="777240" cy="621792"/>
          </a:xfrm>
          <a:prstGeom prst="roundRect">
            <a:avLst>
              <a:gd name="adj" fmla="val 11765"/>
            </a:avLst>
          </a:prstGeom>
          <a:solidFill>
            <a:srgbClr val="36428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328416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417320" y="334670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Architecture &amp; Strategy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369417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 · Four-Layer Architecture · Four Strategic Pillars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271455" y="3328416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P.12-26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69664"/>
            <a:ext cx="11277295" cy="0"/>
          </a:xfrm>
          <a:prstGeom prst="line">
            <a:avLst/>
          </a:prstGeom>
          <a:noFill/>
          <a:ln w="9525">
            <a:solidFill>
              <a:srgbClr val="343E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224528"/>
            <a:ext cx="777240" cy="621792"/>
          </a:xfrm>
          <a:prstGeom prst="roundRect">
            <a:avLst>
              <a:gd name="adj" fmla="val 11765"/>
            </a:avLst>
          </a:prstGeom>
          <a:solidFill>
            <a:srgbClr val="36428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224528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417320" y="424281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Roadmap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417320" y="459028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Platform · Org Capability · Change Management · Three-Phase Gantt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271455" y="4224528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P.27-33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5065776"/>
            <a:ext cx="11277295" cy="0"/>
          </a:xfrm>
          <a:prstGeom prst="line">
            <a:avLst/>
          </a:prstGeom>
          <a:noFill/>
          <a:ln w="9525">
            <a:solidFill>
              <a:srgbClr val="343E7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5120640"/>
            <a:ext cx="777240" cy="621792"/>
          </a:xfrm>
          <a:prstGeom prst="roundRect">
            <a:avLst>
              <a:gd name="adj" fmla="val 11765"/>
            </a:avLst>
          </a:prstGeom>
          <a:solidFill>
            <a:srgbClr val="364284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5120640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417320" y="513892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&amp; Governance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417320" y="548640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Model · Risk Matrix · Governance · KPI Dashboard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271455" y="512064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P.34-39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9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Three-year transformation goal: measurable operational gains driven by four AI strategic pillars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578608" cy="1737360"/>
          </a:xfrm>
          <a:prstGeom prst="roundRect">
            <a:avLst>
              <a:gd name="adj" fmla="val 5263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508760"/>
            <a:ext cx="22128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unplanned downtime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maintenance loop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3255264" y="1371600"/>
            <a:ext cx="2578608" cy="1737360"/>
          </a:xfrm>
          <a:prstGeom prst="roundRect">
            <a:avLst>
              <a:gd name="adj" fmla="val 5263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38144" y="1508760"/>
            <a:ext cx="22128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manual QC miss rate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vision inspection dual-loop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6053328" y="1371600"/>
            <a:ext cx="2578608" cy="1737360"/>
          </a:xfrm>
          <a:prstGeom prst="roundRect">
            <a:avLst>
              <a:gd name="adj" fmla="val 5263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36208" y="1508760"/>
            <a:ext cx="22128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shorter order delivery cycle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scheduling + digital twin</a:t>
            </a: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8851392" y="1371600"/>
            <a:ext cx="2578608" cy="1737360"/>
          </a:xfrm>
          <a:prstGeom prst="roundRect">
            <a:avLst>
              <a:gd name="adj" fmla="val 5263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34272" y="1508760"/>
            <a:ext cx="22128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engineer issue resolution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 + AI Copilot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57200" y="34015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Thesis of This Proposal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749040"/>
            <a:ext cx="1127729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AI has moved from proof-of-concept to at-scale deployment; the window before 2027 lets early movers build lasting data and organizational advantages;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Yunshu's current IT/data maturity trails industry benchmarks by roughly 1.8 maturity levels, with four urgent shop-floor pain points;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recommend a "four-layer architecture + four strategic pillars" framework, rolled out across three phases (6/18/36 months), for a total three-year investment of approximately RMB 185M with a 2.3-year ROI payback period.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5623560"/>
            <a:ext cx="11277295" cy="566928"/>
          </a:xfrm>
          <a:prstGeom prst="roundRect">
            <a:avLst>
              <a:gd name="adj" fmla="val 12903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62356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source: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benefit estimates above are derived from benchmark comparisons and extrapolated on-site diagnostic data; see data assumptions in the Appendix (P.39).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AI Adoption Trend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and China industrial AI adoption keeps climbing, reaching a scale inflection point after 2027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39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325880"/>
          <a:ext cx="1127729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5321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Adoption is defined as the share of large manufacturers deploying at least one AI application (predictive maintenance / vision inspection / smart scheduling / knowledge management); figures are extrapolated from third-party industry research.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Policy &amp; Technology Inflection Points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LLM maturity, falling compute costs, and smart manufacturing policy converge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3566160"/>
            <a:ext cx="10728655" cy="0"/>
          </a:xfrm>
          <a:prstGeom prst="line">
            <a:avLst/>
          </a:prstGeom>
          <a:noFill/>
          <a:ln w="25400">
            <a:solidFill>
              <a:srgbClr val="D8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32304" y="3483864"/>
            <a:ext cx="164592" cy="164592"/>
          </a:xfrm>
          <a:prstGeom prst="oval">
            <a:avLst/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2990088"/>
            <a:ext cx="0" cy="576072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097280" y="1207008"/>
            <a:ext cx="2834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13167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2024-2025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88720" y="16093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LLMs Mature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8720" y="2011680"/>
            <a:ext cx="26517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industrial LLMs become production-ready, with defect recognition accuracy exceeding 98% — ready for line-level deployment.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27064" y="3483864"/>
            <a:ext cx="164592" cy="164592"/>
          </a:xfrm>
          <a:prstGeom prst="oval">
            <a:avLst/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3566160"/>
            <a:ext cx="0" cy="50292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892040" y="4069080"/>
            <a:ext cx="2834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41788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2025-2026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83480" y="447141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Costs Fall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983480" y="4873752"/>
            <a:ext cx="26517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costs drop roughly 76% over three years; edge AI chip prices fall below the threshold for scaled deployment.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021824" y="3483864"/>
            <a:ext cx="164592" cy="164592"/>
          </a:xfrm>
          <a:prstGeom prst="oval">
            <a:avLst/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04120" y="2990088"/>
            <a:ext cx="0" cy="576072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8686800" y="1207008"/>
            <a:ext cx="2834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0" y="13167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2026-2027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778240" y="16093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Manufacturing Policy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778240" y="2011680"/>
            <a:ext cx="26517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and local smart manufacturing initiatives intensify, tightening requirements for equipment connectivity and data compliance in key industries.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of opportunity: three trends converge -&gt; cost curve crosses the scale-up threshold after 2027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Maturity vs. Peers &amp; Benchmarks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trails both the industry average and leaders across all six maturity dimensions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39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280160"/>
          <a:ext cx="685800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635240" y="12801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35240" y="1664208"/>
            <a:ext cx="4069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lags the industry average across all six dimensions, with the widest gaps in "Vision Inspection" (-20 pts) and "Knowledge Mgmt" (-18 pts);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Versus the leading benchmark, the overall gap is about 42 points (out of 100), equivalent to roughly 1.8 maturity levels;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"Org &amp; Talent" shows the smallest relative gap, indicating a solid organizational base to build on — technology and data capability should be prioritized first.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35240" y="4663440"/>
            <a:ext cx="4069080" cy="12344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/>
        </p:spPr>
      </p:sp>
      <p:sp>
        <p:nvSpPr>
          <p:cNvPr id="11" name="Text 8"/>
          <p:cNvSpPr/>
          <p:nvPr/>
        </p:nvSpPr>
        <p:spPr>
          <a:xfrm>
            <a:off x="7818120" y="466344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note: 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"Industry Average" and "Leading Benchmark" are drawn from a Q2 2026 benchmarking study of 12 comparably sized equipment manufacturers; Yunshu's scores are from the Strategic Transformation Office's internal diagnostic.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Business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product lines, five production bases nationwide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67588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25880"/>
            <a:ext cx="3675888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00200"/>
            <a:ext cx="3675888" cy="182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3258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Construction Machinery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" y="1920240"/>
            <a:ext cx="3346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RMB 5.84B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revenue · 46% of total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1792" y="2697480"/>
            <a:ext cx="3346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Excavators, loaders, rollers; exports account for 28% of revenue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34256" y="1325880"/>
            <a:ext cx="367588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34256" y="1325880"/>
            <a:ext cx="3675888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4334256" y="1600200"/>
            <a:ext cx="3675888" cy="182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471416" y="13258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Transmission Components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98848" y="1920240"/>
            <a:ext cx="3346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RMB 3.92B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revenue · 31% of total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498848" y="2697480"/>
            <a:ext cx="3346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Reducers, gearboxes, hydraulics for OEMs and aftermarket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11312" y="1325880"/>
            <a:ext cx="367588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11312" y="1325880"/>
            <a:ext cx="3675888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8211312" y="1600200"/>
            <a:ext cx="3675888" cy="182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348472" y="13258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Automation Equipment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75904" y="1920240"/>
            <a:ext cx="3346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RMB 2.91B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revenue · 23% of total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375904" y="2697480"/>
            <a:ext cx="3346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 line integration, smart warehousing; fastest-growing unit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3703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revenue RMB 12.67B (2026) · Five production bases nationwide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1148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" y="4251960"/>
            <a:ext cx="109728" cy="109728"/>
          </a:xfrm>
          <a:prstGeom prst="oval">
            <a:avLst/>
          </a:prstGeom>
          <a:solidFill>
            <a:srgbClr val="F2A93B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4407408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Xuzhou (HQ / Heavy Equip.)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" y="49377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Capacity: 42,000 units/yr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20340" y="41148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/>
        </p:spPr>
      </p:sp>
      <p:sp>
        <p:nvSpPr>
          <p:cNvPr id="31" name="Shape 29"/>
          <p:cNvSpPr/>
          <p:nvPr/>
        </p:nvSpPr>
        <p:spPr>
          <a:xfrm>
            <a:off x="2857500" y="4251960"/>
            <a:ext cx="109728" cy="109728"/>
          </a:xfrm>
          <a:prstGeom prst="oval">
            <a:avLst/>
          </a:prstGeom>
          <a:solidFill>
            <a:srgbClr val="F2A93B"/>
          </a:solidFill>
          <a:ln/>
        </p:spPr>
      </p:sp>
      <p:sp>
        <p:nvSpPr>
          <p:cNvPr id="32" name="Text 30"/>
          <p:cNvSpPr/>
          <p:nvPr/>
        </p:nvSpPr>
        <p:spPr>
          <a:xfrm>
            <a:off x="2857500" y="4407408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Changzhou (Transmission)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857500" y="49377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Capacity: 3.8M parts/yr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83480" y="41148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4251960"/>
            <a:ext cx="109728" cy="109728"/>
          </a:xfrm>
          <a:prstGeom prst="oval">
            <a:avLst/>
          </a:prstGeom>
          <a:solidFill>
            <a:srgbClr val="F2A93B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4407408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Qingdao (Automation)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20640" y="49377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Capacity: 1,200 lines/yr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246620" y="41148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/>
        </p:spPr>
      </p:sp>
      <p:sp>
        <p:nvSpPr>
          <p:cNvPr id="39" name="Shape 37"/>
          <p:cNvSpPr/>
          <p:nvPr/>
        </p:nvSpPr>
        <p:spPr>
          <a:xfrm>
            <a:off x="7383780" y="4251960"/>
            <a:ext cx="109728" cy="109728"/>
          </a:xfrm>
          <a:prstGeom prst="oval">
            <a:avLst/>
          </a:prstGeom>
          <a:solidFill>
            <a:srgbClr val="F2A93B"/>
          </a:solidFill>
          <a:ln/>
        </p:spPr>
      </p:sp>
      <p:sp>
        <p:nvSpPr>
          <p:cNvPr id="40" name="Text 38"/>
          <p:cNvSpPr/>
          <p:nvPr/>
        </p:nvSpPr>
        <p:spPr>
          <a:xfrm>
            <a:off x="7383780" y="4407408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Changsha (2nd Heavy Base)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83780" y="49377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Capacity: 26,000 units/yr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509760" y="41148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/>
        </p:spPr>
      </p:sp>
      <p:sp>
        <p:nvSpPr>
          <p:cNvPr id="43" name="Shape 41"/>
          <p:cNvSpPr/>
          <p:nvPr/>
        </p:nvSpPr>
        <p:spPr>
          <a:xfrm>
            <a:off x="9646920" y="4251960"/>
            <a:ext cx="109728" cy="109728"/>
          </a:xfrm>
          <a:prstGeom prst="oval">
            <a:avLst/>
          </a:prstGeom>
          <a:solidFill>
            <a:srgbClr val="F2A93B"/>
          </a:solidFill>
          <a:ln/>
        </p:spPr>
      </p:sp>
      <p:sp>
        <p:nvSpPr>
          <p:cNvPr id="44" name="Text 42"/>
          <p:cNvSpPr/>
          <p:nvPr/>
        </p:nvSpPr>
        <p:spPr>
          <a:xfrm>
            <a:off x="9646920" y="4407408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Chengdu (SW Support Base)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646920" y="49377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Capacity: 1.5M parts/yr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5623560"/>
            <a:ext cx="11277295" cy="502920"/>
          </a:xfrm>
          <a:prstGeom prst="roundRect">
            <a:avLst>
              <a:gd name="adj" fmla="val 14545"/>
            </a:avLst>
          </a:prstGeom>
          <a:solidFill>
            <a:srgbClr val="EEF2FB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" y="562356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18,400 employees on payroll, including 11,000 frontline production staff and 2,200 R&amp;D engineers; equipment connectivity is only 31% today — the key foundational gap for AI transformation.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/ Data Maturity Assessment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Five-dimension internal diagnostic: governance, integration, algorithms, org, security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39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280160"/>
          <a:ext cx="658368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635240" y="129844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 </a:t>
            </a:r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35/100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35240" y="1545336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unified data standards; master data scattered across 7 disparate systems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635240" y="208483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Integration  </a:t>
            </a:r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42/100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35240" y="233172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ERP/MES/SCADA connectivity below 40%, leaving information silos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635240" y="287121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Capability  </a:t>
            </a:r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20/100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635240" y="3118104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in-house algorithm team; only one vendor POC piloted to date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635240" y="365760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Capability  </a:t>
            </a:r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38/100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35240" y="390448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dedicated data/algorithm roles; transformation ownership undefined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635240" y="444398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Compliance  </a:t>
            </a:r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55/100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635240" y="469087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 network is segmented, but encryption coverage for connected equipment is incomplete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Shop-Floor Issue Inventory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pain points directly erode delivery efficiency and product quality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61358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2700000">
              <a:srgbClr val="1E2761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162763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" y="2139696"/>
            <a:ext cx="228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8.7%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21792" y="2523744"/>
            <a:ext cx="22844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Unplanned downtime rate, 3.2 pts above industry average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45104" y="1463040"/>
            <a:ext cx="261358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2700000">
              <a:srgbClr val="1E2761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09696" y="162763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3509696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09696" y="2139696"/>
            <a:ext cx="228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509696" y="2523744"/>
            <a:ext cx="22844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QC miss rate, concentrated in casting and welding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33008" y="1463040"/>
            <a:ext cx="261358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2700000">
              <a:srgbClr val="1E2761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97600" y="162763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397600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97600" y="2139696"/>
            <a:ext cx="228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 days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397600" y="2523744"/>
            <a:ext cx="22844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response time from order change to line adjustment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20911" y="1463040"/>
            <a:ext cx="261358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2700000">
              <a:srgbClr val="1E2761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85503" y="162763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9285503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85503" y="2139696"/>
            <a:ext cx="228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285503" y="2523744"/>
            <a:ext cx="22844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knowledge gap; core parameters rely on veteran experience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5661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Detail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31920"/>
          <a:ext cx="1127729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825977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Shop-Floor Issue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Root Cause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Unplanned Downtime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equipment (CNC machines / heat-treat furnaces) is repaired reactively, with no vibration/temperature early warning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QC Misses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Relies on sampling + visual inspection; miss rate rises noticeably late in fatigued shifts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 Scheduling Response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Scheduling runs on Excel and experience; rush/change orders are hard to re-sequence quickly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 Knowledge Gap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 of senior process engineers have retired in the past three years without systematic know-how capture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 Priority Matrix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by impact x urgency to pinpoint the highest-priority focus areas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68880" y="1463040"/>
            <a:ext cx="3657600" cy="2011680"/>
          </a:xfrm>
          <a:prstGeom prst="rect">
            <a:avLst/>
          </a:prstGeom>
          <a:solidFill>
            <a:srgbClr val="EEF2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1463040"/>
            <a:ext cx="3657600" cy="2011680"/>
          </a:xfrm>
          <a:prstGeom prst="rect">
            <a:avLst/>
          </a:prstGeom>
          <a:solidFill>
            <a:srgbClr val="F7F9FD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3474720"/>
            <a:ext cx="3657600" cy="2011680"/>
          </a:xfrm>
          <a:prstGeom prst="rect">
            <a:avLst/>
          </a:prstGeom>
          <a:solidFill>
            <a:srgbClr val="F7F9FD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3474720"/>
            <a:ext cx="3657600" cy="2011680"/>
          </a:xfrm>
          <a:prstGeom prst="rect">
            <a:avLst/>
          </a:prstGeom>
          <a:solidFill>
            <a:srgbClr val="EEF2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3474720"/>
            <a:ext cx="73152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463040"/>
            <a:ext cx="0" cy="402336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8608" y="1536192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Important, Not Urgent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36208" y="1536192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&amp; Urgent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78608" y="513892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Minor, Not Urgent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36208" y="513892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but Urgent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468880" y="55595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 -&gt;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 rot="16200000">
            <a:off x="54864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-&gt;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48472" y="1947672"/>
            <a:ext cx="237744" cy="237744"/>
          </a:xfrm>
          <a:prstGeom prst="ellipse">
            <a:avLst/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98664" y="220370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Unplanned Downtime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616952" y="2631643"/>
            <a:ext cx="237744" cy="23774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67144" y="2887675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QC Misses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58584" y="2229307"/>
            <a:ext cx="237744" cy="23774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08776" y="2485339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Scheduling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276088" y="2229307"/>
            <a:ext cx="237744" cy="23774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2485339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Gap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98264" y="4160520"/>
            <a:ext cx="237744" cy="23774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48456" y="44165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 Spare Parts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85432" y="4482389"/>
            <a:ext cx="237744" cy="23774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35624" y="4738421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Loose Energy Mgmt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5943600"/>
            <a:ext cx="11277295" cy="502920"/>
          </a:xfrm>
          <a:prstGeom prst="roundRect">
            <a:avLst>
              <a:gd name="adj" fmla="val 14545"/>
            </a:avLst>
          </a:prstGeom>
          <a:solidFill>
            <a:srgbClr val="EEF2FB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594360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Conclusion: Unplanned downtime and manual QC misses fall in the "Important &amp; Urgent" quadrant — the two top priorities for the four strategic pillars.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Options: Build vs. SaaS vs. Hybrid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 on cost, timeline, control, and risk — hybrid model recommended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39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729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27578"/>
                <a:gridCol w="3027578"/>
                <a:gridCol w="302757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In-House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SaaS Procurement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Hybrid (Recommended)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Upfront Investment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High, RMB 60M+ plus team buildout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Low, subscription from RMB 8M/yr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Medium, core build + peripheral buy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Time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12-18 months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3-6 months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6-9 months, modular rollout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Control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Highest, data stays in-house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Lower, relies on 3rd-party cloud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High, core data stays on-premises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Risk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team-building/retention risk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Vendor lock-in risk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diversified, standardized interfaces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3-Year Total Cost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RMB 140M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RMB 90M (rising yearly)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RMB 110M, best value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257800"/>
            <a:ext cx="11277295" cy="9144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52578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data platform and core AI models in-house to protect data security and long-term leverage; procure mature solutions for vision inspection hardware, general compute, and select SaaS tools to shorten delivery. The hybrid path saves roughly 21% of 3-year cost versus full in-house build while retaining sovereignty over critical data.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digital twin for every machine.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judgment for every decision.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3520440"/>
            <a:ext cx="201168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≥65%</a:t>
            </a:r>
            <a:endParaRPr lang="en-US" sz="3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equipment connectivity</a:t>
            </a:r>
            <a:endParaRPr lang="en-US" sz="3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(31% in 2026 -&gt; 65% in 2029)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0" y="384048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 yrs</a:t>
            </a:r>
            <a:endParaRPr lang="en-US" sz="3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Full-cycle ROI payback period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0" y="384048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RMB 185M</a:t>
            </a:r>
            <a:endParaRPr lang="en-US" sz="3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three-year investment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9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Architecture: Four Technology Layers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Sensing -&gt; Data Platform -&gt; AI Model -&gt; Application Layer, decoupled with bidirectional feedback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932688"/>
          </a:xfrm>
          <a:prstGeom prst="roundRect">
            <a:avLst>
              <a:gd name="adj" fmla="val 882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426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Sensing Layer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2625014" cy="475488"/>
          </a:xfrm>
          <a:prstGeom prst="roundRect">
            <a:avLst>
              <a:gd name="adj" fmla="val 11538"/>
            </a:avLst>
          </a:prstGeom>
          <a:solidFill>
            <a:srgbClr val="364284"/>
          </a:solidFill>
          <a:ln w="9525">
            <a:solidFill>
              <a:srgbClr val="4A56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37360"/>
            <a:ext cx="26250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Vibration/Temp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02254" y="1737360"/>
            <a:ext cx="2625014" cy="475488"/>
          </a:xfrm>
          <a:prstGeom prst="roundRect">
            <a:avLst>
              <a:gd name="adj" fmla="val 11538"/>
            </a:avLst>
          </a:prstGeom>
          <a:solidFill>
            <a:srgbClr val="364284"/>
          </a:solidFill>
          <a:ln w="9525">
            <a:solidFill>
              <a:srgbClr val="4A569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2254" y="1737360"/>
            <a:ext cx="26250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64428" y="1737360"/>
            <a:ext cx="2625014" cy="475488"/>
          </a:xfrm>
          <a:prstGeom prst="roundRect">
            <a:avLst>
              <a:gd name="adj" fmla="val 11538"/>
            </a:avLst>
          </a:prstGeom>
          <a:solidFill>
            <a:srgbClr val="364284"/>
          </a:solidFill>
          <a:ln w="9525">
            <a:solidFill>
              <a:srgbClr val="4A569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64428" y="1737360"/>
            <a:ext cx="26250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PLC/SCADA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926601" y="1737360"/>
            <a:ext cx="2625014" cy="475488"/>
          </a:xfrm>
          <a:prstGeom prst="roundRect">
            <a:avLst>
              <a:gd name="adj" fmla="val 11538"/>
            </a:avLst>
          </a:prstGeom>
          <a:solidFill>
            <a:srgbClr val="364284"/>
          </a:solidFill>
          <a:ln w="9525">
            <a:solidFill>
              <a:srgbClr val="4A569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26601" y="1737360"/>
            <a:ext cx="26250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Compute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95848" y="2304288"/>
            <a:ext cx="0" cy="201168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2505456"/>
            <a:ext cx="11277295" cy="932688"/>
          </a:xfrm>
          <a:prstGeom prst="roundRect">
            <a:avLst>
              <a:gd name="adj" fmla="val 8824"/>
            </a:avLst>
          </a:prstGeom>
          <a:solidFill>
            <a:srgbClr val="2E3A78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2560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Data Platform Layer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2871216"/>
            <a:ext cx="2625014" cy="475488"/>
          </a:xfrm>
          <a:prstGeom prst="roundRect">
            <a:avLst>
              <a:gd name="adj" fmla="val 11538"/>
            </a:avLst>
          </a:prstGeom>
          <a:solidFill>
            <a:srgbClr val="3D4A8C"/>
          </a:solidFill>
          <a:ln w="9525">
            <a:solidFill>
              <a:srgbClr val="5A66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871216"/>
            <a:ext cx="26250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Capture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02254" y="2871216"/>
            <a:ext cx="2625014" cy="475488"/>
          </a:xfrm>
          <a:prstGeom prst="roundRect">
            <a:avLst>
              <a:gd name="adj" fmla="val 11538"/>
            </a:avLst>
          </a:prstGeom>
          <a:solidFill>
            <a:srgbClr val="3D4A8C"/>
          </a:solidFill>
          <a:ln w="9525">
            <a:solidFill>
              <a:srgbClr val="5A66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2254" y="2871216"/>
            <a:ext cx="26250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Data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64428" y="2871216"/>
            <a:ext cx="2625014" cy="475488"/>
          </a:xfrm>
          <a:prstGeom prst="roundRect">
            <a:avLst>
              <a:gd name="adj" fmla="val 11538"/>
            </a:avLst>
          </a:prstGeom>
          <a:solidFill>
            <a:srgbClr val="3D4A8C"/>
          </a:solidFill>
          <a:ln w="9525">
            <a:solidFill>
              <a:srgbClr val="5A66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4428" y="2871216"/>
            <a:ext cx="26250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Lake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926601" y="2871216"/>
            <a:ext cx="2625014" cy="475488"/>
          </a:xfrm>
          <a:prstGeom prst="roundRect">
            <a:avLst>
              <a:gd name="adj" fmla="val 11538"/>
            </a:avLst>
          </a:prstGeom>
          <a:solidFill>
            <a:srgbClr val="3D4A8C"/>
          </a:solidFill>
          <a:ln w="9525">
            <a:solidFill>
              <a:srgbClr val="5A66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26601" y="2871216"/>
            <a:ext cx="26250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95848" y="3438144"/>
            <a:ext cx="0" cy="201168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57200" y="3639312"/>
            <a:ext cx="11277295" cy="932688"/>
          </a:xfrm>
          <a:prstGeom prst="roundRect">
            <a:avLst>
              <a:gd name="adj" fmla="val 8824"/>
            </a:avLst>
          </a:prstGeom>
          <a:solidFill>
            <a:srgbClr val="3D4A8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" y="36941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 Model Layer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4005072"/>
            <a:ext cx="2625014" cy="475488"/>
          </a:xfrm>
          <a:prstGeom prst="roundRect">
            <a:avLst>
              <a:gd name="adj" fmla="val 11538"/>
            </a:avLst>
          </a:prstGeom>
          <a:solidFill>
            <a:srgbClr val="4C58A0"/>
          </a:solidFill>
          <a:ln w="9525">
            <a:solidFill>
              <a:srgbClr val="6A76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005072"/>
            <a:ext cx="26250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02254" y="4005072"/>
            <a:ext cx="2625014" cy="475488"/>
          </a:xfrm>
          <a:prstGeom prst="roundRect">
            <a:avLst>
              <a:gd name="adj" fmla="val 11538"/>
            </a:avLst>
          </a:prstGeom>
          <a:solidFill>
            <a:srgbClr val="4C58A0"/>
          </a:solidFill>
          <a:ln w="9525">
            <a:solidFill>
              <a:srgbClr val="6A76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02254" y="4005072"/>
            <a:ext cx="26250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Defect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64428" y="4005072"/>
            <a:ext cx="2625014" cy="475488"/>
          </a:xfrm>
          <a:prstGeom prst="roundRect">
            <a:avLst>
              <a:gd name="adj" fmla="val 11538"/>
            </a:avLst>
          </a:prstGeom>
          <a:solidFill>
            <a:srgbClr val="4C58A0"/>
          </a:solidFill>
          <a:ln w="9525">
            <a:solidFill>
              <a:srgbClr val="6A76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64428" y="4005072"/>
            <a:ext cx="26250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926601" y="4005072"/>
            <a:ext cx="2625014" cy="475488"/>
          </a:xfrm>
          <a:prstGeom prst="roundRect">
            <a:avLst>
              <a:gd name="adj" fmla="val 11538"/>
            </a:avLst>
          </a:prstGeom>
          <a:solidFill>
            <a:srgbClr val="4C58A0"/>
          </a:solidFill>
          <a:ln w="9525">
            <a:solidFill>
              <a:srgbClr val="6A76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26601" y="4005072"/>
            <a:ext cx="26250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Knowledge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Model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95848" y="4572000"/>
            <a:ext cx="0" cy="201168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57200" y="4773168"/>
            <a:ext cx="11277295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0080" y="4828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Application Layer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40080" y="5138928"/>
            <a:ext cx="2625014" cy="475488"/>
          </a:xfrm>
          <a:prstGeom prst="roundRect">
            <a:avLst>
              <a:gd name="adj" fmla="val 11538"/>
            </a:avLst>
          </a:prstGeom>
          <a:solidFill>
            <a:srgbClr val="EEF2FB"/>
          </a:solidFill>
          <a:ln w="9525">
            <a:solidFill>
              <a:srgbClr val="D8DE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5138928"/>
            <a:ext cx="26250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Maint. Tickets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402254" y="5138928"/>
            <a:ext cx="2625014" cy="475488"/>
          </a:xfrm>
          <a:prstGeom prst="roundRect">
            <a:avLst>
              <a:gd name="adj" fmla="val 11538"/>
            </a:avLst>
          </a:prstGeom>
          <a:solidFill>
            <a:srgbClr val="EEF2FB"/>
          </a:solidFill>
          <a:ln w="9525">
            <a:solidFill>
              <a:srgbClr val="D8DE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02254" y="5138928"/>
            <a:ext cx="26250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 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Review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64428" y="5138928"/>
            <a:ext cx="2625014" cy="475488"/>
          </a:xfrm>
          <a:prstGeom prst="roundRect">
            <a:avLst>
              <a:gd name="adj" fmla="val 11538"/>
            </a:avLst>
          </a:prstGeom>
          <a:solidFill>
            <a:srgbClr val="EEF2FB"/>
          </a:solidFill>
          <a:ln w="9525">
            <a:solidFill>
              <a:srgbClr val="D8DE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64428" y="5138928"/>
            <a:ext cx="26250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Cockpit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926601" y="5138928"/>
            <a:ext cx="2625014" cy="475488"/>
          </a:xfrm>
          <a:prstGeom prst="roundRect">
            <a:avLst>
              <a:gd name="adj" fmla="val 11538"/>
            </a:avLst>
          </a:prstGeom>
          <a:solidFill>
            <a:srgbClr val="EEF2FB"/>
          </a:solidFill>
          <a:ln w="9525">
            <a:solidFill>
              <a:srgbClr val="D8DE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26601" y="5138928"/>
            <a:ext cx="26250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Copilot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1688775" y="1554480"/>
            <a:ext cx="0" cy="3968496"/>
          </a:xfrm>
          <a:prstGeom prst="line">
            <a:avLst/>
          </a:prstGeom>
          <a:noFill/>
          <a:ln w="15875">
            <a:solidFill>
              <a:srgbClr val="F2A93B"/>
            </a:solidFill>
            <a:prstDash val="dash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9997135" y="34015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Loop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" y="587044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decoupled layers: upgrading any one layer does not disrupt the others; usage feedback from the application layer continuously refines models and data governance rules.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Strategic Pillars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pillar addresses one of the four shop-floor pain points with a closed-loop solution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645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Equipment Maintenance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Vibration/temperature sensors + time-series forecasting shift maintenance from reactive to predictive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507492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EEF2F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074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Downtime -42%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55848" y="141732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38728" y="1645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3538728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38728" y="2286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Vision Inspection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538728" y="292608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cameras + defect detection + human review loop, replacing fatigued visual inspection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538728" y="507492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EEF2FB"/>
          </a:solidFill>
          <a:ln/>
        </p:spPr>
      </p:sp>
      <p:sp>
        <p:nvSpPr>
          <p:cNvPr id="20" name="Text 18"/>
          <p:cNvSpPr/>
          <p:nvPr/>
        </p:nvSpPr>
        <p:spPr>
          <a:xfrm>
            <a:off x="3538728" y="5074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Misses -65%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54496" y="141732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37376" y="1645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437376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37376" y="2286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Scheduling &amp; Supply Chain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37376" y="292608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 + scheduling optimization cuts rush-order response from 5.4 days to hours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37376" y="507492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EEF2FB"/>
          </a:solidFill>
          <a:ln/>
        </p:spPr>
      </p:sp>
      <p:sp>
        <p:nvSpPr>
          <p:cNvPr id="27" name="Text 25"/>
          <p:cNvSpPr/>
          <p:nvPr/>
        </p:nvSpPr>
        <p:spPr>
          <a:xfrm>
            <a:off x="6437376" y="5074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-28%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153144" y="141732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336024" y="1645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9336024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336024" y="2286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Mgmt &amp; Copilot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336024" y="292608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knowledge base + RAG turns veteran expertise into a searchable process asset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336024" y="507492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EEF2FB"/>
          </a:solidFill>
          <a:ln/>
        </p:spPr>
      </p:sp>
      <p:sp>
        <p:nvSpPr>
          <p:cNvPr id="34" name="Text 32"/>
          <p:cNvSpPr/>
          <p:nvPr/>
        </p:nvSpPr>
        <p:spPr>
          <a:xfrm>
            <a:off x="9336024" y="5074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-50%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 · Intelligent Equipment Maintenance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approach: vibration/temperature sensors + time-series forecasting, 7-14 days advance warning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vibration/temperature/current sensors on 137 key assets (CNC machines, heat-treat furnaces, large presses) at 10kHz sampling;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gateways perform feature extraction (FFT spectrum, envelope analysis) locally, cutting cloud transmission bandwidth by about 80%;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Cloud-hosted anomaly detection model (LSTM + isolation forest ensemble), calibrated per-asset against equipment history;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auto-generate maintenance tickets, routed by urgency to frontline crews and the equipment management team.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35240" y="1371600"/>
            <a:ext cx="4069080" cy="822960"/>
          </a:xfrm>
          <a:prstGeom prst="roundRect">
            <a:avLst>
              <a:gd name="adj" fmla="val 888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/>
          <p:nvPr/>
        </p:nvSpPr>
        <p:spPr>
          <a:xfrm>
            <a:off x="7818120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CNC Machining Centers  </a:t>
            </a:r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units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18120" y="17922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risk: Spindle bearing wear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35240" y="2331720"/>
            <a:ext cx="4069080" cy="822960"/>
          </a:xfrm>
          <a:prstGeom prst="roundRect">
            <a:avLst>
              <a:gd name="adj" fmla="val 8889"/>
            </a:avLst>
          </a:prstGeom>
          <a:solidFill>
            <a:srgbClr val="EEF2FB"/>
          </a:solidFill>
          <a:ln/>
        </p:spPr>
      </p:sp>
      <p:sp>
        <p:nvSpPr>
          <p:cNvPr id="13" name="Text 11"/>
          <p:cNvSpPr/>
          <p:nvPr/>
        </p:nvSpPr>
        <p:spPr>
          <a:xfrm>
            <a:off x="7818120" y="2441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Heat-Treat Furnaces  </a:t>
            </a:r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units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18120" y="27523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risk: Heating element aging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35240" y="3291840"/>
            <a:ext cx="4069080" cy="822960"/>
          </a:xfrm>
          <a:prstGeom prst="roundRect">
            <a:avLst>
              <a:gd name="adj" fmla="val 8889"/>
            </a:avLst>
          </a:prstGeom>
          <a:solidFill>
            <a:srgbClr val="EEF2FB"/>
          </a:solidFill>
          <a:ln/>
        </p:spPr>
      </p:sp>
      <p:sp>
        <p:nvSpPr>
          <p:cNvPr id="16" name="Text 14"/>
          <p:cNvSpPr/>
          <p:nvPr/>
        </p:nvSpPr>
        <p:spPr>
          <a:xfrm>
            <a:off x="7818120" y="3401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Presses  </a:t>
            </a:r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 units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18120" y="37124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risk: Hydraulic system leaks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709160"/>
            <a:ext cx="11277295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84632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rationale: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against LSTM, Transformer time-series models, and traditional threshold alerts, the LSTM + isolation forest ensemble achieves the highest F1 score (0.87) in small-sample failure scenarios, with edge inference latency under 50ms, meeting real-time production requirements.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 Architecture: Edge Capture -&gt; Cloud Model -&gt; Alert Loop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closed loop ensures alerts are traceable, actionable, and reviewable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69468" y="219456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4332" y="2194560"/>
            <a:ext cx="1764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Capture</a:t>
            </a:r>
            <a:endParaRPr lang="en-US" sz="1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Vibration/temp/current</a:t>
            </a:r>
            <a:endParaRPr lang="en-US" sz="1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10kHz sampling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43988" y="2788920"/>
            <a:ext cx="32004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64028" y="219456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18892" y="2194560"/>
            <a:ext cx="1764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</a:t>
            </a:r>
            <a:endParaRPr lang="en-US" sz="1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FFT spectrum</a:t>
            </a:r>
            <a:endParaRPr lang="en-US" sz="1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Envelope analysis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38548" y="2788920"/>
            <a:ext cx="32004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58588" y="219456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13452" y="2194560"/>
            <a:ext cx="1764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Model</a:t>
            </a:r>
            <a:endParaRPr lang="en-US" sz="1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+ isolation forest</a:t>
            </a:r>
            <a:endParaRPr lang="en-US" sz="1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baselines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33108" y="2788920"/>
            <a:ext cx="32004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53148" y="219456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08012" y="2194560"/>
            <a:ext cx="1764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 Alerting</a:t>
            </a:r>
            <a:endParaRPr lang="en-US" sz="1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Critical/major/watch</a:t>
            </a:r>
            <a:endParaRPr lang="en-US" sz="1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 thresholds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227668" y="2788920"/>
            <a:ext cx="32004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547708" y="219456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02572" y="2194560"/>
            <a:ext cx="1764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Loop</a:t>
            </a:r>
            <a:endParaRPr lang="en-US" sz="1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Auto-dispatch</a:t>
            </a:r>
            <a:endParaRPr lang="en-US" sz="1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feedback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484968" y="3383280"/>
            <a:ext cx="0" cy="457200"/>
          </a:xfrm>
          <a:prstGeom prst="line">
            <a:avLst/>
          </a:prstGeom>
          <a:noFill/>
          <a:ln w="15875">
            <a:solidFill>
              <a:srgbClr val="F2A93B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10484968" y="3840480"/>
            <a:ext cx="-8778240" cy="0"/>
          </a:xfrm>
          <a:prstGeom prst="line">
            <a:avLst/>
          </a:prstGeom>
          <a:noFill/>
          <a:ln w="15875">
            <a:solidFill>
              <a:srgbClr val="F2A93B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706728" y="3840480"/>
            <a:ext cx="0" cy="-457200"/>
          </a:xfrm>
          <a:prstGeom prst="line">
            <a:avLst/>
          </a:prstGeom>
          <a:noFill/>
          <a:ln w="15875">
            <a:solidFill>
              <a:srgbClr val="F2A93B"/>
            </a:solidFill>
            <a:prstDash val="dash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69468" y="3886200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feedback flows back -&gt; refines model baselines and alert thresholds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709160"/>
            <a:ext cx="11277295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84632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principles: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Three-tier alerts (critical/major/watch) avoid alert fatigue; 2) every resolution outcome (real fault vs. false alarm) feeds back into the model, continuously reducing false-positive rate; 3) the ticketing system integrates with the existing EAM system to avoid duplicate infrastructure.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 Expected Benefits: Before vs. After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downtime and maintenance cost decline; pilot-plant data extrapolated group-wide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39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371600"/>
          <a:ext cx="6675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178040" y="1371600"/>
            <a:ext cx="4526280" cy="1188720"/>
          </a:xfrm>
          <a:prstGeom prst="roundRect">
            <a:avLst>
              <a:gd name="adj" fmla="val 7692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60920" y="150876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downtime</a:t>
            </a:r>
            <a:endParaRPr lang="en-US" sz="3800" dirty="0"/>
          </a:p>
        </p:txBody>
      </p:sp>
      <p:sp>
        <p:nvSpPr>
          <p:cNvPr id="10" name="Shape 7"/>
          <p:cNvSpPr/>
          <p:nvPr/>
        </p:nvSpPr>
        <p:spPr>
          <a:xfrm>
            <a:off x="7178040" y="2743200"/>
            <a:ext cx="4526280" cy="1188720"/>
          </a:xfrm>
          <a:prstGeom prst="roundRect">
            <a:avLst>
              <a:gd name="adj" fmla="val 7692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60920" y="288036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maintenance cost</a:t>
            </a:r>
            <a:endParaRPr lang="en-US" sz="3800" dirty="0"/>
          </a:p>
        </p:txBody>
      </p:sp>
      <p:sp>
        <p:nvSpPr>
          <p:cNvPr id="12" name="Shape 9"/>
          <p:cNvSpPr/>
          <p:nvPr/>
        </p:nvSpPr>
        <p:spPr>
          <a:xfrm>
            <a:off x="7178040" y="4114800"/>
            <a:ext cx="4526280" cy="1188720"/>
          </a:xfrm>
          <a:prstGeom prst="roundRect">
            <a:avLst>
              <a:gd name="adj" fmla="val 7692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360920" y="425196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emergency repairs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457200" y="55778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scope: 62 CNC machining centers at Xuzhou HQ · Jan-Jun 2027 pilot data extrapolated · full coverage of 137 group-wide key assets by 2029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 · AI Vision Inspection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approach: industrial cameras + defect detection model + human review loop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area-scan cameras with ring lighting across casting, welding, and coating — the three highest-miss-rate processes — for 100% inspection coverage;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defect detection model uses an improved YOLO-family architecture to identify 7 defect types (cracks, porosity, weld beads, etc.) at &gt;=97% accuracy;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 flagged as "suspected defects" are automatically routed to a human review station, avoiding false-positive line stoppages;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outcomes (confirmed/overturned) continuously feed back into the training set, creating a flywheel that improves accuracy over time.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35240" y="1371600"/>
            <a:ext cx="4069080" cy="822960"/>
          </a:xfrm>
          <a:prstGeom prst="roundRect">
            <a:avLst>
              <a:gd name="adj" fmla="val 888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/>
          <p:nvPr/>
        </p:nvSpPr>
        <p:spPr>
          <a:xfrm>
            <a:off x="781812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818120" y="17373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 detected: Porosity/sand holes/cracks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818120" y="19476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inspection points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635240" y="2331720"/>
            <a:ext cx="4069080" cy="822960"/>
          </a:xfrm>
          <a:prstGeom prst="roundRect">
            <a:avLst>
              <a:gd name="adj" fmla="val 8889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/>
          <p:nvPr/>
        </p:nvSpPr>
        <p:spPr>
          <a:xfrm>
            <a:off x="781812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Welding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818120" y="2697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 detected: Weld beads/fusion gaps/undercut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18120" y="29077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inspection points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635240" y="3291840"/>
            <a:ext cx="4069080" cy="822960"/>
          </a:xfrm>
          <a:prstGeom prst="roundRect">
            <a:avLst>
              <a:gd name="adj" fmla="val 8889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/>
          <p:nvPr/>
        </p:nvSpPr>
        <p:spPr>
          <a:xfrm>
            <a:off x="7818120" y="3383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Coating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818120" y="36576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 detected: Sagging/orange peel/color mismatch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18120" y="38679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inspection points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4709160"/>
            <a:ext cx="11277295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84632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rationale: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to traditional rule-based machine vision, deep learning achieves 32 percentage points higher accuracy on complex-texture surfaces (raw castings); a "model pre-screen + human review" dual loop, rather than fully automatic judgment, avoids compliance exposure from high-risk missed defects.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 Process: Five-Step Vision Inspection Loop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traceable from image capture to quality record archiving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46608" y="22860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1472" y="2286000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Image Capture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cameras + ring light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coverage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666848" y="2971800"/>
            <a:ext cx="2743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41168" y="22860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96032" y="2286000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Model Pre-Screen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YOLO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&gt;=97%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61408" y="2971800"/>
            <a:ext cx="2743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35728" y="22860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90592" y="2286000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Route Suspected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&lt;0.9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Auto-routed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055968" y="2971800"/>
            <a:ext cx="2743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30288" y="22860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85152" y="2286000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Human Review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or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overturn at station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250528" y="2971800"/>
            <a:ext cx="2743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524848" y="22860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579712" y="2286000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Quality Archive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Feeds back to model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chain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095848" y="3657600"/>
            <a:ext cx="0" cy="502920"/>
          </a:xfrm>
          <a:prstGeom prst="line">
            <a:avLst/>
          </a:prstGeom>
          <a:noFill/>
          <a:ln w="1397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46608" y="42062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passes qualified units (confidence &gt;=0.9) -&gt; released directly to inventory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5029200"/>
            <a:ext cx="11277295" cy="109728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138928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design principle: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only pre-screens "suspected defects" and clears passing units; final defect determination stays with human review — raising efficiency without sacrificing quality accountability.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 Expected Benefits: Miss Rate &amp; Labor Cost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 rate 6.2% -&gt; 2.1%, QC headcount reduced 40%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675888" cy="1691640"/>
          </a:xfrm>
          <a:prstGeom prst="roundRect">
            <a:avLst>
              <a:gd name="adj" fmla="val 5405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554480"/>
            <a:ext cx="3310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6.2%-&gt;2.1%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QC miss rate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65%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4334256" y="1417320"/>
            <a:ext cx="3675888" cy="1691640"/>
          </a:xfrm>
          <a:prstGeom prst="roundRect">
            <a:avLst>
              <a:gd name="adj" fmla="val 5405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17136" y="1554480"/>
            <a:ext cx="3310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 headcount reduction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Reassigned to exception handling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8211312" y="1417320"/>
            <a:ext cx="3675888" cy="1691640"/>
          </a:xfrm>
          <a:prstGeom prst="roundRect">
            <a:avLst>
              <a:gd name="adj" fmla="val 5405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94192" y="1554480"/>
            <a:ext cx="3310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coverage on key processes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from ~30% sampling rate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 Rate by Process</a:t>
            </a:r>
            <a:endParaRPr lang="en-US" sz="14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57200" y="3749040"/>
          <a:ext cx="11277295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3 · Smart Scheduling &amp; Supply Chain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 + scheduling optimization moves from gut-call to algorithm-assisted decisions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line-level digital twin with real-time mapping of equipment status, WIP location, and capacity load;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forecasting module generates rolling 4-12 week forecasts from order history and industry cycle indicators;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optimization uses mixed-integer programming (MIP) plus heuristics to produce feasible plans in seconds;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Rush/change orders trigger incremental re-scheduling, cutting response time from 5.4 days to under 4 hours.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35240" y="1371600"/>
            <a:ext cx="4069080" cy="822960"/>
          </a:xfrm>
          <a:prstGeom prst="roundRect">
            <a:avLst>
              <a:gd name="adj" fmla="val 888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/>
          <p:nvPr/>
        </p:nvSpPr>
        <p:spPr>
          <a:xfrm>
            <a:off x="7818120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818120" y="17922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mapping of lines/equipment/WIP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35240" y="2331720"/>
            <a:ext cx="4069080" cy="822960"/>
          </a:xfrm>
          <a:prstGeom prst="roundRect">
            <a:avLst>
              <a:gd name="adj" fmla="val 8889"/>
            </a:avLst>
          </a:prstGeom>
          <a:solidFill>
            <a:srgbClr val="EEF2FB"/>
          </a:solidFill>
          <a:ln/>
        </p:spPr>
      </p:sp>
      <p:sp>
        <p:nvSpPr>
          <p:cNvPr id="13" name="Text 11"/>
          <p:cNvSpPr/>
          <p:nvPr/>
        </p:nvSpPr>
        <p:spPr>
          <a:xfrm>
            <a:off x="7818120" y="2441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Forecasting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818120" y="275234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4-12 week forecast, MAPE &lt;12%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35240" y="3291840"/>
            <a:ext cx="4069080" cy="822960"/>
          </a:xfrm>
          <a:prstGeom prst="roundRect">
            <a:avLst>
              <a:gd name="adj" fmla="val 8889"/>
            </a:avLst>
          </a:prstGeom>
          <a:solidFill>
            <a:srgbClr val="EEF2FB"/>
          </a:solidFill>
          <a:ln/>
        </p:spPr>
      </p:sp>
      <p:sp>
        <p:nvSpPr>
          <p:cNvPr id="16" name="Text 14"/>
          <p:cNvSpPr/>
          <p:nvPr/>
        </p:nvSpPr>
        <p:spPr>
          <a:xfrm>
            <a:off x="7818120" y="3401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Optimization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818120" y="37124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MIP + heuristics, plans generated in seconds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709160"/>
            <a:ext cx="11277295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84632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rationale: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to pure rule-based scheduling and reinforcement learning, the MIP + heuristics approach best balances explainability, deployment time, and performance, avoiding RL's slow convergence in sparse-order scenarios.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3 Architecture: Forecast -&gt; Solver -&gt; Scheduling 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three-tier architecture closing the loop from forecast to execution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83768" y="22860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8632" y="2286000"/>
            <a:ext cx="2221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Forecast Engine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history + cycle data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forecast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15488" y="2971800"/>
            <a:ext cx="3657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81248" y="22860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36112" y="2286000"/>
            <a:ext cx="2221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Solver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Capacity/process/material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MIP modeling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12968" y="2971800"/>
            <a:ext cx="3657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78728" y="22860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33592" y="2286000"/>
            <a:ext cx="2221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Board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scheduling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fine-tune &amp; confirm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10448" y="2971800"/>
            <a:ext cx="3657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976208" y="22860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31072" y="2286000"/>
            <a:ext cx="2221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&amp; Feedback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dispatch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output feedback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142068" y="3657600"/>
            <a:ext cx="0" cy="457200"/>
          </a:xfrm>
          <a:prstGeom prst="line">
            <a:avLst/>
          </a:prstGeom>
          <a:noFill/>
          <a:ln w="15875">
            <a:solidFill>
              <a:srgbClr val="F2A93B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0142068" y="4114800"/>
            <a:ext cx="-8092440" cy="0"/>
          </a:xfrm>
          <a:prstGeom prst="line">
            <a:avLst/>
          </a:prstGeom>
          <a:noFill/>
          <a:ln w="15875">
            <a:solidFill>
              <a:srgbClr val="F2A93B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2049628" y="4114800"/>
            <a:ext cx="0" cy="-457200"/>
          </a:xfrm>
          <a:prstGeom prst="line">
            <a:avLst/>
          </a:prstGeom>
          <a:noFill/>
          <a:ln w="15875">
            <a:solidFill>
              <a:srgbClr val="F2A93B"/>
            </a:solidFill>
            <a:prstDash val="dash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83768" y="41605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Output/delivery variance flows back -&gt; recalibrates demand forecast parameters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709160"/>
            <a:ext cx="11277295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84632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principle: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scheduling board keeps a manual fine-tune-and-confirm step; algorithm output is a "recommended plan," not a mandate — balancing frontline scheduling experience with algorithmic efficiency and reducing frontline resistance.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3 Expected Benefits: Delivery &amp; Inventory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cycle 28 days -&gt; 20 days, WIP inventory down 18%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675888" cy="1691640"/>
          </a:xfrm>
          <a:prstGeom prst="roundRect">
            <a:avLst>
              <a:gd name="adj" fmla="val 5405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554480"/>
            <a:ext cx="3310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28-&gt;20 days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delivery cycle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shortened 28%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4334256" y="1417320"/>
            <a:ext cx="3675888" cy="1691640"/>
          </a:xfrm>
          <a:prstGeom prst="roundRect">
            <a:avLst>
              <a:gd name="adj" fmla="val 5405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17136" y="1554480"/>
            <a:ext cx="3310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WIP inventory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8211312" y="1417320"/>
            <a:ext cx="3675888" cy="1691640"/>
          </a:xfrm>
          <a:prstGeom prst="roundRect">
            <a:avLst>
              <a:gd name="adj" fmla="val 5405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94192" y="1554480"/>
            <a:ext cx="3310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5.4d-&gt;4hrs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rush-order response time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Cycle Breakdown (days)</a:t>
            </a:r>
            <a:endParaRPr lang="en-US" sz="14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57200" y="3749040"/>
          <a:ext cx="11277295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4 · Knowledge Management &amp; AI Copilot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knowledge base + RAG turns veteran expertise into a searchable asset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Systematically capture process documents, equipment manuals, historical incident records, and interviews with senior engineers into an enterprise knowledge base;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RAG (retrieval-augmented generation) architecture to avoid general-purpose LLM hallucination and ensure answers are grounded in source material;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a natural-language Q&amp;A interface for frontline engineers, supporting both text and voice input;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Copilot in new-hire onboarding to shorten the training cycle for experience-dependent roles.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35240" y="1371600"/>
            <a:ext cx="4069080" cy="822960"/>
          </a:xfrm>
          <a:prstGeom prst="roundRect">
            <a:avLst>
              <a:gd name="adj" fmla="val 888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/>
          <p:nvPr/>
        </p:nvSpPr>
        <p:spPr>
          <a:xfrm>
            <a:off x="7818120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Source Coverage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18120" y="17922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12,000+ process documents, 8 years of incident records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35240" y="2331720"/>
            <a:ext cx="4069080" cy="822960"/>
          </a:xfrm>
          <a:prstGeom prst="roundRect">
            <a:avLst>
              <a:gd name="adj" fmla="val 8889"/>
            </a:avLst>
          </a:prstGeom>
          <a:solidFill>
            <a:srgbClr val="EEF2FB"/>
          </a:solidFill>
          <a:ln/>
        </p:spPr>
      </p:sp>
      <p:sp>
        <p:nvSpPr>
          <p:cNvPr id="13" name="Text 11"/>
          <p:cNvSpPr/>
          <p:nvPr/>
        </p:nvSpPr>
        <p:spPr>
          <a:xfrm>
            <a:off x="7818120" y="2441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Accuracy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18120" y="275234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 accuracy on internal test set, with cited sources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35240" y="3291840"/>
            <a:ext cx="4069080" cy="822960"/>
          </a:xfrm>
          <a:prstGeom prst="roundRect">
            <a:avLst>
              <a:gd name="adj" fmla="val 8889"/>
            </a:avLst>
          </a:prstGeom>
          <a:solidFill>
            <a:srgbClr val="EEF2FB"/>
          </a:solidFill>
          <a:ln/>
        </p:spPr>
      </p:sp>
      <p:sp>
        <p:nvSpPr>
          <p:cNvPr id="16" name="Text 14"/>
          <p:cNvSpPr/>
          <p:nvPr/>
        </p:nvSpPr>
        <p:spPr>
          <a:xfrm>
            <a:off x="7818120" y="3401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Covered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18120" y="37124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Process, equipment, and quality engineers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709160"/>
            <a:ext cx="11277295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84632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rationale: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to fine-tuning a dedicated model, RAG has lower maintenance cost when knowledge updates frequently (no retraining required), and answers can be traced back to source documents — meeting the accountability requirements of industrial settings.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4 Architecture: RAG (Retrieval-Augmented Generation)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Sources -&gt; Vector Store -&gt; LLM -&gt; Engineer Interface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83768" y="22860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8632" y="2286000"/>
            <a:ext cx="2221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Multi-Source Ingestion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docs/manuals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records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15488" y="2971800"/>
            <a:ext cx="3657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81248" y="22860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36112" y="2286000"/>
            <a:ext cx="2221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Vectorized Knowledge Base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chunking + embedding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search index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12968" y="2971800"/>
            <a:ext cx="3657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78728" y="22860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33592" y="2286000"/>
            <a:ext cx="2221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Generation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+ prompt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Cited answer generation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10448" y="2971800"/>
            <a:ext cx="3657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976208" y="22860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31072" y="2286000"/>
            <a:ext cx="2221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Interface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Text/voice Q&amp;A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document display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142068" y="3657600"/>
            <a:ext cx="0" cy="457200"/>
          </a:xfrm>
          <a:prstGeom prst="line">
            <a:avLst/>
          </a:prstGeom>
          <a:noFill/>
          <a:ln w="15875">
            <a:solidFill>
              <a:srgbClr val="F2A93B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0142068" y="4114800"/>
            <a:ext cx="-8092440" cy="0"/>
          </a:xfrm>
          <a:prstGeom prst="line">
            <a:avLst/>
          </a:prstGeom>
          <a:noFill/>
          <a:ln w="15875">
            <a:solidFill>
              <a:srgbClr val="F2A93B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2049628" y="4114800"/>
            <a:ext cx="0" cy="-457200"/>
          </a:xfrm>
          <a:prstGeom prst="line">
            <a:avLst/>
          </a:prstGeom>
          <a:noFill/>
          <a:ln w="15875">
            <a:solidFill>
              <a:srgbClr val="F2A93B"/>
            </a:solidFill>
            <a:prstDash val="dash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83768" y="41605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feedback (useful/not useful) flows back -&gt; refines chunking and retrieval strategy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709160"/>
            <a:ext cx="11277295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84632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principle: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knowledge base is deployed privately, never uploaded to public cloud, to meet process confidentiality requirements; every generated answer must include a source citation link to eliminate ungrounded hallucination, letting engineers verify against the original document in one click.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4 Expected Benefits: Onboarding &amp; Query Efficiency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New-hire onboarding time down 50%, process query efficiency up 35%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675888" cy="1783080"/>
          </a:xfrm>
          <a:prstGeom prst="roundRect">
            <a:avLst>
              <a:gd name="adj" fmla="val 5128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600200"/>
            <a:ext cx="33101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new-hire onboarding time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months -&gt; 3 months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4334256" y="1463040"/>
            <a:ext cx="3675888" cy="1783080"/>
          </a:xfrm>
          <a:prstGeom prst="roundRect">
            <a:avLst>
              <a:gd name="adj" fmla="val 5128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17136" y="1600200"/>
            <a:ext cx="33101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in process query efficiency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response time 22 min -&gt; 14 min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8211312" y="1463040"/>
            <a:ext cx="3675888" cy="1783080"/>
          </a:xfrm>
          <a:prstGeom prst="roundRect">
            <a:avLst>
              <a:gd name="adj" fmla="val 5128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94192" y="1600200"/>
            <a:ext cx="33101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 Q&amp;A accuracy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test set, with cited sources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New-Hire Onboarding Time (months)</a:t>
            </a:r>
            <a:endParaRPr lang="en-US" sz="14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57200" y="3886200"/>
          <a:ext cx="11277295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Platform Build Plan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Three-layer capability build — capture, governance, service — underpinning the four pillars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39</a:t>
            </a:r>
            <a:endParaRPr lang="en-US" sz="10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729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754880"/>
                <a:gridCol w="1828800"/>
                <a:gridCol w="268193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 Layer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Tasks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Timeline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Acceptance Criteria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Capture Layer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Equipment connectivity retrofit, sensor installation, interface standardization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0-9 months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equipment connectivity &gt;=65%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Governance Layer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Master data standards, data quality rules, metadata management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3-12 months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data quality pass rate &gt;=95%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Service Layer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Unified data lake, feature engineering platform, API gateway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6-15 months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Sub-second data access for all four pillars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703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Capability Build-Up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569568" y="411480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624432" y="4114800"/>
            <a:ext cx="2633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Capture Layer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Connectivity/sensors/interfaces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12768" y="4640580"/>
            <a:ext cx="41148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724248" y="411480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79112" y="4114800"/>
            <a:ext cx="2633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Layer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Standards/quality/metadata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467448" y="4640580"/>
            <a:ext cx="41148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878928" y="411480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933792" y="4114800"/>
            <a:ext cx="2633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Service Layer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Lake/features/API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Organizational Capability Build-Out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PMO-led coordination plus a three-tier talent pipeline to drive execution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77295" cy="777240"/>
          </a:xfrm>
          <a:prstGeom prst="roundRect">
            <a:avLst>
              <a:gd name="adj" fmla="val 1058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41732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Transformation Office (PMO) 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directly to the Board; coordinates progress, budget, and cross-functional alignment for all four pillars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95848" y="2194560"/>
            <a:ext cx="0" cy="27432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7200" y="2606040"/>
            <a:ext cx="367588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78892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Engineering Team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12-&gt;28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3310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capture, governance, platform development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34256" y="2606040"/>
            <a:ext cx="367588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17136" y="278892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Engineering Team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17136" y="320040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6-&gt;18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17136" y="3749040"/>
            <a:ext cx="3310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 / vision / optimization / LLM algorithms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11312" y="2606040"/>
            <a:ext cx="367588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94192" y="278892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Team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94192" y="320040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8-&gt;20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94192" y="3749040"/>
            <a:ext cx="3310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On-site liaison, requirements translation, adoption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5029200"/>
            <a:ext cx="11277295" cy="109728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138928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Staffing strategy: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roles (data architects, algorithm leads) hired externally via recruiters; business partners are reskilled from internal production/quality talent, preserving process know-how while adding digital capability.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Management Plan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stages: Awareness -&gt; Pilot Validation -&gt; Scaled Rollout -&gt; Institutionalization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645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0-3 months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2331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board/leadership consensus, train frontline teams on AI literacy, launch a transformation incentive program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82112" y="3566160"/>
            <a:ext cx="146304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355848" y="146304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EEF2FB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38728" y="1645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538728" y="2240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Validation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38728" y="2606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3-9 months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38728" y="2971800"/>
            <a:ext cx="2331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predictive maintenance at a single pilot plant; let data speak and build a benchmark case to overcome skepticism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80760" y="3566160"/>
            <a:ext cx="146304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54496" y="146304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37376" y="1645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437376" y="2240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Rollout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37376" y="2606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9-24 months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37376" y="2971800"/>
            <a:ext cx="2331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Replicate all four pillars across plants, adjust KPIs accordingly, and update frontline operating procedures in step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79408" y="3566160"/>
            <a:ext cx="146304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153144" y="146304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EEF2FB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336024" y="1645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336024" y="2240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Institutionalization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336024" y="2606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24-36 months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36024" y="2971800"/>
            <a:ext cx="2331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Codify transformation capability into standard operating procedures (SOPs); continuous knowledge-base/model iteration becomes routine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Roadmap · Phase 1 (Months 0-6)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plant + single-point predictive maintenance validation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60320" y="1435608"/>
            <a:ext cx="15290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89349" y="1435608"/>
            <a:ext cx="15290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18378" y="1435608"/>
            <a:ext cx="15290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47408" y="1435608"/>
            <a:ext cx="15290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76437" y="1435608"/>
            <a:ext cx="15290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05466" y="1435608"/>
            <a:ext cx="15290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0" y="1691640"/>
            <a:ext cx="0" cy="301752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89349" y="1691640"/>
            <a:ext cx="0" cy="301752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18378" y="1691640"/>
            <a:ext cx="0" cy="301752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47408" y="1691640"/>
            <a:ext cx="0" cy="301752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76437" y="1691640"/>
            <a:ext cx="0" cy="301752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05466" y="1691640"/>
            <a:ext cx="0" cy="301752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34495" y="1691640"/>
            <a:ext cx="0" cy="301752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Stand-Up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0" y="2194560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87752" y="1812341"/>
            <a:ext cx="1474165" cy="261518"/>
          </a:xfrm>
          <a:prstGeom prst="roundRect">
            <a:avLst>
              <a:gd name="adj" fmla="val 13986"/>
            </a:avLst>
          </a:prstGeom>
          <a:solidFill>
            <a:srgbClr val="F2A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2560320" y="2194560"/>
            <a:ext cx="9174175" cy="502920"/>
          </a:xfrm>
          <a:prstGeom prst="rect">
            <a:avLst/>
          </a:prstGeom>
          <a:solidFill>
            <a:srgbClr val="F7F9FD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194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Plant Selected (Xuzhou)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60320" y="2697480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87752" y="2315261"/>
            <a:ext cx="1474165" cy="261518"/>
          </a:xfrm>
          <a:prstGeom prst="roundRect">
            <a:avLst>
              <a:gd name="adj" fmla="val 13986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697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Install &amp; Connect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560320" y="3200400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6781" y="2818181"/>
            <a:ext cx="3003194" cy="261518"/>
          </a:xfrm>
          <a:prstGeom prst="roundRect">
            <a:avLst>
              <a:gd name="adj" fmla="val 13986"/>
            </a:avLst>
          </a:prstGeom>
          <a:solidFill>
            <a:srgbClr val="1E2761"/>
          </a:solidFill>
          <a:ln/>
        </p:spPr>
      </p:sp>
      <p:sp>
        <p:nvSpPr>
          <p:cNvPr id="30" name="Shape 28"/>
          <p:cNvSpPr/>
          <p:nvPr/>
        </p:nvSpPr>
        <p:spPr>
          <a:xfrm>
            <a:off x="2560320" y="3200400"/>
            <a:ext cx="9174175" cy="502920"/>
          </a:xfrm>
          <a:prstGeom prst="rect">
            <a:avLst/>
          </a:prstGeom>
          <a:solidFill>
            <a:srgbClr val="F7F9FD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200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 Model Dev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560320" y="3703320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81296" y="3321101"/>
            <a:ext cx="3767709" cy="261518"/>
          </a:xfrm>
          <a:prstGeom prst="roundRect">
            <a:avLst>
              <a:gd name="adj" fmla="val 13986"/>
            </a:avLst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703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Ticketing Integration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560320" y="4206240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74840" y="3824021"/>
            <a:ext cx="2238680" cy="261518"/>
          </a:xfrm>
          <a:prstGeom prst="roundRect">
            <a:avLst>
              <a:gd name="adj" fmla="val 13986"/>
            </a:avLst>
          </a:prstGeom>
          <a:solidFill>
            <a:srgbClr val="1E2761"/>
          </a:solidFill>
          <a:ln/>
        </p:spPr>
      </p:sp>
      <p:sp>
        <p:nvSpPr>
          <p:cNvPr id="37" name="Shape 35"/>
          <p:cNvSpPr/>
          <p:nvPr/>
        </p:nvSpPr>
        <p:spPr>
          <a:xfrm>
            <a:off x="2560320" y="4206240"/>
            <a:ext cx="9174175" cy="502920"/>
          </a:xfrm>
          <a:prstGeom prst="rect">
            <a:avLst/>
          </a:prstGeom>
          <a:solidFill>
            <a:srgbClr val="F7F9FD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206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Run &amp; Validation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560320" y="4709160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468383" y="4326941"/>
            <a:ext cx="2238680" cy="261518"/>
          </a:xfrm>
          <a:prstGeom prst="roundRect">
            <a:avLst>
              <a:gd name="adj" fmla="val 13986"/>
            </a:avLst>
          </a:prstGeom>
          <a:solidFill>
            <a:srgbClr val="F2A93B"/>
          </a:solidFill>
          <a:ln/>
        </p:spPr>
      </p:sp>
      <p:sp>
        <p:nvSpPr>
          <p:cNvPr id="41" name="Text 39"/>
          <p:cNvSpPr/>
          <p:nvPr/>
        </p:nvSpPr>
        <p:spPr>
          <a:xfrm>
            <a:off x="9440951" y="4326941"/>
            <a:ext cx="2293544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Sign-off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560320" y="1691640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5029200"/>
            <a:ext cx="11277295" cy="109728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5138928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acceptance criteria: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connectivity for 62 CNC machining centers at the Xuzhou pilot plant, predictive maintenance model live, unplanned downtime down &gt;=25% MoM — providing the evidence base for full Phase 2 rollout.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Roadmap · Phase 2 (Months 6-18)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rollout of vision inspection and scheduling across all five production bases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60320" y="1435608"/>
            <a:ext cx="1310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70916" y="1435608"/>
            <a:ext cx="1310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81513" y="1435608"/>
            <a:ext cx="1310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92109" y="1435608"/>
            <a:ext cx="1310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02706" y="1435608"/>
            <a:ext cx="1310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13302" y="1435608"/>
            <a:ext cx="1310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423899" y="1435608"/>
            <a:ext cx="1310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M18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0" y="1691640"/>
            <a:ext cx="0" cy="329184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0916" y="1691640"/>
            <a:ext cx="0" cy="329184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81513" y="1691640"/>
            <a:ext cx="0" cy="329184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109" y="1691640"/>
            <a:ext cx="0" cy="329184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02706" y="1691640"/>
            <a:ext cx="0" cy="329184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13302" y="1691640"/>
            <a:ext cx="0" cy="329184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23899" y="1691640"/>
            <a:ext cx="0" cy="329184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734495" y="1691640"/>
            <a:ext cx="0" cy="329184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1691640"/>
            <a:ext cx="2011680" cy="47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Inspection Hardware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60320" y="2161903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87752" y="1804503"/>
            <a:ext cx="2566329" cy="244537"/>
          </a:xfrm>
          <a:prstGeom prst="roundRect">
            <a:avLst>
              <a:gd name="adj" fmla="val 14957"/>
            </a:avLst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2560320" y="2161903"/>
            <a:ext cx="9174175" cy="470263"/>
          </a:xfrm>
          <a:prstGeom prst="rect">
            <a:avLst/>
          </a:prstGeom>
          <a:solidFill>
            <a:srgbClr val="F7F9FD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161903"/>
            <a:ext cx="2011680" cy="47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Model Training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60320" y="2632166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98348" y="2274766"/>
            <a:ext cx="2566329" cy="244537"/>
          </a:xfrm>
          <a:prstGeom prst="roundRect">
            <a:avLst>
              <a:gd name="adj" fmla="val 14957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2632166"/>
            <a:ext cx="2011680" cy="47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 Rollout to 5 Plants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60320" y="3102429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19541" y="2745029"/>
            <a:ext cx="3221627" cy="244537"/>
          </a:xfrm>
          <a:prstGeom prst="roundRect">
            <a:avLst>
              <a:gd name="adj" fmla="val 14957"/>
            </a:avLst>
          </a:prstGeom>
          <a:solidFill>
            <a:srgbClr val="1E2761"/>
          </a:solidFill>
          <a:ln/>
        </p:spPr>
      </p:sp>
      <p:sp>
        <p:nvSpPr>
          <p:cNvPr id="32" name="Shape 30"/>
          <p:cNvSpPr/>
          <p:nvPr/>
        </p:nvSpPr>
        <p:spPr>
          <a:xfrm>
            <a:off x="2560320" y="3102429"/>
            <a:ext cx="9174175" cy="470263"/>
          </a:xfrm>
          <a:prstGeom prst="rect">
            <a:avLst/>
          </a:prstGeom>
          <a:solidFill>
            <a:srgbClr val="F7F9FD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102429"/>
            <a:ext cx="2011680" cy="47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 Modeling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560320" y="3572691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43050" y="3215292"/>
            <a:ext cx="3221627" cy="244537"/>
          </a:xfrm>
          <a:prstGeom prst="roundRect">
            <a:avLst>
              <a:gd name="adj" fmla="val 14957"/>
            </a:avLst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572691"/>
            <a:ext cx="2011680" cy="47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Algorithm Live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560320" y="4042954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19541" y="3685555"/>
            <a:ext cx="2566329" cy="244537"/>
          </a:xfrm>
          <a:prstGeom prst="roundRect">
            <a:avLst>
              <a:gd name="adj" fmla="val 14957"/>
            </a:avLst>
          </a:prstGeom>
          <a:solidFill>
            <a:srgbClr val="1E2761"/>
          </a:solidFill>
          <a:ln/>
        </p:spPr>
      </p:sp>
      <p:sp>
        <p:nvSpPr>
          <p:cNvPr id="39" name="Shape 37"/>
          <p:cNvSpPr/>
          <p:nvPr/>
        </p:nvSpPr>
        <p:spPr>
          <a:xfrm>
            <a:off x="2560320" y="4042954"/>
            <a:ext cx="9174175" cy="470263"/>
          </a:xfrm>
          <a:prstGeom prst="rect">
            <a:avLst/>
          </a:prstGeom>
          <a:solidFill>
            <a:srgbClr val="F7F9FD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042954"/>
            <a:ext cx="2011680" cy="47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Group Rollout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560320" y="4513217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40734" y="4155817"/>
            <a:ext cx="1911031" cy="244537"/>
          </a:xfrm>
          <a:prstGeom prst="roundRect">
            <a:avLst>
              <a:gd name="adj" fmla="val 14957"/>
            </a:avLst>
          </a:prstGeom>
          <a:solidFill>
            <a:srgbClr val="F2A93B"/>
          </a:solidFill>
          <a:ln/>
        </p:spPr>
      </p:sp>
      <p:sp>
        <p:nvSpPr>
          <p:cNvPr id="43" name="Text 41"/>
          <p:cNvSpPr/>
          <p:nvPr/>
        </p:nvSpPr>
        <p:spPr>
          <a:xfrm>
            <a:off x="9113302" y="4155817"/>
            <a:ext cx="1965895" cy="244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7200" y="4513217"/>
            <a:ext cx="2011680" cy="47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Maint. Replication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560320" y="4983480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87752" y="4626080"/>
            <a:ext cx="3876925" cy="244537"/>
          </a:xfrm>
          <a:prstGeom prst="roundRect">
            <a:avLst>
              <a:gd name="adj" fmla="val 14957"/>
            </a:avLst>
          </a:prstGeom>
          <a:solidFill>
            <a:srgbClr val="1E2761"/>
          </a:solidFill>
          <a:ln/>
        </p:spPr>
      </p:sp>
      <p:sp>
        <p:nvSpPr>
          <p:cNvPr id="47" name="Shape 45"/>
          <p:cNvSpPr/>
          <p:nvPr/>
        </p:nvSpPr>
        <p:spPr>
          <a:xfrm>
            <a:off x="2560320" y="1691640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5257800"/>
            <a:ext cx="11277295" cy="9144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/>
        </p:spPr>
      </p:sp>
      <p:sp>
        <p:nvSpPr>
          <p:cNvPr id="49" name="Text 47"/>
          <p:cNvSpPr/>
          <p:nvPr/>
        </p:nvSpPr>
        <p:spPr>
          <a:xfrm>
            <a:off x="640080" y="53675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acceptance criteria: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inspection covers the three highest-miss-rate processes at all five bases; the scheduling optimization system goes live and takes over daily scheduling decisions; delivery cycle shortens by &gt;=15% versus baseline.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Roadmap · Phase 3 (Months 18-36)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Full-fleet replication + knowledge platform institutionalization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60320" y="1435608"/>
            <a:ext cx="1310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70916" y="1435608"/>
            <a:ext cx="1310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81513" y="1435608"/>
            <a:ext cx="1310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92109" y="1435608"/>
            <a:ext cx="1310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M27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02706" y="1435608"/>
            <a:ext cx="1310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13302" y="1435608"/>
            <a:ext cx="1310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423899" y="1435608"/>
            <a:ext cx="1310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0" y="1691640"/>
            <a:ext cx="0" cy="301752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0916" y="1691640"/>
            <a:ext cx="0" cy="301752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81513" y="1691640"/>
            <a:ext cx="0" cy="301752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109" y="1691640"/>
            <a:ext cx="0" cy="301752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02706" y="1691640"/>
            <a:ext cx="0" cy="301752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13302" y="1691640"/>
            <a:ext cx="0" cy="301752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23899" y="1691640"/>
            <a:ext cx="0" cy="301752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734495" y="1691640"/>
            <a:ext cx="0" cy="301752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Knowledge Base Build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60320" y="2194560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87752" y="1812341"/>
            <a:ext cx="3221627" cy="261518"/>
          </a:xfrm>
          <a:prstGeom prst="roundRect">
            <a:avLst>
              <a:gd name="adj" fmla="val 13986"/>
            </a:avLst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2560320" y="2194560"/>
            <a:ext cx="9174175" cy="502920"/>
          </a:xfrm>
          <a:prstGeom prst="rect">
            <a:avLst/>
          </a:prstGeom>
          <a:solidFill>
            <a:srgbClr val="F7F9FD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194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Copilot Launch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60320" y="2697480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08945" y="2315261"/>
            <a:ext cx="2566329" cy="261518"/>
          </a:xfrm>
          <a:prstGeom prst="roundRect">
            <a:avLst>
              <a:gd name="adj" fmla="val 13986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2697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Full Rollout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60320" y="3200400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30138" y="2818181"/>
            <a:ext cx="2566329" cy="261518"/>
          </a:xfrm>
          <a:prstGeom prst="roundRect">
            <a:avLst>
              <a:gd name="adj" fmla="val 13986"/>
            </a:avLst>
          </a:prstGeom>
          <a:solidFill>
            <a:srgbClr val="1E2761"/>
          </a:solidFill>
          <a:ln/>
        </p:spPr>
      </p:sp>
      <p:sp>
        <p:nvSpPr>
          <p:cNvPr id="32" name="Shape 30"/>
          <p:cNvSpPr/>
          <p:nvPr/>
        </p:nvSpPr>
        <p:spPr>
          <a:xfrm>
            <a:off x="2560320" y="3200400"/>
            <a:ext cx="9174175" cy="502920"/>
          </a:xfrm>
          <a:prstGeom prst="rect">
            <a:avLst/>
          </a:prstGeom>
          <a:solidFill>
            <a:srgbClr val="F7F9FD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200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Four-Pillar Review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560320" y="3703320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98348" y="3321101"/>
            <a:ext cx="1255732" cy="261518"/>
          </a:xfrm>
          <a:prstGeom prst="roundRect">
            <a:avLst>
              <a:gd name="adj" fmla="val 13986"/>
            </a:avLst>
          </a:prstGeom>
          <a:solidFill>
            <a:srgbClr val="F2A93B"/>
          </a:solidFill>
          <a:ln/>
        </p:spPr>
      </p:sp>
      <p:sp>
        <p:nvSpPr>
          <p:cNvPr id="36" name="Text 34"/>
          <p:cNvSpPr/>
          <p:nvPr/>
        </p:nvSpPr>
        <p:spPr>
          <a:xfrm>
            <a:off x="3870916" y="3321101"/>
            <a:ext cx="1310596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0" y="3703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Group-Wide Benchmarking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560320" y="4206240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64243" y="3824021"/>
            <a:ext cx="3221627" cy="261518"/>
          </a:xfrm>
          <a:prstGeom prst="roundRect">
            <a:avLst>
              <a:gd name="adj" fmla="val 13986"/>
            </a:avLst>
          </a:prstGeom>
          <a:solidFill>
            <a:srgbClr val="1E2761"/>
          </a:solidFill>
          <a:ln/>
        </p:spPr>
      </p:sp>
      <p:sp>
        <p:nvSpPr>
          <p:cNvPr id="40" name="Shape 38"/>
          <p:cNvSpPr/>
          <p:nvPr/>
        </p:nvSpPr>
        <p:spPr>
          <a:xfrm>
            <a:off x="2560320" y="4206240"/>
            <a:ext cx="9174175" cy="502920"/>
          </a:xfrm>
          <a:prstGeom prst="rect">
            <a:avLst/>
          </a:prstGeom>
          <a:solidFill>
            <a:srgbClr val="F7F9FD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206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Institutionalization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560320" y="4709160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40734" y="4326941"/>
            <a:ext cx="2566329" cy="261518"/>
          </a:xfrm>
          <a:prstGeom prst="roundRect">
            <a:avLst>
              <a:gd name="adj" fmla="val 13986"/>
            </a:avLst>
          </a:prstGeom>
          <a:solidFill>
            <a:srgbClr val="F2A93B"/>
          </a:solidFill>
          <a:ln/>
        </p:spPr>
      </p:sp>
      <p:sp>
        <p:nvSpPr>
          <p:cNvPr id="44" name="Text 42"/>
          <p:cNvSpPr/>
          <p:nvPr/>
        </p:nvSpPr>
        <p:spPr>
          <a:xfrm>
            <a:off x="9113302" y="4326941"/>
            <a:ext cx="2621193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Lock-in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560320" y="1691640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5029200"/>
            <a:ext cx="11277295" cy="109728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" y="5138928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acceptance criteria: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strategic pillars run stably across all five production bases; transformation capability is codified into standard operating procedures, forming a self-iterating mechanism independent of external consultants; three-year cumulative benefits meet this proposal's North Star goal.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90 Days Action Plan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13-week execution checklist to ground the first step of transformation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67588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1609344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60934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W1-2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2011680"/>
            <a:ext cx="3346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&amp; Mandate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" y="2359152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approves the proposal, PMO formally stood up, department leads assigned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34256" y="1463040"/>
            <a:ext cx="367588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98848" y="1609344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498848" y="160934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W3-4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98848" y="2011680"/>
            <a:ext cx="3346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Plant Confirmed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2359152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survey of Xuzhou HQ site, list of 62 key assets finalized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11312" y="1463040"/>
            <a:ext cx="367588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75904" y="1609344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375904" y="160934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W5-6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75904" y="2011680"/>
            <a:ext cx="3346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Selection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75904" y="2359152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 and select sensor / edge gateway / algorithm platform vendors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081528"/>
            <a:ext cx="367588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" y="3227832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322783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W7-9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3630168"/>
            <a:ext cx="3346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Deployment Begins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" y="3977640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installation and connectivity testing, security assessment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34256" y="3081528"/>
            <a:ext cx="367588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98848" y="3227832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4498848" y="322783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W10-11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98848" y="3630168"/>
            <a:ext cx="3346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Baseline Build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498848" y="3977640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Cleanse historical failure data, build model training datasets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211312" y="3081528"/>
            <a:ext cx="367588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75904" y="3227832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8375904" y="322783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W12-13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375904" y="3630168"/>
            <a:ext cx="3346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Monthly Review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375904" y="3977640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progress to the Board, lock remaining Phase 1 milestones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Estimate &amp; ROI Model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three-year investment RMB 185M, ROI payback in 2.3 years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39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371600"/>
          <a:ext cx="66751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178040" y="1371600"/>
            <a:ext cx="4526280" cy="1783080"/>
          </a:xfrm>
          <a:prstGeom prst="roundRect">
            <a:avLst>
              <a:gd name="adj" fmla="val 5128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60920" y="1508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RMB 185M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three-year investment</a:t>
            </a:r>
            <a:endParaRPr lang="en-US" sz="3800" dirty="0"/>
          </a:p>
        </p:txBody>
      </p:sp>
      <p:sp>
        <p:nvSpPr>
          <p:cNvPr id="10" name="Shape 7"/>
          <p:cNvSpPr/>
          <p:nvPr/>
        </p:nvSpPr>
        <p:spPr>
          <a:xfrm>
            <a:off x="7178040" y="3337560"/>
            <a:ext cx="4526280" cy="1783080"/>
          </a:xfrm>
          <a:prstGeom prst="roundRect">
            <a:avLst>
              <a:gd name="adj" fmla="val 5128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60920" y="34747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 yrs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payback period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457200" y="5394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Breakdown (RMB K)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568756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&amp; Sensors 6,200 · Software &amp; Algorithm Platform 5,400 · Data Platform 3,100 · Org &amp; Talent 2,600 · Change Mgmt &amp; Training 1,200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Matrix &amp; Mitigation Plans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risk categories, tiered by severity, with clear owners and countermeasures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39</a:t>
            </a:r>
            <a:endParaRPr lang="en-US" sz="10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729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4206240"/>
                <a:gridCol w="423641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Category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Manifestation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 Plan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Quality Risk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Missing/inconsistent historical data undermines model training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3-month data governance sprint upfront; stand up a data quality dashboard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Organizational Resistance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Frontline staff fear AI will replace jobs, slowing adoption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Reskilling + performance incentives; pilot success stories to build confidence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 Selection Risk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Algorithm underperforms, or vendor delivery slips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Retain in-house capability for critical modules; staged vendor acceptance gates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&amp; Compliance Risk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Equipment connectivity expands the OT security attack surface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Segmented deployment, critical data stays on-premises, regular penetration testing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166360"/>
            <a:ext cx="11277295" cy="960120"/>
          </a:xfrm>
          <a:prstGeom prst="roundRect">
            <a:avLst>
              <a:gd name="adj" fmla="val 7619"/>
            </a:avLst>
          </a:prstGeom>
          <a:solidFill>
            <a:srgbClr val="EEF2FB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527608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highlight: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"Data Quality Risk" and "Organizational Resistance" carry the highest severity and directly determine whether the four pillars deliver on time — we recommend dedicating resources to resolve them in Phase 1 to avoid slowing later stages.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Mechanism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Steering committee oversight, with biweekly working sessions and quarterly Board reporting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77295" cy="1005840"/>
          </a:xfrm>
          <a:prstGeom prst="roundRect">
            <a:avLst>
              <a:gd name="adj" fmla="val 818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60020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002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/ Steering Committee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286000" y="192024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major investment decisions and stage outcomes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180015" y="164592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364284"/>
          </a:solidFill>
          <a:ln/>
        </p:spPr>
      </p:sp>
      <p:sp>
        <p:nvSpPr>
          <p:cNvPr id="13" name="Text 11"/>
          <p:cNvSpPr/>
          <p:nvPr/>
        </p:nvSpPr>
        <p:spPr>
          <a:xfrm>
            <a:off x="10180015" y="1645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Mtg.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11277295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78892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EEF2F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788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86000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/ Pillar Leads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286000" y="310896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milestone progress, coordinates cross-functional resources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180015" y="283464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EEF2FB"/>
          </a:solidFill>
          <a:ln/>
        </p:spPr>
      </p:sp>
      <p:sp>
        <p:nvSpPr>
          <p:cNvPr id="20" name="Text 18"/>
          <p:cNvSpPr/>
          <p:nvPr/>
        </p:nvSpPr>
        <p:spPr>
          <a:xfrm>
            <a:off x="10180015" y="2834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Biweekly Mtg.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11277295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97764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EEF2F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77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286000" y="3931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/ Algorithm / BP Teams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286000" y="42976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Task-level stand-ups, immediate issue escalation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180015" y="402336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EEF2FB"/>
          </a:solidFill>
          <a:ln/>
        </p:spPr>
      </p:sp>
      <p:sp>
        <p:nvSpPr>
          <p:cNvPr id="27" name="Text 25"/>
          <p:cNvSpPr/>
          <p:nvPr/>
        </p:nvSpPr>
        <p:spPr>
          <a:xfrm>
            <a:off x="10180015" y="40233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Mtg.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Cadence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57200" y="502920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12064" y="5029200"/>
            <a:ext cx="2587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Stand-Up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154680" y="5372100"/>
            <a:ext cx="201168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355848" y="502920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410712" y="5029200"/>
            <a:ext cx="2587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Biweekly PMO Sync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053328" y="5372100"/>
            <a:ext cx="201168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254496" y="502920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09360" y="5029200"/>
            <a:ext cx="2587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Progress Brief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951976" y="5372100"/>
            <a:ext cx="201168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153144" y="502920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208008" y="5029200"/>
            <a:ext cx="2587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Board Report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Dashboard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process and outcome metrics, disclosed to the Board quarterly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39</a:t>
            </a:r>
            <a:endParaRPr lang="en-US" sz="10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729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206240"/>
                <a:gridCol w="2194560"/>
                <a:gridCol w="323057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Baseline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2029 Target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equipment connectivity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&gt;=65%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data quality pass rate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&gt;=95%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Strategic pillar modules live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Data/algorithm team staffing rate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&gt;=90%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Outcome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Unplanned downtime reduction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Outcome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QC miss rate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Outcome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 delivery cycle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 days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days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Outcome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WIP inventory level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Outcome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Engineer issue resolution efficiency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Outcome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New-hire onboarding time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months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months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Outcome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maintenance cost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Outcome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ROI cumulative net benefit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RMB 156M (2029)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NEXT STEPS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window is now: the period before 2027 is the critical window for industrial AI at scale — early movers will build data and organizational advantages that are hard to replicate;</a:t>
            </a:r>
            <a:endParaRPr lang="en-US" sz="1600" dirty="0"/>
          </a:p>
          <a:p>
            <a:pPr marL="342900" indent="-342900">
              <a:lnSpc>
                <a:spcPct val="14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 is clear: a four-layer architecture and four strategic pillars, rolled out across three phases, each with measurable, auditable milestones;</a:t>
            </a:r>
            <a:endParaRPr lang="en-US" sz="1600" dirty="0"/>
          </a:p>
          <a:p>
            <a:pPr marL="342900" indent="-342900">
              <a:lnSpc>
                <a:spcPct val="14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economics are measurable: RMB 185M invested over three years, payback in 2.3 years, entering sustained positive cash flow from 2029 onward.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3794760"/>
            <a:ext cx="11277295" cy="1371600"/>
          </a:xfrm>
          <a:prstGeom prst="roundRect">
            <a:avLst>
              <a:gd name="adj" fmla="val 8000"/>
            </a:avLst>
          </a:prstGeom>
          <a:solidFill>
            <a:srgbClr val="36428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794760"/>
            <a:ext cx="10728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TO ACTION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ask the Board to review and approve this proposal, and to authorize the Strategic Transformation Office to launch the First 90 Days action plan this quarter, beginning single-point predictive maintenance validation at the Xuzhou pilot plant.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Strategic Transformation Office · July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9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Glossary &amp; Data Assumptions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reference by the Board and technical teams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/ 39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Glossary</a:t>
            </a:r>
            <a:endParaRPr lang="en-US" sz="13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729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340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 (Retrieval-Augmented Generation)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Retrieves relevant content from a knowledge base, then has an LLM generate a grounded, verifiable answer — reducing hallucination risk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 Twin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real-time virtual model of a physical production line or asset, used for simulation, monitoring, and optimized decisions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MIP (Mixed-Integer Programming)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mathematical optimization method used to solve for the optimal schedule under capacity, material, and process constraints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Industrial AI Adoption Rate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share of large manufacturers that have deployed at least one AI application, relative to the total industry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 &amp; Assumptions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480560"/>
            <a:ext cx="112772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adoption and policy inflection data: extrapolated from third-party industry research reports, for trend reference only, not precise statistics;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current-state diagnostic data: Strategic Transformation Office internal diagnostic scores and site surveys, Q2 2026;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peer data: Q2 2026 benchmarking study of 12 comparably sized equipment manufacturers (anonymized);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benefits (downtime, miss rate, delivery cycle, etc.): extrapolated from pilot data and industry benchmarks; final figures will be confirmed by actual pilot results.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Yunshu Heavy Industries · AI Transformation Roadmap 2027-2029 · Confidential · Board Proposal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Yunshu Heavy Industries AI Transformation Roadmap 2027-2029</dc:title>
  <dc:subject>PptxGenJS Presentation</dc:subject>
  <dc:creator>Yunshu Heavy Industries Strategic Transformation Office</dc:creator>
  <cp:lastModifiedBy>Yunshu Heavy Industries Strategic Transformation Office</cp:lastModifiedBy>
  <cp:revision>1</cp:revision>
  <dcterms:created xsi:type="dcterms:W3CDTF">2026-07-05T03:23:32Z</dcterms:created>
  <dcterms:modified xsi:type="dcterms:W3CDTF">2026-07-05T03:23:32Z</dcterms:modified>
</cp:coreProperties>
</file>