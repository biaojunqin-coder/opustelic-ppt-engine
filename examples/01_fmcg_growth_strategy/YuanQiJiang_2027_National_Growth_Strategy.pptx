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3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4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5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6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7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5151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5151F"/>
                </a:solidFill>
                <a:latin typeface="Arial"/>
              </a:rPr>
              <a:t>Market size (RMB100M) vs. segment growth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RTD tea market size (RMB100M)</c:v>
                </c:pt>
              </c:strCache>
            </c:strRef>
          </c:tx>
          <c:spPr>
            <a:solidFill>
              <a:srgbClr val="FFC9D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2025E</c:v>
                  </c:pt>
                  <c:pt idx="3">
                    <c:v>2026E</c:v>
                  </c:pt>
                  <c:pt idx="4">
                    <c:v>2027E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2050</c:v>
                </c:pt>
                <c:pt idx="1">
                  <c:v>2340</c:v>
                </c:pt>
                <c:pt idx="2">
                  <c:v>2650</c:v>
                </c:pt>
                <c:pt idx="3">
                  <c:v>2930</c:v>
                </c:pt>
                <c:pt idx="4">
                  <c:v>3200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Fizzy/low-sugar fruit tea growth (%)</c:v>
                </c:pt>
              </c:strCache>
            </c:strRef>
          </c:tx>
          <c:spPr>
            <a:solidFill>
              <a:srgbClr val="00C2A8"/>
            </a:solidFill>
            <a:ln w="38100" cap="flat">
              <a:solidFill>
                <a:srgbClr val="00C2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C2A8"/>
              </a:solidFill>
              <a:ln w="9525" cap="flat">
                <a:solidFill>
                  <a:srgbClr val="00C2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2025E</c:v>
                  </c:pt>
                  <c:pt idx="3">
                    <c:v>2026E</c:v>
                  </c:pt>
                  <c:pt idx="4">
                    <c:v>2027E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</c:v>
                </c:pt>
                <c:pt idx="1">
                  <c:v>19.5</c:v>
                </c:pt>
                <c:pt idx="2">
                  <c:v>21</c:v>
                </c:pt>
                <c:pt idx="3">
                  <c:v>22.2</c:v>
                </c:pt>
                <c:pt idx="4">
                  <c:v>23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00"/>
        </c:scaling>
        <c:delete val="0"/>
        <c:axPos val="l"/>
        <c:majorGridlines>
          <c:spPr>
            <a:ln w="9525" cap="flat">
              <a:solidFill>
                <a:srgbClr val="E8DF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30"/>
        </c:scaling>
        <c:delete val="0"/>
        <c:axPos val="r"/>
        <c:majorGridlines>
          <c:spPr>
            <a:ln w="9525" cap="flat">
              <a:solidFill>
                <a:srgbClr val="E8DF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6B7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VivaFizz Today</c:v>
                </c:pt>
              </c:strCache>
            </c:strRef>
          </c:tx>
          <c:spPr>
            <a:solidFill>
              <a:srgbClr val="FF2E7E"/>
            </a:solidFill>
            <a:ln w="25400" cap="flat">
              <a:solidFill>
                <a:srgbClr val="FF2E7E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FF2E7E"/>
              </a:solidFill>
              <a:ln w="9525" cap="flat">
                <a:solidFill>
                  <a:srgbClr val="FF2E7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Awareness</c:v>
                  </c:pt>
                  <c:pt idx="1">
                    <c:v>Reputation</c:v>
                  </c:pt>
                  <c:pt idx="2">
                    <c:v>Repeat Rate</c:v>
                  </c:pt>
                  <c:pt idx="3">
                    <c:v>Avg. Ticket</c:v>
                  </c:pt>
                  <c:pt idx="4">
                    <c:v>Store Density</c:v>
                  </c:pt>
                  <c:pt idx="5">
                    <c:v>Digital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</c:v>
                </c:pt>
                <c:pt idx="1">
                  <c:v>82</c:v>
                </c:pt>
                <c:pt idx="2">
                  <c:v>65</c:v>
                </c:pt>
                <c:pt idx="3">
                  <c:v>70</c:v>
                </c:pt>
                <c:pt idx="4">
                  <c:v>42</c:v>
                </c:pt>
                <c:pt idx="5">
                  <c:v>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 Average</c:v>
                </c:pt>
              </c:strCache>
            </c:strRef>
          </c:tx>
          <c:spPr>
            <a:solidFill>
              <a:srgbClr val="A6A6B0"/>
            </a:solidFill>
            <a:ln w="25400" cap="flat">
              <a:solidFill>
                <a:srgbClr val="A6A6B0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A6A6B0"/>
              </a:solidFill>
              <a:ln w="9525" cap="flat">
                <a:solidFill>
                  <a:srgbClr val="A6A6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Awareness</c:v>
                  </c:pt>
                  <c:pt idx="1">
                    <c:v>Reputation</c:v>
                  </c:pt>
                  <c:pt idx="2">
                    <c:v>Repeat Rate</c:v>
                  </c:pt>
                  <c:pt idx="3">
                    <c:v>Avg. Ticket</c:v>
                  </c:pt>
                  <c:pt idx="4">
                    <c:v>Store Density</c:v>
                  </c:pt>
                  <c:pt idx="5">
                    <c:v>Digital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72</c:v>
                </c:pt>
                <c:pt idx="1">
                  <c:v>70</c:v>
                </c:pt>
                <c:pt idx="2">
                  <c:v>68</c:v>
                </c:pt>
                <c:pt idx="3">
                  <c:v>66</c:v>
                </c:pt>
                <c:pt idx="4">
                  <c:v>80</c:v>
                </c:pt>
                <c:pt idx="5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515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B7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5151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5151F"/>
                </a:solidFill>
                <a:latin typeface="Arial"/>
              </a:rPr>
              <a:t>Company-owned vs. franchise mix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Company-owned (%)</c:v>
                </c:pt>
              </c:strCache>
            </c:strRef>
          </c:tx>
          <c:spPr>
            <a:solidFill>
              <a:srgbClr val="1515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45</c:v>
                </c:pt>
                <c:pt idx="2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Franchise (%)</c:v>
                </c:pt>
              </c:strCache>
            </c:strRef>
          </c:tx>
          <c:spPr>
            <a:solidFill>
              <a:srgbClr val="FF2E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</c:v>
                </c:pt>
                <c:pt idx="1">
                  <c:v>55</c:v>
                </c:pt>
                <c:pt idx="2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8DF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B7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5151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5151F"/>
                </a:solidFill>
                <a:latin typeface="Arial"/>
              </a:rPr>
              <a:t>Share of Annual Sales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Seasonal Line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2A8"/>
              </a:solidFill>
              <a:effectLst/>
            </c:spPr>
          </c:dPt>
          <c:dPt>
            <c:idx val="1"/>
            <c:bubble3D val="0"/>
            <c:spPr>
              <a:solidFill>
                <a:srgbClr val="FF2E7E"/>
              </a:solidFill>
              <a:effectLst/>
            </c:spPr>
          </c:dPt>
          <c:dPt>
            <c:idx val="2"/>
            <c:bubble3D val="0"/>
            <c:spPr>
              <a:solidFill>
                <a:srgbClr val="FFD23F"/>
              </a:solidFill>
              <a:effectLst/>
            </c:spPr>
          </c:dPt>
          <c:dPt>
            <c:idx val="3"/>
            <c:bubble3D val="0"/>
            <c:spPr>
              <a:solidFill>
                <a:srgbClr val="15151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Spring · Fresh Fruit</c:v>
                </c:pt>
                <c:pt idx="1">
                  <c:v>Summer · Fizz</c:v>
                </c:pt>
                <c:pt idx="2">
                  <c:v>Autumn · Osmanthus</c:v>
                </c:pt>
                <c:pt idx="3">
                  <c:v>Winter · Warmers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24</c:v>
                </c:pt>
                <c:pt idx="1">
                  <c:v>34</c:v>
                </c:pt>
                <c:pt idx="2">
                  <c:v>20</c:v>
                </c:pt>
                <c:pt idx="3">
                  <c:v>22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B7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5151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5151F"/>
                </a:solidFill>
                <a:latin typeface="Arial"/>
              </a:rPr>
              <a:t>Wellness Line Growth Path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Zero-Sugar/Low-Cal Share of Sales (%)</c:v>
                </c:pt>
              </c:strCache>
            </c:strRef>
          </c:tx>
          <c:spPr>
            <a:solidFill>
              <a:srgbClr val="00C2A8"/>
            </a:solidFill>
            <a:ln w="50800" cap="flat">
              <a:solidFill>
                <a:srgbClr val="00C2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5151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C2A8"/>
              </a:solidFill>
              <a:ln w="9525" cap="flat">
                <a:solidFill>
                  <a:srgbClr val="00C2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20</c:v>
                </c:pt>
                <c:pt idx="2">
                  <c:v>35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5151F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8DF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5151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5151F"/>
                </a:solidFill>
                <a:latin typeface="Arial"/>
              </a:rPr>
              <a:t>3-Year Budget Allocation (RMB 100M)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 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2E7E"/>
              </a:solidFill>
              <a:effectLst/>
            </c:spPr>
          </c:dPt>
          <c:dPt>
            <c:idx val="1"/>
            <c:bubble3D val="0"/>
            <c:spPr>
              <a:solidFill>
                <a:srgbClr val="00C2A8"/>
              </a:solidFill>
              <a:effectLst/>
            </c:spPr>
          </c:dPt>
          <c:dPt>
            <c:idx val="2"/>
            <c:bubble3D val="0"/>
            <c:spPr>
              <a:solidFill>
                <a:srgbClr val="FFD23F"/>
              </a:solidFill>
              <a:effectLst/>
            </c:spPr>
          </c:dPt>
          <c:dPt>
            <c:idx val="3"/>
            <c:bubble3D val="0"/>
            <c:spPr>
              <a:solidFill>
                <a:srgbClr val="15151F"/>
              </a:solidFill>
              <a:effectLst/>
            </c:spPr>
          </c:dPt>
          <c:dPt>
            <c:idx val="4"/>
            <c:bubble3D val="0"/>
            <c:spPr>
              <a:solidFill>
                <a:srgbClr val="A6A6B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Store Expansion</c:v>
                </c:pt>
                <c:pt idx="1">
                  <c:v>Marketing</c:v>
                </c:pt>
                <c:pt idx="2">
                  <c:v>Supply Chain Upgrade</c:v>
                </c:pt>
                <c:pt idx="3">
                  <c:v>Digital Build-Out</c:v>
                </c:pt>
                <c:pt idx="4">
                  <c:v>Org &amp; Training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2.6</c:v>
                </c:pt>
                <c:pt idx="1">
                  <c:v>1.5</c:v>
                </c:pt>
                <c:pt idx="2">
                  <c:v>1.4</c:v>
                </c:pt>
                <c:pt idx="3">
                  <c:v>0.8</c:v>
                </c:pt>
                <c:pt idx="4">
                  <c:v>0.5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B7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5151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5151F"/>
                </a:solidFill>
                <a:latin typeface="Arial"/>
              </a:rPr>
              <a:t>Revenue (RMB 100M) vs. Gross Margin (%) — Dual-Axis Forecast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(RMB 100M)</c:v>
                </c:pt>
              </c:strCache>
            </c:strRef>
          </c:tx>
          <c:spPr>
            <a:solidFill>
              <a:srgbClr val="FFC9D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5151F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4.6</c:v>
                </c:pt>
                <c:pt idx="1">
                  <c:v>6.5</c:v>
                </c:pt>
                <c:pt idx="2">
                  <c:v>11.2</c:v>
                </c:pt>
                <c:pt idx="3">
                  <c:v>18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5151F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Gross Margin (%)</c:v>
                </c:pt>
              </c:strCache>
            </c:strRef>
          </c:tx>
          <c:spPr>
            <a:solidFill>
              <a:srgbClr val="00C2A8"/>
            </a:solidFill>
            <a:ln w="38100" cap="flat">
              <a:solidFill>
                <a:srgbClr val="00C2A8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5151F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C2A8"/>
              </a:solidFill>
              <a:ln w="9525" cap="flat">
                <a:solidFill>
                  <a:srgbClr val="00C2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58</c:v>
                </c:pt>
                <c:pt idx="1">
                  <c:v>60</c:v>
                </c:pt>
                <c:pt idx="2">
                  <c:v>62.5</c:v>
                </c:pt>
                <c:pt idx="3">
                  <c:v>65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5151F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</c:scaling>
        <c:delete val="0"/>
        <c:axPos val="l"/>
        <c:majorGridlines>
          <c:spPr>
            <a:ln w="9525" cap="flat">
              <a:solidFill>
                <a:srgbClr val="E8DF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80"/>
        </c:scaling>
        <c:delete val="0"/>
        <c:axPos val="r"/>
        <c:majorGridlines>
          <c:spPr>
            <a:ln w="9525" cap="flat">
              <a:solidFill>
                <a:srgbClr val="E8DF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B7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21-1.png"/><Relationship Id="rId3" Type="http://schemas.openxmlformats.org/officeDocument/2006/relationships/image" Target="../media/image-21-2.png"/><Relationship Id="rId4" Type="http://schemas.openxmlformats.org/officeDocument/2006/relationships/image" Target="../media/image-21-3.png"/><Relationship Id="rId5" Type="http://schemas.openxmlformats.org/officeDocument/2006/relationships/image" Target="../media/image-21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45720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11247120" y="105156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FFD23F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1554480"/>
            <a:ext cx="411480" cy="411480"/>
          </a:xfrm>
          <a:prstGeom prst="triangle">
            <a:avLst/>
          </a:prstGeom>
          <a:solidFill>
            <a:srgbClr val="FF2E7E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5943600"/>
            <a:ext cx="274320" cy="274320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6" name="Shape 4"/>
          <p:cNvSpPr/>
          <p:nvPr/>
        </p:nvSpPr>
        <p:spPr>
          <a:xfrm rot="1200000">
            <a:off x="11521440" y="603504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0C2A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685800"/>
            <a:ext cx="2468880" cy="438912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6858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STRATEGY PROPOSAL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VivaFizz</a:t>
            </a:r>
            <a:endParaRPr lang="en-US" sz="9600" dirty="0"/>
          </a:p>
        </p:txBody>
      </p:sp>
      <p:sp>
        <p:nvSpPr>
          <p:cNvPr id="10" name="Shape 8"/>
          <p:cNvSpPr/>
          <p:nvPr/>
        </p:nvSpPr>
        <p:spPr>
          <a:xfrm>
            <a:off x="777240" y="3520440"/>
            <a:ext cx="4663440" cy="566928"/>
          </a:xfrm>
          <a:prstGeom prst="roundRect">
            <a:avLst>
              <a:gd name="adj" fmla="val 16129"/>
            </a:avLst>
          </a:prstGeom>
          <a:solidFill>
            <a:srgbClr val="FFD23F"/>
          </a:solidFill>
          <a:ln/>
          <a:effectLst>
            <a:outerShdw sx="100000" sy="100000" kx="0" ky="0" algn="bl" rotWithShape="0" blurRad="101600" dist="50800" dir="2700000">
              <a:srgbClr val="000000">
                <a:alpha val="9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52044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 Fizz, No Vibe.”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4343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National Growth Strategy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822960" y="5166360"/>
            <a:ext cx="0" cy="0"/>
          </a:xfrm>
          <a:prstGeom prst="line">
            <a:avLst/>
          </a:prstGeom>
          <a:noFill/>
          <a:ln w="12700">
            <a:solidFill>
              <a:srgbClr val="1515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989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for: Brand Leadership Strategy Review  </a:t>
            </a:r>
            <a:pPr algn="l" indent="0" marL="0">
              <a:buNone/>
            </a:pPr>
            <a:r>
              <a:rPr lang="en-US" sz="1250" dirty="0">
                <a:solidFill>
                  <a:srgbClr val="A6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Version 3.0  </a:t>
            </a:r>
            <a:pPr algn="l" indent="0" marL="0">
              <a:buNone/>
            </a:pPr>
            <a:r>
              <a:rPr lang="en-US" sz="1250" dirty="0">
                <a:solidFill>
                  <a:srgbClr val="A6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July 2026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6355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6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VivaFizz Strategy &amp; Insights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75488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INSIDE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1088136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048256"/>
            <a:ext cx="566928" cy="438912"/>
          </a:xfrm>
          <a:prstGeom prst="roundRect">
            <a:avLst>
              <a:gd name="adj" fmla="val 29167"/>
            </a:avLst>
          </a:prstGeom>
          <a:solidFill>
            <a:srgbClr val="FF2E7E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48256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993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Insights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304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· Competitive landscape · Consumer profile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92640" y="1920240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6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P03–08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761488"/>
            <a:ext cx="1088136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2889504"/>
            <a:ext cx="566928" cy="438912"/>
          </a:xfrm>
          <a:prstGeom prst="roundRect">
            <a:avLst>
              <a:gd name="adj" fmla="val 29167"/>
            </a:avLst>
          </a:prstGeom>
          <a:solidFill>
            <a:srgbClr val="FFD23F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889504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0876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Current-State Diagnostic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31455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health radar · Network audit · North star goals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92640" y="2761488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6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P09–12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602736"/>
            <a:ext cx="1088136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" y="3730752"/>
            <a:ext cx="566928" cy="438912"/>
          </a:xfrm>
          <a:prstGeom prst="roundRect">
            <a:avLst>
              <a:gd name="adj" fmla="val 29167"/>
            </a:avLst>
          </a:prstGeom>
          <a:solidFill>
            <a:srgbClr val="00C2A8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730752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3675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Blueprint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08760" y="39867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pillars · Tactical breakdown · Growth flywheel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92640" y="3602736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6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P13–24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443984"/>
            <a:ext cx="1088136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3232" y="4572000"/>
            <a:ext cx="566928" cy="438912"/>
          </a:xfrm>
          <a:prstGeom prst="roundRect">
            <a:avLst>
              <a:gd name="adj" fmla="val 29167"/>
            </a:avLst>
          </a:prstGeom>
          <a:solidFill>
            <a:srgbClr val="FF2E7E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457200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08760" y="45171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Roadmap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08760" y="4828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· Supply chain · Organization · Timeline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692640" y="4443984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6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P25–31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" y="5285232"/>
            <a:ext cx="1088136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3232" y="5413248"/>
            <a:ext cx="566928" cy="438912"/>
          </a:xfrm>
          <a:prstGeom prst="roundRect">
            <a:avLst>
              <a:gd name="adj" fmla="val 29167"/>
            </a:avLst>
          </a:prstGeom>
          <a:solidFill>
            <a:srgbClr val="FFD23F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5413248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08760" y="53583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Governance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508760" y="5669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model · KPI dashboard · Risk · Governance cadence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692640" y="5285232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6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P32–39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35" name="Text 33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Insights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Summary: Four Shifts Behind the 3-Year Rollout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regional powerhouse brand to the national face of bubble-tea culture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257175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5151F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26030" y="185623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11" name="Text 9"/>
          <p:cNvSpPr/>
          <p:nvPr/>
        </p:nvSpPr>
        <p:spPr>
          <a:xfrm>
            <a:off x="2526030" y="1856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2112264"/>
            <a:ext cx="211455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312→1,200</a:t>
            </a:r>
            <a:pPr algn="l" indent="0" marL="0">
              <a:buNone/>
            </a:pPr>
            <a:r>
              <a:rPr lang="en-US" sz="1200" b="1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stores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58368" y="3118104"/>
            <a:ext cx="21694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store count (3-yr target)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3465576"/>
            <a:ext cx="2169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coverage 18 → 85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48990" y="1691640"/>
            <a:ext cx="257175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5151F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17820" y="185623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17" name="Text 15"/>
          <p:cNvSpPr/>
          <p:nvPr/>
        </p:nvSpPr>
        <p:spPr>
          <a:xfrm>
            <a:off x="5417820" y="1856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50158" y="2112264"/>
            <a:ext cx="211455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 460M→1.8B</a:t>
            </a:r>
            <a:pPr algn="l" indent="0" marL="0">
              <a:buNone/>
            </a:pP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3550158" y="3118104"/>
            <a:ext cx="21694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revenue, 2024→2027E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50158" y="3465576"/>
            <a:ext cx="2169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57.6%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40780" y="1691640"/>
            <a:ext cx="257175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5151F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09610" y="185623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23" name="Text 21"/>
          <p:cNvSpPr/>
          <p:nvPr/>
        </p:nvSpPr>
        <p:spPr>
          <a:xfrm>
            <a:off x="8309610" y="1856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41948" y="2112264"/>
            <a:ext cx="211455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31→48</a:t>
            </a:r>
            <a:pPr algn="l" indent="0" marL="0">
              <a:buNone/>
            </a:pPr>
            <a:r>
              <a:rPr lang="en-US" sz="18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6441948" y="3118104"/>
            <a:ext cx="21694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repeat-purchase rate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1948" y="3465576"/>
            <a:ext cx="2169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metric driven by CRM engine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132570" y="1691640"/>
            <a:ext cx="257175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5151F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1201400" y="185623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29" name="Text 27"/>
          <p:cNvSpPr/>
          <p:nvPr/>
        </p:nvSpPr>
        <p:spPr>
          <a:xfrm>
            <a:off x="11201400" y="1856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33738" y="2112264"/>
            <a:ext cx="211455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18→85</a:t>
            </a:r>
            <a:pPr algn="l" indent="0" marL="0">
              <a:buNone/>
            </a:pPr>
            <a:r>
              <a:rPr lang="en-US" sz="1800" b="1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cities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9333738" y="3118104"/>
            <a:ext cx="21694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city coverage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33738" y="3465576"/>
            <a:ext cx="2169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S/A/B/C city expansion matrix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114800"/>
            <a:ext cx="11247120" cy="1965960"/>
          </a:xfrm>
          <a:prstGeom prst="roundRect">
            <a:avLst>
              <a:gd name="adj" fmla="val 6512"/>
            </a:avLst>
          </a:prstGeom>
          <a:solidFill>
            <a:srgbClr val="15151F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4279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One-Line Takeaway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" y="4590288"/>
            <a:ext cx="10607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VivaFizz has proven its “sensorial fizz + low-sugar wellness” model and unit economics in East China, with the product and supply-chain foundation to scale nationally. The bottleneck isn't product — it's distribution reach and CRM-driven repeat purchase. The 2027 strategy fires three pillars in parallel — brand rejuvenation, lower-tier city expansion, and a seasonal product flywheel — turning a single-region advantage into a nationwide bubble-tea-culture signature.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Insights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China's RTD Tea Market: Fizzy, Low-Sugar Tea Leads Growth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market keeps expanding, with structural upside concentrated in functional, sensorial innovation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146304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360920" y="1463040"/>
            <a:ext cx="4343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589520" y="166420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2E7E"/>
          </a:solidFill>
          <a:ln/>
        </p:spPr>
      </p:sp>
      <p:sp>
        <p:nvSpPr>
          <p:cNvPr id="12" name="Text 9"/>
          <p:cNvSpPr/>
          <p:nvPr/>
        </p:nvSpPr>
        <p:spPr>
          <a:xfrm>
            <a:off x="8138160" y="1627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Market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589520" y="2084832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2027E market size projected at RMB 320B, an 11.4% CAGR, entering a phase of structural divergence.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60920" y="2980944"/>
            <a:ext cx="4343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589520" y="318211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0C2A8"/>
          </a:solidFill>
          <a:ln/>
        </p:spPr>
      </p:sp>
      <p:sp>
        <p:nvSpPr>
          <p:cNvPr id="16" name="Text 13"/>
          <p:cNvSpPr/>
          <p:nvPr/>
        </p:nvSpPr>
        <p:spPr>
          <a:xfrm>
            <a:off x="8138160" y="31455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Sensorial Fizz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589520" y="3602736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Carbonated + fruit-tea hybrids have led growth for three straight years, reaching 23% by 2027E — 2x the overall market rate.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60920" y="4498848"/>
            <a:ext cx="4343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589520" y="470001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D23F"/>
          </a:solidFill>
          <a:ln/>
        </p:spPr>
      </p:sp>
      <p:sp>
        <p:nvSpPr>
          <p:cNvPr id="20" name="Text 17"/>
          <p:cNvSpPr/>
          <p:nvPr/>
        </p:nvSpPr>
        <p:spPr>
          <a:xfrm>
            <a:off x="8138160" y="4663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Low-Sugar Wellness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589520" y="512064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Zero-sugar/low-calorie lines are gaining penetration fast, becoming the core lever for lifting repeat purchase.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Insights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Landscape: Price Tier x Youth Appeal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VivaFizz must own the mid-price, high-youth-appeal quadrant as its bubble-tea-culture home turf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1783080"/>
            <a:ext cx="78638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783080"/>
            <a:ext cx="0" cy="4206240"/>
          </a:xfrm>
          <a:prstGeom prst="line">
            <a:avLst/>
          </a:prstGeom>
          <a:noFill/>
          <a:ln w="12700">
            <a:solidFill>
              <a:srgbClr val="D8CFC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005840" y="3886200"/>
            <a:ext cx="7863840" cy="0"/>
          </a:xfrm>
          <a:prstGeom prst="line">
            <a:avLst/>
          </a:prstGeom>
          <a:noFill/>
          <a:ln w="12700">
            <a:solidFill>
              <a:srgbClr val="D8CFC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960120" y="14538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Youth appeal ↑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406640" y="60441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tier → High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05840" y="60441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tier → Low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24067" y="2631643"/>
            <a:ext cx="658368" cy="658368"/>
          </a:xfrm>
          <a:prstGeom prst="ellipse">
            <a:avLst/>
          </a:prstGeom>
          <a:solidFill>
            <a:srgbClr val="1515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58307" y="2320747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A Group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49424" y="4482389"/>
            <a:ext cx="658368" cy="658368"/>
          </a:xfrm>
          <a:prstGeom prst="ellipse">
            <a:avLst/>
          </a:prstGeom>
          <a:solidFill>
            <a:srgbClr val="6B6B7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83664" y="4171493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B Group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52237" y="1958645"/>
            <a:ext cx="658368" cy="658368"/>
          </a:xfrm>
          <a:prstGeom prst="ellipse">
            <a:avLst/>
          </a:prstGeom>
          <a:solidFill>
            <a:srgbClr val="A6A6B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86477" y="164774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C Group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463040" y="3346704"/>
            <a:ext cx="658368" cy="658368"/>
          </a:xfrm>
          <a:prstGeom prst="ellipse">
            <a:avLst/>
          </a:prstGeom>
          <a:solidFill>
            <a:srgbClr val="A6A6B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03580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Challenger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762756" y="2151583"/>
            <a:ext cx="777240" cy="777240"/>
          </a:xfrm>
          <a:prstGeom prst="ellipse">
            <a:avLst/>
          </a:prstGeom>
          <a:solidFill>
            <a:srgbClr val="FF2E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96996" y="1840687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VivaFizz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44000" y="150876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326880" y="16733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27" name="Text 25"/>
          <p:cNvSpPr/>
          <p:nvPr/>
        </p:nvSpPr>
        <p:spPr>
          <a:xfrm>
            <a:off x="9326880" y="16733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326880" y="2002536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Mid-price · High youth appeal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VivaFizz's core turf, least contested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144000" y="3026664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326880" y="3191256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31" name="Text 29"/>
          <p:cNvSpPr/>
          <p:nvPr/>
        </p:nvSpPr>
        <p:spPr>
          <a:xfrm>
            <a:off x="9326880" y="31912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Ocean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326880" y="35204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High-price · High youth appeal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Peers concentrated here, heavy ad spend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144000" y="4544568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326880" y="47091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6B6B76"/>
          </a:solidFill>
          <a:ln/>
        </p:spPr>
      </p:sp>
      <p:sp>
        <p:nvSpPr>
          <p:cNvPr id="35" name="Text 33"/>
          <p:cNvSpPr/>
          <p:nvPr/>
        </p:nvSpPr>
        <p:spPr>
          <a:xfrm>
            <a:off x="9326880" y="47091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 / Static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326880" y="5038344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Low-price · Low youth appeal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plateaued, price war dominates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Insights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Structural Tailwinds Reshaping the Category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Sensorial innovation, wellness credentials, and local culture are the three engines of the next growth wave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3535680" cy="4434840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" y="1709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83080"/>
            <a:ext cx="310896" cy="3108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6656" y="2286000"/>
            <a:ext cx="309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Sensorial Fizz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76656" y="2743200"/>
            <a:ext cx="309676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Carbonated bubbles plus fruit-pulp texture have become the go-to for photo-worthy, shareable drinks — sensory layering is now a core competitive axis.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12920" y="1508760"/>
            <a:ext cx="3535680" cy="4434840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32376" y="1709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528" y="1783080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32376" y="2286000"/>
            <a:ext cx="309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Low-Sugar Wellness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4532376" y="2743200"/>
            <a:ext cx="309676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Zero-sugar, low-calorie, real-fruit-juice claims are now a pre-condition for purchase — wellness has shifted from a bonus to a baseline requirement.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168640" y="1508760"/>
            <a:ext cx="3535680" cy="4434840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88096" y="1709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248" y="1783080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88096" y="2286000"/>
            <a:ext cx="309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&amp; Limited-Edition IP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8388096" y="2743200"/>
            <a:ext cx="309676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tourism IP, region-exclusive flavors, and festival crossovers manufacture scarcity and buzz, driving store visits and social sharing.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Insights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Consumer Profile: "Rising City Youth"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18-30 year-olds in new-tier-1/tier-2 cities are the core audience for national expansion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534924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9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64792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17647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" y="24231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Ages 18-30, mostly students and early-career women (64%), concentrated in new-tier-1/tier-2 core retail districts and university areas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80760" y="1508760"/>
            <a:ext cx="534924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9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764792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40880" y="17647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Frequency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355080" y="24231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visits/month on average; heavy users (≥1x/week) make up 41% of core members; holiday visit frequency up 60%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" y="3749040"/>
            <a:ext cx="534924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9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005072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4005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Ticket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731520" y="46634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 16.8 average ticket; crossover/large-size/add-on combos push it to RMB 22-26; moderate price sensitivity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080760" y="3749040"/>
            <a:ext cx="534924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9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4005072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0" y="4005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Drivers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355080" y="46634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Ranked: flavor novelty (38%), social sharing value (27%), health claims (22%), price promotions (13%)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Insights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Consumer Pain Points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structural gap between current supply and what consumers actually want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112471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73936"/>
            <a:ext cx="585216" cy="58521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166420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Flavor Fatigue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663440" y="1664208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New-flavor launch pace across the industry lags consumers' novelty cycle, steadily eroding the freshness that drives repeat visits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2724912"/>
            <a:ext cx="112471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44368"/>
            <a:ext cx="585216" cy="5852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Anxiety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63440" y="2834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Opaque sugar-content and additive disclosure keeps eroding trust among health-conscious RTD tea drinkers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57200" y="3895344"/>
            <a:ext cx="112471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585216" cy="5852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40050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Emotional Value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663440" y="400507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feel disconnected from consumption occasions, lacking a memorable hook for emotional expression or social currency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57200" y="5065776"/>
            <a:ext cx="112471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285232"/>
            <a:ext cx="585216" cy="5852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517550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Repeat-Purchase Incentives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4663440" y="5175504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 membership benefits and no referral mechanics leave CRM depth and long-term loyalty underdeveloped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Current-State Diagnostic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Health Radar: Six-Axis Diagnostic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and reputation lead the pack, but digital capability and store density are clear gaps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" y="1463040"/>
          <a:ext cx="60350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949440" y="1508760"/>
            <a:ext cx="4754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78040" y="169164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12" name="Text 9"/>
          <p:cNvSpPr/>
          <p:nvPr/>
        </p:nvSpPr>
        <p:spPr>
          <a:xfrm>
            <a:off x="7178040" y="16916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178040" y="2103120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78 / Reputation 82 — strong word-of-mouth foundation in East China, a brand asset that can travel nationally.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949440" y="3026664"/>
            <a:ext cx="4754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178040" y="3209544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16" name="Text 13"/>
          <p:cNvSpPr/>
          <p:nvPr/>
        </p:nvSpPr>
        <p:spPr>
          <a:xfrm>
            <a:off x="7178040" y="320954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Catching Up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178040" y="3621024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Rate 65 / Avg. Ticket 70 — mid-pack versus peers, with room to grow via CRM and product-mix improvements.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949440" y="4544568"/>
            <a:ext cx="4754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178040" y="4727448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20" name="Text 17"/>
          <p:cNvSpPr/>
          <p:nvPr/>
        </p:nvSpPr>
        <p:spPr>
          <a:xfrm>
            <a:off x="7178040" y="472744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178040" y="5138928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Density 42 / Digital 38 — well behind the peer average, the single biggest constraint on national expansion.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Current-State Diagnostic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Network Diagnostic: Strong East, Unbalanced Elsewhere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productivity varies sharply, with clear white space in South and Southwest China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237744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Sales/sqm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YoY Growth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Diagnosis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East China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RMB 1,860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Highly concentrated · growth slowing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South China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RMB 1,520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Pilot-validated · high potential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North China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RMB 1,340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stage · awareness building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Southwest China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RMB 1,210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White space · fastest growth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160520"/>
            <a:ext cx="11247120" cy="1920240"/>
          </a:xfrm>
          <a:prstGeom prst="roundRect">
            <a:avLst>
              <a:gd name="adj" fmla="val 6667"/>
            </a:avLst>
          </a:prstGeom>
          <a:solidFill>
            <a:srgbClr val="15151F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Conclusion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4681728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China accounts for 83% of stores, an outsized single-region concentration risk. But South and Southwest China are growing sales productivity faster than the East (34%/41% vs. 12%), proving the "sensorial fizz" positioning travels across regions. The national rollout should focus on replicating the East China store model and accelerating expansion into South, Southwest, and North China.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Current-State Diagnostic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Core Problem Areas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key bottlenecks are jointly capping the pace of national growth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546354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" y="1709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83080"/>
            <a:ext cx="310896" cy="3108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6656" y="2286000"/>
            <a:ext cx="5024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Over-Reliance on One Region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76656" y="2743200"/>
            <a:ext cx="5024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 of stores are in East China, creating high single-region risk, weak resilience to downturns, and thin national brand awareness.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40780" y="1508760"/>
            <a:ext cx="546354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60236" y="1709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388" y="1783080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60236" y="2286000"/>
            <a:ext cx="5024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Product Iteration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6460236" y="2743200"/>
            <a:ext cx="5024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2 new SKUs launched per year versus a 6-SKU peer average — the resulting lack of novelty directly caps repeat-purchase rates.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57200" y="3886200"/>
            <a:ext cx="546354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76656" y="4087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160520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76656" y="4663440"/>
            <a:ext cx="5024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CRM Penetration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676656" y="5120640"/>
            <a:ext cx="5024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12% of members are captured in owned channels; WeCom/mini-program operations are weak, leaving repeat-purchase incentives without digital touchpoints.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240780" y="3886200"/>
            <a:ext cx="546354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60236" y="4087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388" y="4160520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460236" y="4663440"/>
            <a:ext cx="5024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Franchisee Churn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6460236" y="5120640"/>
            <a:ext cx="5024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 annual churn — immature site-selection standards and franchisee enablement mean long payback periods that erode confidence.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Current-State Diagnostic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658600" y="5074920"/>
            <a:ext cx="320040" cy="3200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Shape 4"/>
          <p:cNvSpPr/>
          <p:nvPr/>
        </p:nvSpPr>
        <p:spPr>
          <a:xfrm>
            <a:off x="11155680" y="548640"/>
            <a:ext cx="365760" cy="365760"/>
          </a:xfrm>
          <a:prstGeom prst="triangle">
            <a:avLst/>
          </a:prstGeom>
          <a:solidFill>
            <a:srgbClr val="FFD23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NORTH STAR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an East China Hit to National Bubble-Tea Culture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777240" y="3611880"/>
            <a:ext cx="2377440" cy="1737360"/>
          </a:xfrm>
          <a:prstGeom prst="roundRect">
            <a:avLst>
              <a:gd name="adj" fmla="val 7368"/>
            </a:avLst>
          </a:prstGeom>
          <a:solidFill>
            <a:srgbClr val="1F1F2C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3822192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8221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42062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60120" y="4892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national stores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29000" y="3611880"/>
            <a:ext cx="2377440" cy="1737360"/>
          </a:xfrm>
          <a:prstGeom prst="roundRect">
            <a:avLst>
              <a:gd name="adj" fmla="val 7368"/>
            </a:avLst>
          </a:prstGeom>
          <a:solidFill>
            <a:srgbClr val="1F1F2C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0" y="3822192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38221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11880" y="42062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 1.8B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611880" y="4892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3611880"/>
            <a:ext cx="2377440" cy="1737360"/>
          </a:xfrm>
          <a:prstGeom prst="roundRect">
            <a:avLst>
              <a:gd name="adj" fmla="val 7368"/>
            </a:avLst>
          </a:prstGeom>
          <a:solidFill>
            <a:srgbClr val="1F1F2C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3822192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8221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42062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263640" y="4892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Cities covered nationally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732520" y="3611880"/>
            <a:ext cx="2377440" cy="1737360"/>
          </a:xfrm>
          <a:prstGeom prst="roundRect">
            <a:avLst>
              <a:gd name="adj" fmla="val 7368"/>
            </a:avLst>
          </a:prstGeom>
          <a:solidFill>
            <a:srgbClr val="1F1F2C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0" y="3822192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0" y="38221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915400" y="42062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915400" y="4892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repeat-purchase rate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77240" y="5623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3-Year Horizon · 2025–2027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Blueprint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Strategic Pillars Overview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Brand, channel, and product move together to form a complete national growth loop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3535680" cy="4297680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" y="1801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74520"/>
            <a:ext cx="310896" cy="3108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6656" y="2377440"/>
            <a:ext cx="309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Brand Rejuvenation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76656" y="2834640"/>
            <a:ext cx="309676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from "refreshing tea" to "your energy pit stop," building emotional connection through IP crossovers, content, and a CRM membership system.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12920" y="1600200"/>
            <a:ext cx="3535680" cy="4297680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32376" y="1801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528" y="1874520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32376" y="2377440"/>
            <a:ext cx="309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Channel Expansion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4532376" y="2834640"/>
            <a:ext cx="309676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tiered S/A/B/C city expansion model combining company-owned and franchise stores, backed by a franchisee enablement system to accelerate national reach.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168640" y="1600200"/>
            <a:ext cx="3535680" cy="4297680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88096" y="1801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248" y="1874520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88096" y="2377440"/>
            <a:ext cx="309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Seasonal Product Flywheel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8388096" y="2834640"/>
            <a:ext cx="309676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four-season new-product cadence drives constant freshness, with a wellness product line and a rapid R&amp;D pipeline supporting fast flavor iteration.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Blueprint · Pillar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Rejuvenation: "Refreshing Tea" to "Energy Pit Stop"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Redefining the brand's emotional role in the consumer's mind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5349240" cy="434340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78308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6B6B7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83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POSITIONING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2860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Refreshing Tea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77240" y="306324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functional thirst-quenching drink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Flavor-led product messaging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Low-frequency, promotion-driven transactions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as pure distribution, no emotional tie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80760" y="1554480"/>
            <a:ext cx="5349240" cy="4343400"/>
          </a:xfrm>
          <a:prstGeom prst="roundRect">
            <a:avLst>
              <a:gd name="adj" fmla="val 2947"/>
            </a:avLst>
          </a:prstGeom>
          <a:solidFill>
            <a:srgbClr val="15151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178308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783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POSITIONING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22860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Energy Pit Stop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0" y="306324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A6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value and social currency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A6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Mindshare won through IP crossovers + content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A6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membership system drives high-frequency repeat visits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A6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become youth-culture social hubs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Blueprint · Pillar 1 · Tactic 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Crossover Calendar: 8 Collabs Across 4 Seasons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mix of anime, gaming, and city-tourism IP keeps buzz alive all year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2571750" cy="4343400"/>
          </a:xfrm>
          <a:prstGeom prst="roundRect">
            <a:avLst>
              <a:gd name="adj" fmla="val 4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77393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0C2A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7739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2331720"/>
            <a:ext cx="21694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collabs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" y="2743200"/>
            <a:ext cx="213283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anime IP · cherry-blossom cup</a:t>
            </a:r>
            <a:endParaRPr lang="en-US" sz="11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tourism · Jiangnan water-town series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48990" y="1554480"/>
            <a:ext cx="2571750" cy="4343400"/>
          </a:xfrm>
          <a:prstGeom prst="roundRect">
            <a:avLst>
              <a:gd name="adj" fmla="val 4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50158" y="177393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FF2E7E"/>
          </a:solidFill>
          <a:ln/>
        </p:spPr>
      </p:sp>
      <p:sp>
        <p:nvSpPr>
          <p:cNvPr id="16" name="Text 14"/>
          <p:cNvSpPr/>
          <p:nvPr/>
        </p:nvSpPr>
        <p:spPr>
          <a:xfrm>
            <a:off x="3550158" y="17739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50158" y="2331720"/>
            <a:ext cx="21694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collabs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8446" y="2743200"/>
            <a:ext cx="213283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game IP · summer-event crossover</a:t>
            </a:r>
            <a:endParaRPr lang="en-US" sz="11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Guochao art · limited-edition iced packaging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0780" y="1554480"/>
            <a:ext cx="2571750" cy="4343400"/>
          </a:xfrm>
          <a:prstGeom prst="roundRect">
            <a:avLst>
              <a:gd name="adj" fmla="val 4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1948" y="177393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FFD23F"/>
          </a:solidFill>
          <a:ln/>
        </p:spPr>
      </p:sp>
      <p:sp>
        <p:nvSpPr>
          <p:cNvPr id="21" name="Text 19"/>
          <p:cNvSpPr/>
          <p:nvPr/>
        </p:nvSpPr>
        <p:spPr>
          <a:xfrm>
            <a:off x="6441948" y="17739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Autumn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41948" y="2331720"/>
            <a:ext cx="21694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collabs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60236" y="2743200"/>
            <a:ext cx="213283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anime IP · harvest-season collab</a:t>
            </a:r>
            <a:endParaRPr lang="en-US" sz="11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tourism · ancient-town osmanthus series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132570" y="1554480"/>
            <a:ext cx="2571750" cy="4343400"/>
          </a:xfrm>
          <a:prstGeom prst="roundRect">
            <a:avLst>
              <a:gd name="adj" fmla="val 4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333738" y="177393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FF2E7E"/>
          </a:solidFill>
          <a:ln/>
        </p:spPr>
      </p:sp>
      <p:sp>
        <p:nvSpPr>
          <p:cNvPr id="26" name="Text 24"/>
          <p:cNvSpPr/>
          <p:nvPr/>
        </p:nvSpPr>
        <p:spPr>
          <a:xfrm>
            <a:off x="9333738" y="17739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33738" y="2331720"/>
            <a:ext cx="21694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collabs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52026" y="2743200"/>
            <a:ext cx="213283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game IP · New Year's event crossover</a:t>
            </a:r>
            <a:endParaRPr lang="en-US" sz="11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IP · Lunar New Year limited release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collabs a year total · ~6-week cycle per collab · synchronized launch across all national stores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Blueprint · Pillar 1 · Tactic 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Matrix: Short-Video, Livestream, and In-Store Check-Ins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content lines each play a distinct role in driving brand buzz and store visits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2103120"/>
        </p:xfrm>
        <a:graphic>
          <a:graphicData uri="http://schemas.openxmlformats.org/drawingml/2006/table">
            <a:tbl>
              <a:tblPr/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Line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Platforms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Format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Output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KPI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Short-Video Seeding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Douyin · Xiaohongshu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reviews / collab unboxings / creative serves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 posts/mo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Impressions ≥ 80M/mo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Creator Livestreams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Douyin · Kuaishou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Store-visit livestreams / new-product launch streams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streams/mo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Stream-to-visit rate ≥ 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In-Store Check-Ins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Xiaohongshu · Dianping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UGC check-in incentives / photo-op installations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 store coverage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UGC posts ≥ 3,000/mo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3977640"/>
            <a:ext cx="3535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6656" y="41788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25196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6656" y="4754880"/>
            <a:ext cx="309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Short-Video Seeding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76656" y="5212080"/>
            <a:ext cx="3096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Creative-serve videos plus collab unboxings drive shareability; a KOC network scales reach and carries product-freshness messaging.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312920" y="3977640"/>
            <a:ext cx="3535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32376" y="41788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528" y="4251960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32376" y="4754880"/>
            <a:ext cx="309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Livestreams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4532376" y="5212080"/>
            <a:ext cx="3096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Store-visit and new-launch livestreams run in parallel, with in-stream coupons linked directly to redemption to shorten the conversion path.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168640" y="3977640"/>
            <a:ext cx="3535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388096" y="41788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248" y="4251960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88096" y="4754880"/>
            <a:ext cx="309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In-Store Check-Ins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8388096" y="5212080"/>
            <a:ext cx="3096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installation art and photo spots incentivize organic UGC, reinforcing the in-store emotional experience.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Blueprint · Pillar 1 · Tactic 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Membership System: Points, Tiers, and Referral Loops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one-off transactions to long-term relationship equity, building a sustainable repeat-purchase flywheel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03327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180136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801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08760" y="170992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· Points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1709928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Purchases accrue points in real time, redeemable for new-product samples, exclusive merch, and crossover perks — extending the value of every visit.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94183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08152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81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08760" y="299008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· Tiers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299008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three-tier membership ladder (Sprout / Vivid / Supercharged) rewards top tiers with birthday gifts, dedicated support, and early access to new products.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85039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436168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361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08760" y="427024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 · Referral Loops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427024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Group-buy discounts, refer-a-friend coupons, and shareable social posters work together to drive member-led acquisition.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5532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pyramid structure: points capture transactions → tiers build belonging → referrals drive self-sustaining growth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Blueprint · Pillar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Expansion: Tiered City Rollout Model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S/A/B/C city profiles and differentiated store formats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2468880"/>
        </p:xfrm>
        <a:graphic>
          <a:graphicData uri="http://schemas.openxmlformats.org/drawingml/2006/table">
            <a:tbl>
              <a:tblPr/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City Tier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Representative Cities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 Format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Investment/Store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3-Yr Store Target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Tier-1 &amp; core new-tier-1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Flagship + standard stores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RMB 580K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New-tier-1 / strong tier-2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Mostly standard stores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RMB 420K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Tier-2/3 core retail districts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/ compact stores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RMB 320K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Tier-3/4 county markets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Compact / community stores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RMB 240K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343400"/>
            <a:ext cx="11247120" cy="1783080"/>
          </a:xfrm>
          <a:prstGeom prst="roundRect">
            <a:avLst>
              <a:gd name="adj" fmla="val 7179"/>
            </a:avLst>
          </a:prstGeom>
          <a:solidFill>
            <a:srgbClr val="15151F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Tiering Logic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4864608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S/A-tier cities carry the brand's flagship image and scale base; B/C-tier cities deliver national reach and lower-tier growth volume. All four store formats share a unified visual identity but a differentiated cost/productivity structure, keeping the "energy pit stop" brand experience consistent across every city tier.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Blueprint · Pillar 2 · Tactic 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Company-Owned vs. Franchise Mix: Shifting from 70:30 to 20:80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Franchise share rises each year to accelerate rollout; company-owned stores focus on flagship cities and model validation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600200"/>
          <a:ext cx="64008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269480" y="1600200"/>
            <a:ext cx="443484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498080" y="17099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· Model Validation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98080" y="20574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Company-owned at 70%, focused on validating the store model and productivity benchmarks in South/Southwest China while containing trial cost.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269480" y="3090672"/>
            <a:ext cx="443484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498080" y="3200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· Accelerated Expansion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498080" y="354787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Franchise share rises to 55% as standardized SOPs and regional distribution hubs go live, supporting scaled franchisee replication.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269480" y="4581144"/>
            <a:ext cx="443484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498080" y="46908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· National Coverage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498080" y="503834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Franchise share reaches 80%; company-owned stores focus on S-tier flagships and brand image, franchisees drive lower-tier growth.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Blueprint · Pillar 2 · Tactic 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Franchisee Enablement: 90-Day Store-Opening SOP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Site-selection algorithm + regional distribution hubs + standardized training compress signing-to-opening time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55064" y="3291840"/>
            <a:ext cx="8851392" cy="0"/>
          </a:xfrm>
          <a:prstGeom prst="line">
            <a:avLst/>
          </a:prstGeom>
          <a:noFill/>
          <a:ln w="25400">
            <a:solidFill>
              <a:srgbClr val="A6A6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53896" y="3090672"/>
            <a:ext cx="402336" cy="402336"/>
          </a:xfrm>
          <a:prstGeom prst="ellipse">
            <a:avLst/>
          </a:prstGeom>
          <a:solidFill>
            <a:srgbClr val="FF2E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53896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" y="1691640"/>
            <a:ext cx="19933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5151F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9808" y="178308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1-15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20391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Evaluation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9808" y="238658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site-selection algorithm + on-site survey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655064" y="2880360"/>
            <a:ext cx="0" cy="210312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666744" y="3090672"/>
            <a:ext cx="402336" cy="402336"/>
          </a:xfrm>
          <a:prstGeom prst="ellipse">
            <a:avLst/>
          </a:prstGeom>
          <a:solidFill>
            <a:srgbClr val="00C2A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66744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871216" y="3703320"/>
            <a:ext cx="19933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5151F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962656" y="379476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16-35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62656" y="405079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Build-Out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962656" y="439826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design package + on-site supervision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67912" y="3493008"/>
            <a:ext cx="0" cy="210312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879592" y="3090672"/>
            <a:ext cx="402336" cy="402336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79592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84064" y="1691640"/>
            <a:ext cx="19933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5151F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75504" y="178308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36-55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75504" y="20391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Setup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175504" y="238658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hub linkup + initial stock order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80760" y="2880360"/>
            <a:ext cx="0" cy="210312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8092440" y="3090672"/>
            <a:ext cx="402336" cy="402336"/>
          </a:xfrm>
          <a:prstGeom prst="ellipse">
            <a:avLst/>
          </a:prstGeom>
          <a:solidFill>
            <a:srgbClr val="FF2E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9244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296912" y="3703320"/>
            <a:ext cx="19933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5151F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388352" y="379476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56-75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88352" y="405079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Training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388352" y="439826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bootcamp + on-site coaching assessment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293608" y="3493008"/>
            <a:ext cx="0" cy="210312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10305288" y="3090672"/>
            <a:ext cx="402336" cy="402336"/>
          </a:xfrm>
          <a:prstGeom prst="ellipse">
            <a:avLst/>
          </a:prstGeom>
          <a:solidFill>
            <a:srgbClr val="00C2A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05288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509760" y="1691640"/>
            <a:ext cx="19933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5151F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601200" y="178308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76-90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601200" y="20391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&amp; Grand Opening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601200" y="238658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Soft-launch fine-tuning + grand-opening event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0506456" y="2880360"/>
            <a:ext cx="0" cy="210312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Blueprint · Pillar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Flywheel: A Four-Season New-Launch Cadence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Fruit · Summer Fizz · Autumn Osmanthus · Winter Warmers — manufacturing freshness all year round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" y="155448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035040" y="1554480"/>
            <a:ext cx="566928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75564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1664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· Fresh Fruit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995160" y="20116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around seasonal fruit like strawberry and peach, delivering the crisp, sensory feel of 'spring's first sip.'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2688336"/>
            <a:ext cx="566928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2889504"/>
            <a:ext cx="603504" cy="6035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95160" y="27980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 · Fizz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995160" y="314553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flagship season — carbonated fizz plus fruit-pulp texture — the single largest share of annual sales at 34%.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035040" y="3822192"/>
            <a:ext cx="566928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4023360"/>
            <a:ext cx="603504" cy="60350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9516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Autumn · Osmanthus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995160" y="427939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Osmanthus and oolong-led flavors, paired with city tourism tie-ins to create 'autumn-limited' buzz.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035040" y="4956048"/>
            <a:ext cx="566928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5157216"/>
            <a:ext cx="603504" cy="60350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95160" y="50657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 · Warmers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6995160" y="541324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hot-drink line fills the winter gap; a warm, comforting concept plays off year-end collab momentum.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Blueprint · Pillar 3 · Tactic 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Wellness Line: Zero-Sugar/Low-Cal Mix Growing from 9% to 35%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wellness line into a second growth curve over three years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600200"/>
          <a:ext cx="63093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178040" y="1600200"/>
            <a:ext cx="402336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5151F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698480" y="176479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6B6B76"/>
          </a:solidFill>
          <a:ln/>
        </p:spPr>
      </p:sp>
      <p:sp>
        <p:nvSpPr>
          <p:cNvPr id="12" name="Text 9"/>
          <p:cNvSpPr/>
          <p:nvPr/>
        </p:nvSpPr>
        <p:spPr>
          <a:xfrm>
            <a:off x="1069848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79208" y="2020824"/>
            <a:ext cx="356616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pPr algn="l" indent="0" marL="0">
              <a:buNone/>
            </a:pPr>
            <a:r>
              <a:rPr lang="en-US" sz="1800" b="1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7379208" y="2889504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starting share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79208" y="3236976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Wellness line just launched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178040" y="1600200"/>
            <a:ext cx="402336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5151F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0698480" y="176479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18" name="Text 15"/>
          <p:cNvSpPr/>
          <p:nvPr/>
        </p:nvSpPr>
        <p:spPr>
          <a:xfrm>
            <a:off x="1069848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379208" y="2020824"/>
            <a:ext cx="356616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pPr algn="l" indent="0" marL="0">
              <a:buNone/>
            </a:pPr>
            <a:r>
              <a:rPr lang="en-US" sz="18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000" dirty="0"/>
          </a:p>
        </p:txBody>
      </p:sp>
      <p:sp>
        <p:nvSpPr>
          <p:cNvPr id="20" name="Text 17"/>
          <p:cNvSpPr/>
          <p:nvPr/>
        </p:nvSpPr>
        <p:spPr>
          <a:xfrm>
            <a:off x="7379208" y="2889504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target share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379208" y="3236976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growth curve established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178040" y="1600200"/>
            <a:ext cx="402336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5151F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698480" y="176479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6B6B76"/>
          </a:solidFill>
          <a:ln/>
        </p:spPr>
      </p:sp>
      <p:sp>
        <p:nvSpPr>
          <p:cNvPr id="24" name="Text 21"/>
          <p:cNvSpPr/>
          <p:nvPr/>
        </p:nvSpPr>
        <p:spPr>
          <a:xfrm>
            <a:off x="1069848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379208" y="2020824"/>
            <a:ext cx="356616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pPr algn="l" indent="0" marL="0">
              <a:buNone/>
            </a:pPr>
            <a:r>
              <a:rPr lang="en-US" sz="1800" b="1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000" dirty="0"/>
          </a:p>
        </p:txBody>
      </p:sp>
      <p:sp>
        <p:nvSpPr>
          <p:cNvPr id="26" name="Text 23"/>
          <p:cNvSpPr/>
          <p:nvPr/>
        </p:nvSpPr>
        <p:spPr>
          <a:xfrm>
            <a:off x="7379208" y="2889504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starting share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379208" y="3236976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Wellness line just launched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178040" y="3749040"/>
            <a:ext cx="402336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5151F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10698480" y="391363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30" name="Text 27"/>
          <p:cNvSpPr/>
          <p:nvPr/>
        </p:nvSpPr>
        <p:spPr>
          <a:xfrm>
            <a:off x="10698480" y="3913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379208" y="4169664"/>
            <a:ext cx="356616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pPr algn="l" indent="0" marL="0">
              <a:buNone/>
            </a:pPr>
            <a:r>
              <a:rPr lang="en-US" sz="18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000" dirty="0"/>
          </a:p>
        </p:txBody>
      </p:sp>
      <p:sp>
        <p:nvSpPr>
          <p:cNvPr id="32" name="Text 29"/>
          <p:cNvSpPr/>
          <p:nvPr/>
        </p:nvSpPr>
        <p:spPr>
          <a:xfrm>
            <a:off x="7379208" y="5038344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target share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379208" y="5385816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growth curve established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7178040" y="58704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Drivers: real-fruit-juice base breakthroughs · sweetener taste optimization · certified transparent low-cal labeling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Blueprint · Pillar 3 · Tactic 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Pipeline: From Insight to Launch in 8 Weeks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standardized development process compresses launch cycles to fuel the four-season flywheel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55064" y="3291840"/>
            <a:ext cx="8851392" cy="0"/>
          </a:xfrm>
          <a:prstGeom prst="line">
            <a:avLst/>
          </a:prstGeom>
          <a:noFill/>
          <a:ln w="25400">
            <a:solidFill>
              <a:srgbClr val="A6A6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53896" y="3090672"/>
            <a:ext cx="402336" cy="402336"/>
          </a:xfrm>
          <a:prstGeom prst="ellipse">
            <a:avLst/>
          </a:prstGeom>
          <a:solidFill>
            <a:srgbClr val="FF2E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53896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" y="1691640"/>
            <a:ext cx="19933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5151F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9808" y="178308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1-2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20391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Insight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9808" y="238658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listening + competitor scan + taste research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655064" y="2880360"/>
            <a:ext cx="0" cy="210312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666744" y="3090672"/>
            <a:ext cx="402336" cy="402336"/>
          </a:xfrm>
          <a:prstGeom prst="ellipse">
            <a:avLst/>
          </a:prstGeom>
          <a:solidFill>
            <a:srgbClr val="00C2A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66744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871216" y="3703320"/>
            <a:ext cx="19933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5151F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962656" y="379476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3-4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62656" y="405079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 R&amp;D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962656" y="439826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R&amp;D lab prototyping + blind taste tests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67912" y="3493008"/>
            <a:ext cx="0" cy="210312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879592" y="3090672"/>
            <a:ext cx="402336" cy="402336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79592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84064" y="1691640"/>
            <a:ext cx="19933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5151F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75504" y="178308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5-6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75504" y="20391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Readiness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175504" y="238658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Ingredient sourcing + store equipment compatibility check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80760" y="2880360"/>
            <a:ext cx="0" cy="210312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8092440" y="3090672"/>
            <a:ext cx="402336" cy="402336"/>
          </a:xfrm>
          <a:prstGeom prst="ellipse">
            <a:avLst/>
          </a:prstGeom>
          <a:solidFill>
            <a:srgbClr val="FF2E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9244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296912" y="3703320"/>
            <a:ext cx="19933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5151F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388352" y="379476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88352" y="405079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Pilot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388352" y="439826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pilot at 10 stores + data collection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293608" y="3493008"/>
            <a:ext cx="0" cy="210312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10305288" y="3090672"/>
            <a:ext cx="402336" cy="402336"/>
          </a:xfrm>
          <a:prstGeom prst="ellipse">
            <a:avLst/>
          </a:prstGeom>
          <a:solidFill>
            <a:srgbClr val="00C2A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05288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509760" y="1691640"/>
            <a:ext cx="19933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5151F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601200" y="178308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601200" y="20391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Launch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601200" y="238658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Simultaneous omnichannel launch + content push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0506456" y="2880360"/>
            <a:ext cx="0" cy="210312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Blueprint · Flywheel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Flywheel: Buzz, Conversion, Repeat, Referral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stages reinforce one another, forming a self-sustaining national growth engine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20640" y="3200400"/>
            <a:ext cx="1920240" cy="1920240"/>
          </a:xfrm>
          <a:prstGeom prst="ellipse">
            <a:avLst/>
          </a:prstGeom>
          <a:solidFill>
            <a:srgbClr val="15151F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320040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VivaFizz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Flywheel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66160" y="1645920"/>
            <a:ext cx="5029200" cy="5029200"/>
          </a:xfrm>
          <a:prstGeom prst="ellipse">
            <a:avLst/>
          </a:prstGeom>
          <a:ln w="19050">
            <a:solidFill>
              <a:srgbClr val="A6A6B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303520" y="1645920"/>
            <a:ext cx="1554480" cy="15544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F2E7E"/>
            </a:solidFill>
            <a:prstDash val="solid"/>
          </a:ln>
          <a:effectLst>
            <a:outerShdw sx="100000" sy="100000" kx="0" ky="0" algn="bl" rotWithShape="0" blurRad="76200" dist="38100" dir="5400000">
              <a:srgbClr val="15151F">
                <a:alpha val="12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1965960"/>
            <a:ext cx="585216" cy="5852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212080" y="256946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Buzz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040880" y="3383280"/>
            <a:ext cx="1554480" cy="15544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C2A8"/>
            </a:solidFill>
            <a:prstDash val="solid"/>
          </a:ln>
          <a:effectLst>
            <a:outerShdw sx="100000" sy="100000" kx="0" ky="0" algn="bl" rotWithShape="0" blurRad="76200" dist="38100" dir="5400000">
              <a:srgbClr val="15151F">
                <a:alpha val="12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512" y="3703320"/>
            <a:ext cx="585216" cy="58521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49440" y="430682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Conversion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303520" y="5120640"/>
            <a:ext cx="1554480" cy="15544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FD23F"/>
            </a:solidFill>
            <a:prstDash val="solid"/>
          </a:ln>
          <a:effectLst>
            <a:outerShdw sx="100000" sy="100000" kx="0" ky="0" algn="bl" rotWithShape="0" blurRad="76200" dist="38100" dir="5400000">
              <a:srgbClr val="15151F">
                <a:alpha val="1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5440680"/>
            <a:ext cx="585216" cy="58521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12080" y="60441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Repeat Purchase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566160" y="3383280"/>
            <a:ext cx="1554480" cy="15544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F2E7E"/>
            </a:solidFill>
            <a:prstDash val="solid"/>
          </a:ln>
          <a:effectLst>
            <a:outerShdw sx="100000" sy="100000" kx="0" ky="0" algn="bl" rotWithShape="0" blurRad="76200" dist="38100" dir="5400000">
              <a:srgbClr val="15151F">
                <a:alpha val="12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3703320"/>
            <a:ext cx="585216" cy="5852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474720" y="430682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Word-of-Mouth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235440" y="1508760"/>
            <a:ext cx="25146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5151F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400032" y="1636776"/>
            <a:ext cx="365760" cy="219456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26" name="Text 20"/>
          <p:cNvSpPr/>
          <p:nvPr/>
        </p:nvSpPr>
        <p:spPr>
          <a:xfrm>
            <a:off x="9400032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Buzz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9400032" y="213055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Four-season IP crossovers and a three-line content matrix keep generating buzz, lifting national awareness.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9235440" y="2752344"/>
            <a:ext cx="25146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5151F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400032" y="2880360"/>
            <a:ext cx="365760" cy="219456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30" name="Text 24"/>
          <p:cNvSpPr/>
          <p:nvPr/>
        </p:nvSpPr>
        <p:spPr>
          <a:xfrm>
            <a:off x="9400032" y="31181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Conversion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9400032" y="3374136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In-store check-in design and promotional activation convert online buzz into store visits.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9235440" y="3995928"/>
            <a:ext cx="25146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5151F">
                <a:alpha val="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9400032" y="4123944"/>
            <a:ext cx="365760" cy="219456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34" name="Text 28"/>
          <p:cNvSpPr/>
          <p:nvPr/>
        </p:nvSpPr>
        <p:spPr>
          <a:xfrm>
            <a:off x="9400032" y="43616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Repeat Purchase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9400032" y="461772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Points, tiers, and referral loops build lasting membership equity and drive high-frequency repeat visits.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9235440" y="5239512"/>
            <a:ext cx="25146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5151F">
                <a:alpha val="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9400032" y="5367528"/>
            <a:ext cx="365760" cy="219456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8" name="Text 32"/>
          <p:cNvSpPr/>
          <p:nvPr/>
        </p:nvSpPr>
        <p:spPr>
          <a:xfrm>
            <a:off x="9400032" y="5605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Word-of-Mouth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9400032" y="586130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 content and social sharing feed back into brand buzz, closing the flywheel's self-reinforcing loop.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Roadmap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&amp; CRM Operations: A Three-Channel Architecture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Mini-program + WeCom + Douyin group-buy form a unified, data-connected CRM operating loop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353568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9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260604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Mini-Program Store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3017520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hub for points, tiers, and perks — unifying online ordering with in-store redemption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12920" y="1600200"/>
            <a:ext cx="353568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9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240" y="182880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87240" y="260604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WeCom Community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87240" y="3017520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1-on-1 service plus group management drive high-frequency engagement, new-product previews, and exclusive perks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168640" y="1600200"/>
            <a:ext cx="353568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9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960" y="182880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42960" y="260604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Douyin Group-Buy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442960" y="3017520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local-lifestyle traffic gateway — group-buy vouchers link directly to in-store redemption, the main acquisition channel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3108960" y="4297680"/>
            <a:ext cx="5943600" cy="1508760"/>
          </a:xfrm>
          <a:prstGeom prst="roundRect">
            <a:avLst>
              <a:gd name="adj" fmla="val 8485"/>
            </a:avLst>
          </a:prstGeom>
          <a:solidFill>
            <a:srgbClr val="15151F"/>
          </a:solidFill>
          <a:ln/>
        </p:spPr>
      </p:sp>
      <p:sp>
        <p:nvSpPr>
          <p:cNvPr id="22" name="Text 17"/>
          <p:cNvSpPr/>
          <p:nvPr/>
        </p:nvSpPr>
        <p:spPr>
          <a:xfrm>
            <a:off x="3383280" y="444398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Data Platform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3383280" y="4809744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unified member ID connects behavioral data across all three channels, powering personalized marketing and repeat-purchase prediction models.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1737360" y="3886200"/>
            <a:ext cx="0" cy="411480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25" name="Shape 20"/>
          <p:cNvSpPr/>
          <p:nvPr/>
        </p:nvSpPr>
        <p:spPr>
          <a:xfrm>
            <a:off x="6080760" y="3886200"/>
            <a:ext cx="0" cy="411480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26" name="Shape 21"/>
          <p:cNvSpPr/>
          <p:nvPr/>
        </p:nvSpPr>
        <p:spPr>
          <a:xfrm>
            <a:off x="10424160" y="3886200"/>
            <a:ext cx="0" cy="411480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Roadmap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&amp; Store Operations Upgrade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production, regional distribution hubs, and standardized training underpin national replication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3535680" cy="4297680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" y="1801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74520"/>
            <a:ext cx="310896" cy="3108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6656" y="2377440"/>
            <a:ext cx="309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Production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76656" y="2834640"/>
            <a:ext cx="309676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East China HQ facility standardizes ingredient pre-processing, ensuring consistent flavor and food-safety traceability nationwide.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12920" y="1600200"/>
            <a:ext cx="3535680" cy="4297680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32376" y="1801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528" y="1874520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32376" y="2377440"/>
            <a:ext cx="309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Distribution Hubs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4532376" y="2834640"/>
            <a:ext cx="309676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Hubs in South, North, and Southwest China complete store restocking within 48 hours, cutting waste and stockout rates.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168640" y="1600200"/>
            <a:ext cx="3535680" cy="4297680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88096" y="1801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248" y="1874520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88096" y="2377440"/>
            <a:ext cx="309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Store Training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8388096" y="2834640"/>
            <a:ext cx="309676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dual-track system of HQ bootcamps and on-site coaching lifts new store-manager certification pass rates to above 95%.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Roadmap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&amp; Team Planning: HQ Upgrade + Regional Task Forces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matrixed org structure supports parallel execution across regions nationwide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80560" y="1554480"/>
            <a:ext cx="3200400" cy="685800"/>
          </a:xfrm>
          <a:prstGeom prst="roundRect">
            <a:avLst>
              <a:gd name="adj" fmla="val 13333"/>
            </a:avLst>
          </a:prstGeom>
          <a:solidFill>
            <a:srgbClr val="15151F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5544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Office · National Strategy Command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760220" y="2240280"/>
            <a:ext cx="0" cy="320040"/>
          </a:xfrm>
          <a:prstGeom prst="line">
            <a:avLst/>
          </a:prstGeom>
          <a:noFill/>
          <a:ln w="19050">
            <a:solidFill>
              <a:srgbClr val="A6A6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60320"/>
            <a:ext cx="2606040" cy="621792"/>
          </a:xfrm>
          <a:prstGeom prst="roundRect">
            <a:avLst>
              <a:gd name="adj" fmla="val 14706"/>
            </a:avLst>
          </a:prstGeom>
          <a:solidFill>
            <a:srgbClr val="FF2E7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5603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&amp; Marketing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40580" y="2240280"/>
            <a:ext cx="0" cy="320040"/>
          </a:xfrm>
          <a:prstGeom prst="line">
            <a:avLst/>
          </a:prstGeom>
          <a:noFill/>
          <a:ln w="19050">
            <a:solidFill>
              <a:srgbClr val="A6A6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2560320"/>
            <a:ext cx="2606040" cy="621792"/>
          </a:xfrm>
          <a:prstGeom prst="roundRect">
            <a:avLst>
              <a:gd name="adj" fmla="val 14706"/>
            </a:avLst>
          </a:prstGeom>
          <a:solidFill>
            <a:srgbClr val="00C2A8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25603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20940" y="2240280"/>
            <a:ext cx="0" cy="320040"/>
          </a:xfrm>
          <a:prstGeom prst="line">
            <a:avLst/>
          </a:prstGeom>
          <a:noFill/>
          <a:ln w="19050">
            <a:solidFill>
              <a:srgbClr val="A6A6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560320"/>
            <a:ext cx="2606040" cy="621792"/>
          </a:xfrm>
          <a:prstGeom prst="roundRect">
            <a:avLst>
              <a:gd name="adj" fmla="val 14706"/>
            </a:avLst>
          </a:prstGeom>
          <a:solidFill>
            <a:srgbClr val="FFD23F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5603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401300" y="2240280"/>
            <a:ext cx="0" cy="320040"/>
          </a:xfrm>
          <a:prstGeom prst="line">
            <a:avLst/>
          </a:prstGeom>
          <a:noFill/>
          <a:ln w="19050">
            <a:solidFill>
              <a:srgbClr val="A6A6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8280" y="2560320"/>
            <a:ext cx="2606040" cy="621792"/>
          </a:xfrm>
          <a:prstGeom prst="roundRect">
            <a:avLst>
              <a:gd name="adj" fmla="val 14706"/>
            </a:avLst>
          </a:prstGeom>
          <a:solidFill>
            <a:srgbClr val="FF2E7E"/>
          </a:solidFill>
          <a:ln/>
        </p:spPr>
      </p:sp>
      <p:sp>
        <p:nvSpPr>
          <p:cNvPr id="22" name="Text 20"/>
          <p:cNvSpPr/>
          <p:nvPr/>
        </p:nvSpPr>
        <p:spPr>
          <a:xfrm>
            <a:off x="9098280" y="25603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Franchise Development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80760" y="3182112"/>
            <a:ext cx="0" cy="292608"/>
          </a:xfrm>
          <a:prstGeom prst="line">
            <a:avLst/>
          </a:prstGeom>
          <a:noFill/>
          <a:ln w="19050">
            <a:solidFill>
              <a:srgbClr val="A6A6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51960" y="3474720"/>
            <a:ext cx="3657600" cy="548640"/>
          </a:xfrm>
          <a:prstGeom prst="roundRect">
            <a:avLst>
              <a:gd name="adj" fmla="val 16667"/>
            </a:avLst>
          </a:prstGeom>
          <a:solidFill>
            <a:srgbClr val="E8DFCF"/>
          </a:solidFill>
          <a:ln/>
        </p:spPr>
      </p:sp>
      <p:sp>
        <p:nvSpPr>
          <p:cNvPr id="25" name="Text 23"/>
          <p:cNvSpPr/>
          <p:nvPr/>
        </p:nvSpPr>
        <p:spPr>
          <a:xfrm>
            <a:off x="4251960" y="3474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Task Forces (East / South / North / Southwest)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760220" y="4023360"/>
            <a:ext cx="0" cy="320040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57200" y="43434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" y="4480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China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482803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GM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expansion/ops/supply chain teams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40580" y="4023360"/>
            <a:ext cx="0" cy="320040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3337560" y="43434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0" y="4480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China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74720" y="482803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GM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expansion/ops/supply chain teams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520940" y="4023360"/>
            <a:ext cx="0" cy="320040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217920" y="43434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55080" y="4480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China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55080" y="482803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GM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expansion/ops/supply chain teams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401300" y="4023360"/>
            <a:ext cx="0" cy="320040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9098280" y="43434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5151F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235440" y="4480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 China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235440" y="482803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GM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expansion/ops/supply chain teams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Roadmap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Roadmap Year 1 (2025): Four Quarterly Milestones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Deepen East China → Pilot South China → Build data platform → Recruit first franchisees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31670" y="3291840"/>
            <a:ext cx="8298180" cy="0"/>
          </a:xfrm>
          <a:prstGeom prst="line">
            <a:avLst/>
          </a:prstGeom>
          <a:noFill/>
          <a:ln w="25400">
            <a:solidFill>
              <a:srgbClr val="A6A6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0502" y="3090672"/>
            <a:ext cx="402336" cy="402336"/>
          </a:xfrm>
          <a:prstGeom prst="ellipse">
            <a:avLst/>
          </a:prstGeom>
          <a:solidFill>
            <a:srgbClr val="FF2E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0502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" y="1691640"/>
            <a:ext cx="254660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5151F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9808" y="1783080"/>
            <a:ext cx="2363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2039112"/>
            <a:ext cx="2363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Deepen East China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9808" y="2386584"/>
            <a:ext cx="2363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flagship store model + optimize productivity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931670" y="2880360"/>
            <a:ext cx="0" cy="210312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496562" y="3090672"/>
            <a:ext cx="402336" cy="402336"/>
          </a:xfrm>
          <a:prstGeom prst="ellipse">
            <a:avLst/>
          </a:prstGeom>
          <a:solidFill>
            <a:srgbClr val="00C2A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96562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24428" y="3703320"/>
            <a:ext cx="254660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5151F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15868" y="3794760"/>
            <a:ext cx="2363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15868" y="4050792"/>
            <a:ext cx="2363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South China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515868" y="4398264"/>
            <a:ext cx="2363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10 pilot stores open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97730" y="3493008"/>
            <a:ext cx="0" cy="210312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262622" y="3090672"/>
            <a:ext cx="402336" cy="402336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62622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90488" y="1691640"/>
            <a:ext cx="254660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5151F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81928" y="1783080"/>
            <a:ext cx="2363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81928" y="2039112"/>
            <a:ext cx="2363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Data Platform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81928" y="2386584"/>
            <a:ext cx="2363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data platform + Phase 1 distribution hub live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463790" y="2880360"/>
            <a:ext cx="0" cy="210312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10028682" y="3090672"/>
            <a:ext cx="402336" cy="402336"/>
          </a:xfrm>
          <a:prstGeom prst="ellipse">
            <a:avLst/>
          </a:prstGeom>
          <a:solidFill>
            <a:srgbClr val="FF2E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28682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956548" y="3703320"/>
            <a:ext cx="254660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5151F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047988" y="3794760"/>
            <a:ext cx="2363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047988" y="4050792"/>
            <a:ext cx="2363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Franchisee Cohort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047988" y="4398264"/>
            <a:ext cx="2363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Franchisee recruitment launch + 90-day SOP trial run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229850" y="3493008"/>
            <a:ext cx="0" cy="210312"/>
          </a:xfrm>
          <a:prstGeom prst="line">
            <a:avLst/>
          </a:prstGeom>
          <a:noFill/>
          <a:ln w="19050">
            <a:solidFill>
              <a:srgbClr val="A6A6B0"/>
            </a:solidFill>
            <a:prstDash val="dash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Roadmap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Roadmap Year 2-3: National Rollout Gantt Chart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city launches across South, North, and Southwest China, with franchise share rising each year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(consolidate)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77440" y="1737360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DF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1819656"/>
            <a:ext cx="4206240" cy="493776"/>
          </a:xfrm>
          <a:prstGeom prst="roundRect">
            <a:avLst>
              <a:gd name="adj" fmla="val 14815"/>
            </a:avLst>
          </a:prstGeom>
          <a:solidFill>
            <a:srgbClr val="FF2E7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52374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(scale up)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77440" y="2523744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DF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606040"/>
            <a:ext cx="8412480" cy="493776"/>
          </a:xfrm>
          <a:prstGeom prst="roundRect">
            <a:avLst>
              <a:gd name="adj" fmla="val 14815"/>
            </a:avLst>
          </a:prstGeom>
          <a:solidFill>
            <a:srgbClr val="00C2A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3101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(launch)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77440" y="3310128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DF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3392424"/>
            <a:ext cx="7360920" cy="493776"/>
          </a:xfrm>
          <a:prstGeom prst="roundRect">
            <a:avLst>
              <a:gd name="adj" fmla="val 14815"/>
            </a:avLst>
          </a:prstGeom>
          <a:solidFill>
            <a:srgbClr val="FFD23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09651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 (launch)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77440" y="4096512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DFC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4178808"/>
            <a:ext cx="6309360" cy="493776"/>
          </a:xfrm>
          <a:prstGeom prst="roundRect">
            <a:avLst>
              <a:gd name="adj" fmla="val 14815"/>
            </a:avLst>
          </a:prstGeom>
          <a:solidFill>
            <a:srgbClr val="FF2E7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88289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Franchisee scale-up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377440" y="4882896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DFC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32120" y="4965192"/>
            <a:ext cx="5257800" cy="493776"/>
          </a:xfrm>
          <a:prstGeom prst="roundRect">
            <a:avLst>
              <a:gd name="adj" fmla="val 14815"/>
            </a:avLst>
          </a:prstGeom>
          <a:solidFill>
            <a:srgbClr val="00C2A8"/>
          </a:solidFill>
          <a:ln/>
        </p:spPr>
      </p:sp>
      <p:sp>
        <p:nvSpPr>
          <p:cNvPr id="24" name="Text 22"/>
          <p:cNvSpPr/>
          <p:nvPr/>
        </p:nvSpPr>
        <p:spPr>
          <a:xfrm>
            <a:off x="2377440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80560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0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Q1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Q3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Roadmap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First-90-Days Action Plan: A 13-Week Checklist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actions to launch immediately upon approval, securing the first-mover window for national rollout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112471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5151F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" y="1673352"/>
            <a:ext cx="822960" cy="402336"/>
          </a:xfrm>
          <a:prstGeom prst="roundRect">
            <a:avLst>
              <a:gd name="adj" fmla="val 22727"/>
            </a:avLst>
          </a:prstGeom>
          <a:solidFill>
            <a:srgbClr val="FF2E7E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6733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W1-2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9164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194560" y="1572768"/>
            <a:ext cx="9326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the national expansion task force; name regional leads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2258568"/>
            <a:ext cx="112471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5151F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" y="2359152"/>
            <a:ext cx="822960" cy="402336"/>
          </a:xfrm>
          <a:prstGeom prst="roundRect">
            <a:avLst>
              <a:gd name="adj" fmla="val 22727"/>
            </a:avLst>
          </a:prstGeom>
          <a:solidFill>
            <a:srgbClr val="00C2A8"/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" y="23591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W3-4</a:t>
            </a:r>
            <a:endParaRPr lang="en-US" sz="11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37744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194560" y="2258568"/>
            <a:ext cx="9326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 off member data platform requirements and vendor selection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457200" y="2944368"/>
            <a:ext cx="112471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5151F">
                <a:alpha val="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1792" y="3044952"/>
            <a:ext cx="822960" cy="402336"/>
          </a:xfrm>
          <a:prstGeom prst="roundRect">
            <a:avLst>
              <a:gd name="adj" fmla="val 22727"/>
            </a:avLst>
          </a:prstGeom>
          <a:solidFill>
            <a:srgbClr val="FFD23F"/>
          </a:solidFill>
          <a:ln/>
        </p:spPr>
      </p:sp>
      <p:sp>
        <p:nvSpPr>
          <p:cNvPr id="21" name="Text 17"/>
          <p:cNvSpPr/>
          <p:nvPr/>
        </p:nvSpPr>
        <p:spPr>
          <a:xfrm>
            <a:off x="621792" y="30449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W5-6</a:t>
            </a:r>
            <a:endParaRPr lang="en-US" sz="11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306324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194560" y="2944368"/>
            <a:ext cx="9326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South China distribution hub site; sign supply agreements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457200" y="3630168"/>
            <a:ext cx="112471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5151F">
                <a:alpha val="6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21792" y="3730752"/>
            <a:ext cx="822960" cy="402336"/>
          </a:xfrm>
          <a:prstGeom prst="roundRect">
            <a:avLst>
              <a:gd name="adj" fmla="val 22727"/>
            </a:avLst>
          </a:prstGeom>
          <a:solidFill>
            <a:srgbClr val="FF2E7E"/>
          </a:solidFill>
          <a:ln/>
        </p:spPr>
      </p:sp>
      <p:sp>
        <p:nvSpPr>
          <p:cNvPr id="26" name="Text 21"/>
          <p:cNvSpPr/>
          <p:nvPr/>
        </p:nvSpPr>
        <p:spPr>
          <a:xfrm>
            <a:off x="621792" y="37307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W7-8</a:t>
            </a:r>
            <a:endParaRPr lang="en-US" sz="11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374904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194560" y="3630168"/>
            <a:ext cx="9326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Shortlist and negotiate contracts for the first IP crossover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457200" y="4315968"/>
            <a:ext cx="112471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5151F">
                <a:alpha val="6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21792" y="4416552"/>
            <a:ext cx="822960" cy="402336"/>
          </a:xfrm>
          <a:prstGeom prst="roundRect">
            <a:avLst>
              <a:gd name="adj" fmla="val 22727"/>
            </a:avLst>
          </a:prstGeom>
          <a:solidFill>
            <a:srgbClr val="00C2A8"/>
          </a:solidFill>
          <a:ln/>
        </p:spPr>
      </p:sp>
      <p:sp>
        <p:nvSpPr>
          <p:cNvPr id="31" name="Text 25"/>
          <p:cNvSpPr/>
          <p:nvPr/>
        </p:nvSpPr>
        <p:spPr>
          <a:xfrm>
            <a:off x="621792" y="44165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W9-10</a:t>
            </a:r>
            <a:endParaRPr lang="en-US" sz="115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40" y="4434840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194560" y="4315968"/>
            <a:ext cx="9326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franchisee recruitment policy; meet first prospective franchisees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457200" y="5001768"/>
            <a:ext cx="112471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5151F">
                <a:alpha val="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21792" y="5102352"/>
            <a:ext cx="822960" cy="402336"/>
          </a:xfrm>
          <a:prstGeom prst="roundRect">
            <a:avLst>
              <a:gd name="adj" fmla="val 22727"/>
            </a:avLst>
          </a:prstGeom>
          <a:solidFill>
            <a:srgbClr val="FFD23F"/>
          </a:solidFill>
          <a:ln/>
        </p:spPr>
      </p:sp>
      <p:sp>
        <p:nvSpPr>
          <p:cNvPr id="36" name="Text 29"/>
          <p:cNvSpPr/>
          <p:nvPr/>
        </p:nvSpPr>
        <p:spPr>
          <a:xfrm>
            <a:off x="621792" y="51023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W11-12</a:t>
            </a:r>
            <a:endParaRPr lang="en-US" sz="115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1640" y="5120640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2194560" y="5001768"/>
            <a:ext cx="9326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pilot stores for the 90-day SOP trial; finalize training materials</a:t>
            </a:r>
            <a:endParaRPr lang="en-US" sz="1250" dirty="0"/>
          </a:p>
        </p:txBody>
      </p:sp>
      <p:sp>
        <p:nvSpPr>
          <p:cNvPr id="39" name="Shape 31"/>
          <p:cNvSpPr/>
          <p:nvPr/>
        </p:nvSpPr>
        <p:spPr>
          <a:xfrm>
            <a:off x="457200" y="5687568"/>
            <a:ext cx="112471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5151F">
                <a:alpha val="6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621792" y="5788152"/>
            <a:ext cx="822960" cy="402336"/>
          </a:xfrm>
          <a:prstGeom prst="roundRect">
            <a:avLst>
              <a:gd name="adj" fmla="val 22727"/>
            </a:avLst>
          </a:prstGeom>
          <a:solidFill>
            <a:srgbClr val="FF2E7E"/>
          </a:solidFill>
          <a:ln/>
        </p:spPr>
      </p:sp>
      <p:sp>
        <p:nvSpPr>
          <p:cNvPr id="41" name="Text 33"/>
          <p:cNvSpPr/>
          <p:nvPr/>
        </p:nvSpPr>
        <p:spPr>
          <a:xfrm>
            <a:off x="621792" y="57881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W13</a:t>
            </a:r>
            <a:endParaRPr lang="en-US" sz="115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1640" y="5806440"/>
            <a:ext cx="365760" cy="36576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2194560" y="5687568"/>
            <a:ext cx="9326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first-phase retrospective; formally issue the Year 1 roadmap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Roadmap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Partner Responsibilities: RACI Matrix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ownership boundaries across HQ, regional teams, franchisees, and suppliers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3291840"/>
        </p:xfrm>
        <a:graphic>
          <a:graphicData uri="http://schemas.openxmlformats.org/drawingml/2006/table">
            <a:tbl>
              <a:tblPr/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HQ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Regional Team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Franchisee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Supplier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 &amp; IP Crossovers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 / 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 Selection &amp; Rollout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Supply Chain &amp; Distribution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Day-to-Day Store Operations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&amp; CRM Operations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 / 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Food Safety &amp; Compliance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5074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Responsible  ·  A = Accountable  ·  C = Consulted  ·  I = Informed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Governance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&amp; Resource Allocation: RMB 680M Over 3 Years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expansion and supply chain absorb most of the investment; digital and org-building secure long-term capability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600200"/>
          <a:ext cx="59436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766560" y="1600200"/>
            <a:ext cx="4937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5151F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31152" y="181965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FF2E7E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167335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Expansion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509760" y="1673352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 260M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744200" y="1673352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766560" y="2459736"/>
            <a:ext cx="4937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5151F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931152" y="267919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0C2A8"/>
          </a:solidFill>
          <a:ln/>
        </p:spPr>
      </p:sp>
      <p:sp>
        <p:nvSpPr>
          <p:cNvPr id="17" name="Text 14"/>
          <p:cNvSpPr/>
          <p:nvPr/>
        </p:nvSpPr>
        <p:spPr>
          <a:xfrm>
            <a:off x="7406640" y="253288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509760" y="2532888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 150M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744200" y="2532888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766560" y="3319272"/>
            <a:ext cx="4937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5151F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931152" y="35387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FFD23F"/>
          </a:solidFill>
          <a:ln/>
        </p:spPr>
      </p:sp>
      <p:sp>
        <p:nvSpPr>
          <p:cNvPr id="22" name="Text 19"/>
          <p:cNvSpPr/>
          <p:nvPr/>
        </p:nvSpPr>
        <p:spPr>
          <a:xfrm>
            <a:off x="7406640" y="339242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Upgrade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509760" y="3392424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 140M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744200" y="3392424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766560" y="4178808"/>
            <a:ext cx="4937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5151F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931152" y="439826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5151F"/>
          </a:solidFill>
          <a:ln/>
        </p:spPr>
      </p:sp>
      <p:sp>
        <p:nvSpPr>
          <p:cNvPr id="27" name="Text 24"/>
          <p:cNvSpPr/>
          <p:nvPr/>
        </p:nvSpPr>
        <p:spPr>
          <a:xfrm>
            <a:off x="7406640" y="425196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Build-Out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509760" y="425196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 80M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0744200" y="425196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766560" y="5038344"/>
            <a:ext cx="4937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5151F">
                <a:alpha val="7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931152" y="52578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A6A6B0"/>
          </a:solidFill>
          <a:ln/>
        </p:spPr>
      </p:sp>
      <p:sp>
        <p:nvSpPr>
          <p:cNvPr id="32" name="Text 29"/>
          <p:cNvSpPr/>
          <p:nvPr/>
        </p:nvSpPr>
        <p:spPr>
          <a:xfrm>
            <a:off x="7406640" y="511149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&amp; Training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509760" y="5111496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6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 50M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10744200" y="5111496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Governance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Dashboard: 12 Core Metrics at a Glance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 metrics plus process metrics, in a single dashboard for the monthly ops review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11247120" cy="489204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376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 Type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 Baseline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 Target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North Star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store count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North Star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revenue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RMB 650M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RMB 1.8B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North Star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Member repeat-purchase 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Cities covered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Private-domain reach 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Wellness product mix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Franchisee churn 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Avg. monthly sales/sqm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RMB 1,650/sqm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RMB 2,100/sqm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SKUs launched/year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UGC content volume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 posts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3,000 posts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Member tier penetration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Food-safety compliance 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Governance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Projections: Revenue, Store Count &amp; Gross Margin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expansion and margin improvement move together, validating the strategy's financial health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1572768"/>
          <a:ext cx="112471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Governance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Matrix &amp; Mitigation Plans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key risks and their controls, tracked monthly at the regional war-room review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292608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Potential Impact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 Plan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Raw-material price volatility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margin pressure of 1-3 pts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price-lock agreements + multi-supplier bidding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Franchisee governance breakdown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 and food-safety risk spillover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Standardized SOPs + regional on-site audits + bottom-tier exit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Rising category homogenization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 CAC / pressure on average ticket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IP-collab differentiation + faster R&amp;D pipeline iteration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Food-safety incident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Sharp drop in brand trust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End-to-end traceability + quarterly surprise inspections + crisis drills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709160"/>
            <a:ext cx="11247120" cy="1417320"/>
          </a:xfrm>
          <a:prstGeom prst="roundRect">
            <a:avLst>
              <a:gd name="adj" fmla="val 9032"/>
            </a:avLst>
          </a:prstGeom>
          <a:solidFill>
            <a:srgbClr val="15151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93776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48463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principles: tiered early warning · local ownership · monthly review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554480" y="523036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risk item is a standing agenda item at the monthly regional review; breaching a warning threshold auto-escalates to the HQ Risk Committee.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Governance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Benchmarking: How Industry Leaders Grow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Anonymized benchmarking of three representative playbooks to sharpen VivaFizz's differentiation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3200400"/>
        </p:xfrm>
        <a:graphic>
          <a:graphicData uri="http://schemas.openxmlformats.org/drawingml/2006/table">
            <a:tbl>
              <a:tblPr/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Benchmark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Playbook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 Count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Avg. Ticket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VivaFizz's Edge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Industry Leader 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 national chain · steady expansion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2,800+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RMB 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Sensory-fizz differentiation vs. category sameness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Industry Leader 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Mass-market · deep lower-tier penetration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5,600+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RMB 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Wellness positioning avoids pure price competition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Industry Leader 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 collabs · buzz-driven marketing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1,200+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RMB 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Mid-price + high-frequency collabs balance value and buzz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Regional Dark Horse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price, fast rollout · regional focus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RMB 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5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supply chain builds a scale moat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benchmarks above are anonymized composites drawn from public industry information, for strategic reference only — not an identification of any specific company.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Governance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Assurance: A Three-Tier Governance Cadence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regional reviews · quarterly strategy retros · annual kickoff form a closed-loop 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3535680" cy="4297680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1810512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18105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7040" y="1737360"/>
            <a:ext cx="640080" cy="640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3232" y="2423160"/>
            <a:ext cx="3023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Regional Review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13232" y="2971800"/>
            <a:ext cx="30236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GMs report on store openings, unit economics, and CRM data; flag risks and set next month's actions.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312920" y="1600200"/>
            <a:ext cx="3535680" cy="4297680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9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68952" y="1810512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17" name="Text 14"/>
          <p:cNvSpPr/>
          <p:nvPr/>
        </p:nvSpPr>
        <p:spPr>
          <a:xfrm>
            <a:off x="4568952" y="18105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</a:t>
            </a:r>
            <a:endParaRPr lang="en-US" sz="12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760" y="1737360"/>
            <a:ext cx="640080" cy="640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68952" y="2423160"/>
            <a:ext cx="3023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Strategy Retro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4568952" y="2971800"/>
            <a:ext cx="30236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strategy command reviews progress against the four tactics relative to the North Star goals and recalibrates resourcing.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168640" y="1600200"/>
            <a:ext cx="3535680" cy="4297680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5151F">
                <a:alpha val="9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424672" y="1810512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23" name="Text 19"/>
          <p:cNvSpPr/>
          <p:nvPr/>
        </p:nvSpPr>
        <p:spPr>
          <a:xfrm>
            <a:off x="8424672" y="18105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Annually</a:t>
            </a:r>
            <a:endParaRPr lang="en-US" sz="1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1737360"/>
            <a:ext cx="640080" cy="6400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424672" y="2423160"/>
            <a:ext cx="3023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Kickoff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8424672" y="2971800"/>
            <a:ext cx="30236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gathering of franchisees and HQ teams to announce next year's targets and incentive plans and rally the organization.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4015740" y="3611880"/>
            <a:ext cx="274320" cy="274320"/>
          </a:xfrm>
          <a:prstGeom prst="rightArrow">
            <a:avLst/>
          </a:prstGeom>
          <a:solidFill>
            <a:srgbClr val="A6A6B0"/>
          </a:solidFill>
          <a:ln/>
        </p:spPr>
      </p:sp>
      <p:sp>
        <p:nvSpPr>
          <p:cNvPr id="28" name="Shape 23"/>
          <p:cNvSpPr/>
          <p:nvPr/>
        </p:nvSpPr>
        <p:spPr>
          <a:xfrm>
            <a:off x="7871460" y="3611880"/>
            <a:ext cx="274320" cy="274320"/>
          </a:xfrm>
          <a:prstGeom prst="rightArrow">
            <a:avLst/>
          </a:prstGeom>
          <a:solidFill>
            <a:srgbClr val="A6A6B0"/>
          </a:solidFill>
          <a:ln/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5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Governance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320040" cy="3200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Shape 4"/>
          <p:cNvSpPr/>
          <p:nvPr/>
        </p:nvSpPr>
        <p:spPr>
          <a:xfrm rot="720000">
            <a:off x="11064240" y="64008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FFD23F"/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5486400"/>
            <a:ext cx="411480" cy="411480"/>
          </a:xfrm>
          <a:prstGeom prst="triangle">
            <a:avLst/>
          </a:prstGeom>
          <a:solidFill>
            <a:srgbClr val="FF2E7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051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Next Steps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777240" y="214884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FF2E7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09397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Proven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43400" y="2093976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6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China has already proven the 'sensory fizz + low-sugar wellness' product concept and unit economics — the foundation for national replication is in place.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92608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00C2A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287121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Is Clear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43400" y="2871216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6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rejuvenation, channel expansion, and the product flywheel work in concert, backed by digital and organizational capability to hit the 3-year growth target.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370332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FFD2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364845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Is Managed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343400" y="3648456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6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tiered early-warning governance system plus standardized SOPs keep national-rollout execution risk within a controllable range.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" y="4892040"/>
            <a:ext cx="5577840" cy="685800"/>
          </a:xfrm>
          <a:prstGeom prst="roundRect">
            <a:avLst>
              <a:gd name="adj" fmla="val 49333"/>
            </a:avLst>
          </a:prstGeom>
          <a:solidFill>
            <a:srgbClr val="FF2E7E"/>
          </a:solidFill>
          <a:ln/>
          <a:effectLst>
            <a:outerShdw sx="100000" sy="100000" kx="0" ky="0" algn="bl" rotWithShape="0" blurRad="101600" dist="50800" dir="2700000">
              <a:srgbClr val="000000">
                <a:alpha val="8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489204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approve the strategic budget and launch Year 1 execution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 Fizz, No Vibe.” — Getting a nation of young people hooked on VivaFizz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33856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Data Sources &amp; Modeling Assumptions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transparency on data sources and key assumptions underpinning this report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75720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1124712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5151F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" y="170992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709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162763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Market-Size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1627632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Synthesized from published industry research and third-party data platforms (e.g. new-style tea industry whitepapers); sub-category growth rates are trend-based estimates.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1124712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5151F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" y="267004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2670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258775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Benchmarking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2587752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 and benchmarking sections are anonymized, drawn from publicly available information (store counts, price-band ranges); no undisclosed trade secrets are used.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1124712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5151F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" y="363016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354787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Operating Data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3547872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count, revenue, and repeat-purchase figures reflect the company's FY2024 internal operating ledger; 2025 onward are strategic planning estimates.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1124712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5151F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" y="459028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" y="4590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450799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Modeling Assumptions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31920" y="4507992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Gross-margin improvement assumes scale effects and centralized-procurement cost savings; revenue projections assume new-store ramp curves consistent with East China's historical performance.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394960"/>
            <a:ext cx="1124712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5151F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" y="555040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5550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17320" y="546811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&amp; Disclaimer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931920" y="5468112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report is a strategic planning reference. Actual execution data will follow the annual operating plan and audited financial statements; the latest internal version governs any discrepancy.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VivaFizz 2027 National Growth Strategy</dc:title>
  <dc:subject>PptxGenJS Presentation</dc:subject>
  <dc:creator>VivaFizz Strategy &amp; Insights</dc:creator>
  <cp:lastModifiedBy>VivaFizz Strategy &amp; Insights</cp:lastModifiedBy>
  <cp:revision>1</cp:revision>
  <dcterms:created xsi:type="dcterms:W3CDTF">2026-07-05T03:19:53Z</dcterms:created>
  <dcterms:modified xsi:type="dcterms:W3CDTF">2026-07-05T03:19:53Z</dcterms:modified>
</cp:coreProperties>
</file>