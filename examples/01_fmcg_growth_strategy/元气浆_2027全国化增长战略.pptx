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6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7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15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5151F"/>
                </a:solidFill>
                <a:latin typeface="Arial"/>
              </a:rPr>
              <a:t>大盘规模（¥亿）与细分增速（%）双轴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现制茶饮大盘规模(亿元)</c:v>
                </c:pt>
              </c:strCache>
            </c:strRef>
          </c:tx>
          <c:spPr>
            <a:solidFill>
              <a:srgbClr val="FFC9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2025E</c:v>
                  </c:pt>
                  <c:pt idx="3">
                    <c:v>2026E</c:v>
                  </c:pt>
                  <c:pt idx="4">
                    <c:v>2027E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2050</c:v>
                </c:pt>
                <c:pt idx="1">
                  <c:v>2340</c:v>
                </c:pt>
                <c:pt idx="2">
                  <c:v>2650</c:v>
                </c:pt>
                <c:pt idx="3">
                  <c:v>2930</c:v>
                </c:pt>
                <c:pt idx="4">
                  <c:v>3200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气泡/低糖果茶细分增速(%)</c:v>
                </c:pt>
              </c:strCache>
            </c:strRef>
          </c:tx>
          <c:spPr>
            <a:solidFill>
              <a:srgbClr val="00C2A8"/>
            </a:solidFill>
            <a:ln w="38100" cap="flat">
              <a:solidFill>
                <a:srgbClr val="00C2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2A8"/>
              </a:solidFill>
              <a:ln w="9525" cap="flat">
                <a:solidFill>
                  <a:srgbClr val="00C2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2025E</c:v>
                  </c:pt>
                  <c:pt idx="3">
                    <c:v>2026E</c:v>
                  </c:pt>
                  <c:pt idx="4">
                    <c:v>2027E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</c:v>
                </c:pt>
                <c:pt idx="1">
                  <c:v>19.5</c:v>
                </c:pt>
                <c:pt idx="2">
                  <c:v>21</c:v>
                </c:pt>
                <c:pt idx="3">
                  <c:v>22.2</c:v>
                </c:pt>
                <c:pt idx="4">
                  <c:v>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0"/>
        </c:scaling>
        <c:delete val="0"/>
        <c:axPos val="l"/>
        <c:majorGridlines>
          <c:spPr>
            <a:ln w="9525" cap="flat">
              <a:solidFill>
                <a:srgbClr val="E8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30"/>
        </c:scaling>
        <c:delete val="0"/>
        <c:axPos val="r"/>
        <c:majorGridlines>
          <c:spPr>
            <a:ln w="9525" cap="flat">
              <a:solidFill>
                <a:srgbClr val="E8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B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元气浆现状</c:v>
                </c:pt>
              </c:strCache>
            </c:strRef>
          </c:tx>
          <c:spPr>
            <a:solidFill>
              <a:srgbClr val="FF2E7E"/>
            </a:solidFill>
            <a:ln w="25400" cap="flat">
              <a:solidFill>
                <a:srgbClr val="FF2E7E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2E7E"/>
              </a:solidFill>
              <a:ln w="9525" cap="flat">
                <a:solidFill>
                  <a:srgbClr val="FF2E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知名度</c:v>
                  </c:pt>
                  <c:pt idx="1">
                    <c:v>美誉度</c:v>
                  </c:pt>
                  <c:pt idx="2">
                    <c:v>复购率</c:v>
                  </c:pt>
                  <c:pt idx="3">
                    <c:v>客单价</c:v>
                  </c:pt>
                  <c:pt idx="4">
                    <c:v>门店密度</c:v>
                  </c:pt>
                  <c:pt idx="5">
                    <c:v>数字化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65</c:v>
                </c:pt>
                <c:pt idx="3">
                  <c:v>70</c:v>
                </c:pt>
                <c:pt idx="4">
                  <c:v>42</c:v>
                </c:pt>
                <c:pt idx="5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行业标杆均值</c:v>
                </c:pt>
              </c:strCache>
            </c:strRef>
          </c:tx>
          <c:spPr>
            <a:solidFill>
              <a:srgbClr val="A6A6B0"/>
            </a:solidFill>
            <a:ln w="25400" cap="flat">
              <a:solidFill>
                <a:srgbClr val="A6A6B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A6A6B0"/>
              </a:solidFill>
              <a:ln w="9525" cap="flat">
                <a:solidFill>
                  <a:srgbClr val="A6A6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知名度</c:v>
                  </c:pt>
                  <c:pt idx="1">
                    <c:v>美誉度</c:v>
                  </c:pt>
                  <c:pt idx="2">
                    <c:v>复购率</c:v>
                  </c:pt>
                  <c:pt idx="3">
                    <c:v>客单价</c:v>
                  </c:pt>
                  <c:pt idx="4">
                    <c:v>门店密度</c:v>
                  </c:pt>
                  <c:pt idx="5">
                    <c:v>数字化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72</c:v>
                </c:pt>
                <c:pt idx="1">
                  <c:v>70</c:v>
                </c:pt>
                <c:pt idx="2">
                  <c:v>68</c:v>
                </c:pt>
                <c:pt idx="3">
                  <c:v>66</c:v>
                </c:pt>
                <c:pt idx="4">
                  <c:v>80</c:v>
                </c:pt>
                <c:pt idx="5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15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15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5151F"/>
                </a:solidFill>
                <a:latin typeface="Arial"/>
              </a:rPr>
              <a:t>直营/加盟门店占比结构（%）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直营占比(%)</c:v>
                </c:pt>
              </c:strCache>
            </c:strRef>
          </c:tx>
          <c:spPr>
            <a:solidFill>
              <a:srgbClr val="1515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加盟占比(%)</c:v>
                </c:pt>
              </c:strCache>
            </c:strRef>
          </c:tx>
          <c:spPr>
            <a:solidFill>
              <a:srgbClr val="FF2E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55</c:v>
                </c:pt>
                <c:pt idx="2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15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5151F"/>
                </a:solidFill>
                <a:latin typeface="Arial"/>
              </a:rPr>
              <a:t>全年销售额占比（%）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四季产品线占比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A8"/>
              </a:solidFill>
              <a:effectLst/>
            </c:spPr>
          </c:dPt>
          <c:dPt>
            <c:idx val="1"/>
            <c:bubble3D val="0"/>
            <c:spPr>
              <a:solidFill>
                <a:srgbClr val="FF2E7E"/>
              </a:solidFill>
              <a:effectLst/>
            </c:spPr>
          </c:dPt>
          <c:dPt>
            <c:idx val="2"/>
            <c:bubble3D val="0"/>
            <c:spPr>
              <a:solidFill>
                <a:srgbClr val="FFD23F"/>
              </a:solidFill>
              <a:effectLst/>
            </c:spPr>
          </c:dPt>
          <c:dPt>
            <c:idx val="3"/>
            <c:bubble3D val="0"/>
            <c:spPr>
              <a:solidFill>
                <a:srgbClr val="15151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春·鲜果系列</c:v>
                </c:pt>
                <c:pt idx="1">
                  <c:v>夏·气泡系列</c:v>
                </c:pt>
                <c:pt idx="2">
                  <c:v>秋·桂香系列</c:v>
                </c:pt>
                <c:pt idx="3">
                  <c:v>冬·热飨系列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24</c:v>
                </c:pt>
                <c:pt idx="1">
                  <c:v>34</c:v>
                </c:pt>
                <c:pt idx="2">
                  <c:v>20</c:v>
                </c:pt>
                <c:pt idx="3">
                  <c:v>22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15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5151F"/>
                </a:solidFill>
                <a:latin typeface="Arial"/>
              </a:rPr>
              <a:t>健康化产品线占比提升路径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0蔗糖/轻卡系列销售额占比(%)</c:v>
                </c:pt>
              </c:strCache>
            </c:strRef>
          </c:tx>
          <c:spPr>
            <a:solidFill>
              <a:srgbClr val="00C2A8"/>
            </a:solidFill>
            <a:ln w="50800" cap="flat">
              <a:solidFill>
                <a:srgbClr val="00C2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5151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2A8"/>
              </a:solidFill>
              <a:ln w="9525" cap="flat">
                <a:solidFill>
                  <a:srgbClr val="00C2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20</c:v>
                </c:pt>
                <c:pt idx="2">
                  <c:v>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5151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15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5151F"/>
                </a:solidFill>
                <a:latin typeface="Arial"/>
              </a:rPr>
              <a:t>3年预算分配（¥亿元）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预算分配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2E7E"/>
              </a:solidFill>
              <a:effectLst/>
            </c:spPr>
          </c:dPt>
          <c:dPt>
            <c:idx val="1"/>
            <c:bubble3D val="0"/>
            <c:spPr>
              <a:solidFill>
                <a:srgbClr val="00C2A8"/>
              </a:solidFill>
              <a:effectLst/>
            </c:spPr>
          </c:dPt>
          <c:dPt>
            <c:idx val="2"/>
            <c:bubble3D val="0"/>
            <c:spPr>
              <a:solidFill>
                <a:srgbClr val="FFD23F"/>
              </a:solidFill>
              <a:effectLst/>
            </c:spPr>
          </c:dPt>
          <c:dPt>
            <c:idx val="3"/>
            <c:bubble3D val="0"/>
            <c:spPr>
              <a:solidFill>
                <a:srgbClr val="15151F"/>
              </a:solidFill>
              <a:effectLst/>
            </c:spPr>
          </c:dPt>
          <c:dPt>
            <c:idx val="4"/>
            <c:bubble3D val="0"/>
            <c:spPr>
              <a:solidFill>
                <a:srgbClr val="A6A6B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拓店建设</c:v>
                </c:pt>
                <c:pt idx="1">
                  <c:v>营销推广</c:v>
                </c:pt>
                <c:pt idx="2">
                  <c:v>供应链升级</c:v>
                </c:pt>
                <c:pt idx="3">
                  <c:v>数字化建设</c:v>
                </c:pt>
                <c:pt idx="4">
                  <c:v>组织与培训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2.6</c:v>
                </c:pt>
                <c:pt idx="1">
                  <c:v>1.5</c:v>
                </c:pt>
                <c:pt idx="2">
                  <c:v>1.4</c:v>
                </c:pt>
                <c:pt idx="3">
                  <c:v>0.8</c:v>
                </c:pt>
                <c:pt idx="4">
                  <c:v>0.5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151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5151F"/>
                </a:solidFill>
                <a:latin typeface="Arial"/>
              </a:rPr>
              <a:t>营收规模（¥亿）与毛利率（%）双轴预测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营业收入(¥亿元)</c:v>
                </c:pt>
              </c:strCache>
            </c:strRef>
          </c:tx>
          <c:spPr>
            <a:solidFill>
              <a:srgbClr val="FFC9D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51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</c:v>
                </c:pt>
                <c:pt idx="1">
                  <c:v>6.5</c:v>
                </c:pt>
                <c:pt idx="2">
                  <c:v>11.2</c:v>
                </c:pt>
                <c:pt idx="3">
                  <c:v>18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5151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毛利率(%)</c:v>
                </c:pt>
              </c:strCache>
            </c:strRef>
          </c:tx>
          <c:spPr>
            <a:solidFill>
              <a:srgbClr val="00C2A8"/>
            </a:solidFill>
            <a:ln w="38100" cap="flat">
              <a:solidFill>
                <a:srgbClr val="00C2A8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51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2A8"/>
              </a:solidFill>
              <a:ln w="9525" cap="flat">
                <a:solidFill>
                  <a:srgbClr val="00C2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</c:v>
                </c:pt>
                <c:pt idx="1">
                  <c:v>60</c:v>
                </c:pt>
                <c:pt idx="2">
                  <c:v>62.5</c:v>
                </c:pt>
                <c:pt idx="3">
                  <c:v>65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5151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9525" cap="flat">
              <a:solidFill>
                <a:srgbClr val="E8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80"/>
        </c:scaling>
        <c:delete val="0"/>
        <c:axPos val="r"/>
        <c:majorGridlines>
          <c:spPr>
            <a:ln w="9525" cap="flat">
              <a:solidFill>
                <a:srgbClr val="E8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21-1.png"/><Relationship Id="rId3" Type="http://schemas.openxmlformats.org/officeDocument/2006/relationships/image" Target="../media/image-21-2.png"/><Relationship Id="rId4" Type="http://schemas.openxmlformats.org/officeDocument/2006/relationships/image" Target="../media/image-21-3.png"/><Relationship Id="rId5" Type="http://schemas.openxmlformats.org/officeDocument/2006/relationships/image" Target="../media/image-2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5720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11247120" y="105156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FFD23F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1554480"/>
            <a:ext cx="411480" cy="411480"/>
          </a:xfrm>
          <a:prstGeom prst="triangle">
            <a:avLst/>
          </a:prstGeom>
          <a:solidFill>
            <a:srgbClr val="FF2E7E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943600"/>
            <a:ext cx="274320" cy="27432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6" name="Shape 4"/>
          <p:cNvSpPr/>
          <p:nvPr/>
        </p:nvSpPr>
        <p:spPr>
          <a:xfrm rot="1200000">
            <a:off x="11521440" y="60350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2A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685800"/>
            <a:ext cx="2468880" cy="438912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685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机密文件 · 战略提案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元气浆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777240" y="3520440"/>
            <a:ext cx="4663440" cy="566928"/>
          </a:xfrm>
          <a:prstGeom prst="roundRect">
            <a:avLst>
              <a:gd name="adj" fmla="val 16129"/>
            </a:avLst>
          </a:prstGeom>
          <a:solidFill>
            <a:srgbClr val="FFD23F"/>
          </a:solidFill>
          <a:ln/>
          <a:effectLst>
            <a:outerShdw sx="100000" sy="100000" kx="0" ky="0" algn="bl" rotWithShape="0" blurRad="101600" dist="50800" dir="2700000">
              <a:srgbClr val="000000">
                <a:alpha val="9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204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「有点冒泡，才叫元气」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2027全国化增长战略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22960" y="5166360"/>
            <a:ext cx="0" cy="0"/>
          </a:xfrm>
          <a:prstGeom prst="line">
            <a:avLst/>
          </a:prstGeom>
          <a:noFill/>
          <a:ln w="12700">
            <a:solidFill>
              <a:srgbClr val="1515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呈报对象：品牌管理层战略评审会  </a:t>
            </a:r>
            <a:pPr algn="l" indent="0" marL="0">
              <a:buNone/>
            </a:pPr>
            <a:r>
              <a:rPr lang="en-US" sz="12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版本 V3.0  </a:t>
            </a:r>
            <a:pPr algn="l" indent="0" marL="0">
              <a:buNone/>
            </a:pPr>
            <a:r>
              <a:rPr lang="en-US" sz="12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2026年7月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6A6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元气浆战略研究部  出品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75488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0881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48256"/>
            <a:ext cx="566928" cy="438912"/>
          </a:xfrm>
          <a:prstGeom prst="roundRect">
            <a:avLst>
              <a:gd name="adj" fmla="val 29167"/>
            </a:avLst>
          </a:prstGeom>
          <a:solidFill>
            <a:srgbClr val="FF2E7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4825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04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大盘规模 · 竞争格局 · 消费者画像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92640" y="1920240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P03–08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10881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889504"/>
            <a:ext cx="566928" cy="438912"/>
          </a:xfrm>
          <a:prstGeom prst="roundRect">
            <a:avLst>
              <a:gd name="adj" fmla="val 29167"/>
            </a:avLst>
          </a:prstGeom>
          <a:solidFill>
            <a:srgbClr val="FFD23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889504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现状诊断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1455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健康度雷达 · 网络诊断 · 北极星目标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92640" y="276148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P09–12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602736"/>
            <a:ext cx="10881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3730752"/>
            <a:ext cx="566928" cy="438912"/>
          </a:xfrm>
          <a:prstGeom prst="roundRect">
            <a:avLst>
              <a:gd name="adj" fmla="val 29167"/>
            </a:avLst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73075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39867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三大支柱 · 战术拆解 · 增长飞轮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92640" y="3602736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P13–24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443984"/>
            <a:ext cx="10881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4572000"/>
            <a:ext cx="566928" cy="438912"/>
          </a:xfrm>
          <a:prstGeom prst="roundRect">
            <a:avLst>
              <a:gd name="adj" fmla="val 29167"/>
            </a:avLst>
          </a:prstGeom>
          <a:solidFill>
            <a:srgbClr val="FF2E7E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57200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08760" y="4517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4828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数字化 · 供应链 · 组织 · 执行节奏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92640" y="4443984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P25–31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5285232"/>
            <a:ext cx="10881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" y="5413248"/>
            <a:ext cx="566928" cy="438912"/>
          </a:xfrm>
          <a:prstGeom prst="roundRect">
            <a:avLst>
              <a:gd name="adj" fmla="val 29167"/>
            </a:avLst>
          </a:prstGeom>
          <a:solidFill>
            <a:srgbClr val="FFD23F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41324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8760" y="5358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0876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预算测算 · KPI看板 · 风险 · 治理机制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692640" y="528523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P32–39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35" name="Text 3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核心摘要：三年全国化的四个关键跃迁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Executive Summary · 从区域强势品牌到全国气泡文化引领者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5717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26030" y="18562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11" name="Text 9"/>
          <p:cNvSpPr/>
          <p:nvPr/>
        </p:nvSpPr>
        <p:spPr>
          <a:xfrm>
            <a:off x="252603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112264"/>
            <a:ext cx="21145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312→1,200</a:t>
            </a:r>
            <a:pPr algn="l" indent="0" marL="0">
              <a:buNone/>
            </a:pPr>
            <a:r>
              <a:rPr lang="en-US" sz="12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8368" y="3118104"/>
            <a:ext cx="2169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全国门店数（3年目标）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465576"/>
            <a:ext cx="2169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覆盖城市 18 → 85 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48990" y="1691640"/>
            <a:ext cx="25717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17820" y="18562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541782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50158" y="2112264"/>
            <a:ext cx="21145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4.6→18</a:t>
            </a:r>
            <a:pPr algn="l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550158" y="3118104"/>
            <a:ext cx="2169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年营业收入 2024→2027E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50158" y="3465576"/>
            <a:ext cx="2169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复合增速 CAGR 57.6%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40780" y="1691640"/>
            <a:ext cx="25717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09610" y="18562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23" name="Text 21"/>
          <p:cNvSpPr/>
          <p:nvPr/>
        </p:nvSpPr>
        <p:spPr>
          <a:xfrm>
            <a:off x="830961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1948" y="2112264"/>
            <a:ext cx="21145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31→48</a:t>
            </a:r>
            <a:pPr algn="l"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441948" y="3118104"/>
            <a:ext cx="2169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会员复购率提升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1948" y="3465576"/>
            <a:ext cx="2169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私域运营驱动核心指标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32570" y="1691640"/>
            <a:ext cx="25717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1201400" y="18562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29" name="Text 27"/>
          <p:cNvSpPr/>
          <p:nvPr/>
        </p:nvSpPr>
        <p:spPr>
          <a:xfrm>
            <a:off x="1120140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33738" y="2112264"/>
            <a:ext cx="21145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18→85</a:t>
            </a:r>
            <a:pPr algn="l" indent="0" marL="0">
              <a:buNone/>
            </a:pPr>
            <a:r>
              <a:rPr lang="en-US" sz="18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9333738" y="3118104"/>
            <a:ext cx="2169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全国城市覆盖广度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33738" y="3465576"/>
            <a:ext cx="2169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S/A/B/C 四级城市矩阵拓店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11247120" cy="1965960"/>
          </a:xfrm>
          <a:prstGeom prst="roundRect">
            <a:avLst>
              <a:gd name="adj" fmla="val 6512"/>
            </a:avLst>
          </a:prstGeom>
          <a:solidFill>
            <a:srgbClr val="15151F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一句话战略判断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46634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气浆已在华东验证「气泡感官化+低糖健康化」的产品心智与坪效模型，具备全国复制的产品力与供应链基础；当前瓶颈不在产品，而在渠道触达广度与私域复购深度——2027全国化战略的核心是用「品牌年轻化＋渠道下沉＋产品飞轮」三支柱同步发力，把华东单一优势区转化为全国气泡文化标签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中国现制茶饮大盘：气泡与低糖果茶是最快增速细分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市场规模持续扩容，结构性红利集中在功能化与感官化创新品类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46304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360920" y="1463040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89520" y="166420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2E7E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行业大盘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9520" y="208483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2027E 市场规模预计达 ¥3,200亿，CAGR 11.4%，进入结构性分化期。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60920" y="2980944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89520" y="31821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0C2A8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31455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气泡感官化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360273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碳酸+果茶复合品类连续三年增速领跑，2027E 达 23%，是大盘增速的 2 倍。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60920" y="4498848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589520" y="47000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D23F"/>
          </a:solidFill>
          <a:ln/>
        </p:spPr>
      </p:sp>
      <p:sp>
        <p:nvSpPr>
          <p:cNvPr id="20" name="Text 17"/>
          <p:cNvSpPr/>
          <p:nvPr/>
        </p:nvSpPr>
        <p:spPr>
          <a:xfrm>
            <a:off x="813816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低糖健康化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589520" y="51206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0蔗糖/轻卡产品线渗透率快速提升，成为复购率提升的核心抓手。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赛道竞争格局：价格带 × 年轻化程度双维定位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元气浆需在「中价位+高年轻化」象限建立不可替代的气泡文化心智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1783080"/>
            <a:ext cx="7863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783080"/>
            <a:ext cx="0" cy="4206240"/>
          </a:xfrm>
          <a:prstGeom prst="line">
            <a:avLst/>
          </a:prstGeom>
          <a:noFill/>
          <a:ln w="12700">
            <a:solidFill>
              <a:srgbClr val="D8CFC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05840" y="3886200"/>
            <a:ext cx="786384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60120" y="1453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年轻化程度 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06640" y="6044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价格带 → 高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6044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价格带 → 低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24067" y="2631643"/>
            <a:ext cx="658368" cy="658368"/>
          </a:xfrm>
          <a:prstGeom prst="ellipse">
            <a:avLst/>
          </a:prstGeom>
          <a:solidFill>
            <a:srgbClr val="1515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8307" y="232074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行业标杆A系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49424" y="4482389"/>
            <a:ext cx="658368" cy="658368"/>
          </a:xfrm>
          <a:prstGeom prst="ellipse">
            <a:avLst/>
          </a:prstGeom>
          <a:solidFill>
            <a:srgbClr val="6B6B7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83664" y="417149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行业标杆B系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52237" y="1958645"/>
            <a:ext cx="658368" cy="658368"/>
          </a:xfrm>
          <a:prstGeom prst="ellipse">
            <a:avLst/>
          </a:prstGeom>
          <a:solidFill>
            <a:srgbClr val="A6A6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6477" y="164774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行业标杆C系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463040" y="3346704"/>
            <a:ext cx="658368" cy="658368"/>
          </a:xfrm>
          <a:prstGeom prst="ellipse">
            <a:avLst/>
          </a:prstGeom>
          <a:solidFill>
            <a:srgbClr val="A6A6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03580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区域黑马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62756" y="2151583"/>
            <a:ext cx="777240" cy="777240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96996" y="1840687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元气浆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0" y="150876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26880" y="1673352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0" y="16733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机会象限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0" y="2002536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中价位·高年轻化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元气浆核心定位，竞争最疏松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0" y="3026664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26880" y="3191256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0" y="31912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红海象限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26880" y="3520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高价位·高年轻化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行业标杆重兵集结，营销投入大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44000" y="4544568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326880" y="4709160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6B6B76"/>
          </a:solidFill>
          <a:ln/>
        </p:spPr>
      </p:sp>
      <p:sp>
        <p:nvSpPr>
          <p:cNvPr id="35" name="Text 33"/>
          <p:cNvSpPr/>
          <p:nvPr/>
        </p:nvSpPr>
        <p:spPr>
          <a:xfrm>
            <a:off x="9326880" y="47091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存量象限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26880" y="503834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低价位·低年轻化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增长见顶，价格战主导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细分赛道三大结构性红利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感官创新、健康属性、地域文化是驱动下一轮增长的三条主线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535680" cy="443484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83080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228600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气泡感官化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76656" y="2743200"/>
            <a:ext cx="30967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碳酸气泡+果肉颗粒的复合口感体验成为年轻消费者拍照分享首选，感官层次感是核心竞争维度。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12920" y="1508760"/>
            <a:ext cx="3535680" cy="443484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32376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28" y="178308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32376" y="228600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低糖健康化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532376" y="2743200"/>
            <a:ext cx="30967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0蔗糖/轻卡/真果汁标签成为购买决策前置条件，健康属性从加分项变为准入门槛。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68640" y="1508760"/>
            <a:ext cx="3535680" cy="443484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88096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248" y="178308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88096" y="228600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地域限定联名化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88096" y="2743200"/>
            <a:ext cx="30967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城市文旅IP、地域限定口味、节庆联名款制造话题稀缺性，驱动到店打卡与社交裂变。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目标消费者画像：「三城青年」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18-30岁新一线/二线城市年轻客群，是全国化扩张的核心承接人群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64792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764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人口特征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24231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18-30岁在校生/初入职场女性为主(占比64%)，集中新一线、二线城市核心商圈及大学城周边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80760" y="150876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764792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1764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消费频次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355080" y="24231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月均到店 3.2 次，高频用户(周购≥1次)占核心会员的 41%，节假日到店频次提升 60%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374904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05072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005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客单价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31520" y="46634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均单价 ¥16.8，联名款/大杯/加料组合可拉升客单至 ¥22-26，客单价敏感度中等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080760" y="374904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005072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4005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决策动因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355080" y="46634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口味新鲜感(38%)、社交分享价值(27%)、健康标签(22%)、价格促销(13%)依次排序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消费者四大痛点洞察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现有供给与消费者真实诉求之间的结构性缺口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1247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73936"/>
            <a:ext cx="585216" cy="5852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6642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口味同质化疲劳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63440" y="166420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全渠道口味迭代速度慢于消费者尝鲜周期，复购新鲜感持续流失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724912"/>
            <a:ext cx="11247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44368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健康焦虑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6344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含糖量、添加剂信息不透明，健康敏感客群对现制茶饮信任度持续走低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7200" y="3895344"/>
            <a:ext cx="11247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585216" cy="585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005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情绪价值缺失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663440" y="400507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产品与消费场景割裂，缺乏能承载情绪表达与社交谈资的记忆点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7200" y="5065776"/>
            <a:ext cx="11247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85232"/>
            <a:ext cx="585216" cy="5852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17550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复购激励弱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663440" y="5175504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会员权益单一、裂变机制缺失，私域沉淀与长期粘性建设滞后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现状诊断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品牌健康度雷达图：六轴现状体检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知名度与美誉度领先，但数字化与门店密度是明显短板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46304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949440" y="1508760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78040" y="16916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16916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优势项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78040" y="210312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知名度 78 / 美誉度 82，华东核心区口碑基础扎实，品牌资产可迁移。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49440" y="3026664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78040" y="3209544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6" name="Text 13"/>
          <p:cNvSpPr/>
          <p:nvPr/>
        </p:nvSpPr>
        <p:spPr>
          <a:xfrm>
            <a:off x="7178040" y="32095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追赶项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78040" y="362102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复购率 65 / 客单价 70，处于行业中游，私域运营与产品结构有提升空间。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949440" y="4544568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178040" y="472744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20" name="Text 17"/>
          <p:cNvSpPr/>
          <p:nvPr/>
        </p:nvSpPr>
        <p:spPr>
          <a:xfrm>
            <a:off x="7178040" y="4727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短板项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78040" y="513892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门店密度 42 / 数字化 38，显著落后行业标杆均值，是全国化最大制约。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现状诊断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现有门店网络诊断：华东独强，全国布局失衡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区域坪效差异显著，华南、西南存在明显供给空白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237744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区域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门店数(家)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占比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月均坪效(元/㎡)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同比增速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网络诊断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华东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¥1,860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高度集中·增长趋缓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华南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¥1,520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试点验证期·潜力大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华北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¥1,340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起步阶段·认知待建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西南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¥1,210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空白市场·增速最快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60520"/>
            <a:ext cx="11247120" cy="1920240"/>
          </a:xfrm>
          <a:prstGeom prst="roundRect">
            <a:avLst>
              <a:gd name="adj" fmla="val 6667"/>
            </a:avLst>
          </a:prstGeom>
          <a:solidFill>
            <a:srgbClr val="15151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诊断结论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4681728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华东门店占比高达83%，单区域依赖风险突出；但华南、西南新兴市场坪效增速反超华东(34%/41% vs 12%)，验证了「气泡感官化」心智可跨区域迁移——全国化的战术重心应是复制华东验证过的门店模型，向华南、西南、华北加速铺开。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现状诊断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核心问题诊断四象限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四个关键堵点共同制约全国化增长速度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4635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83080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2286000"/>
            <a:ext cx="5024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区域依赖过重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76656" y="2743200"/>
            <a:ext cx="5024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83% 门店集中华东，单区域系统性风险高，抗周期能力弱，全国品牌认知度不足。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40780" y="1508760"/>
            <a:ext cx="54635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60236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388" y="178308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60236" y="2286000"/>
            <a:ext cx="5024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产品迭代慢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6460236" y="2743200"/>
            <a:ext cx="5024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年均上新仅2款，行业标杆均值达6款，新鲜感供给不足是复购率短板的直接成因。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57200" y="3886200"/>
            <a:ext cx="54635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76656" y="4087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6052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6656" y="4663440"/>
            <a:ext cx="5024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私域触达率低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76656" y="5120640"/>
            <a:ext cx="5024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会员私域沉淀率仅12%，企微/小程序运营薄弱，复购激励缺乏数字化触点支撑。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40780" y="3886200"/>
            <a:ext cx="54635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60236" y="4087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4160520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60236" y="4663440"/>
            <a:ext cx="5024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加盟商流失率高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6460236" y="5120640"/>
            <a:ext cx="5024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年流失率19%，选址标准化与开店赋能体系不完善，单店盈利周期偏长打击信心。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D2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现状诊断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658600" y="5074920"/>
            <a:ext cx="320040" cy="3200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0" y="548640"/>
            <a:ext cx="365760" cy="365760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战略北极星目标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从华东爆品到全国气泡文化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777240" y="3611880"/>
            <a:ext cx="2377440" cy="1737360"/>
          </a:xfrm>
          <a:prstGeom prst="roundRect">
            <a:avLst>
              <a:gd name="adj" fmla="val 7368"/>
            </a:avLst>
          </a:prstGeom>
          <a:solidFill>
            <a:srgbClr val="1F1F2C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82219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22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4206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1,200家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6012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全国门店总数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29000" y="3611880"/>
            <a:ext cx="2377440" cy="1737360"/>
          </a:xfrm>
          <a:prstGeom prst="roundRect">
            <a:avLst>
              <a:gd name="adj" fmla="val 7368"/>
            </a:avLst>
          </a:prstGeom>
          <a:solidFill>
            <a:srgbClr val="1F1F2C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382219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3822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4206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¥18亿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61188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年营业收入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3611880"/>
            <a:ext cx="2377440" cy="1737360"/>
          </a:xfrm>
          <a:prstGeom prst="roundRect">
            <a:avLst>
              <a:gd name="adj" fmla="val 7368"/>
            </a:avLst>
          </a:prstGeom>
          <a:solidFill>
            <a:srgbClr val="1F1F2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82219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822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4206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85城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26364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全国城市覆盖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732520" y="3611880"/>
            <a:ext cx="2377440" cy="1737360"/>
          </a:xfrm>
          <a:prstGeom prst="roundRect">
            <a:avLst>
              <a:gd name="adj" fmla="val 7368"/>
            </a:avLst>
          </a:prstGeom>
          <a:solidFill>
            <a:srgbClr val="1F1F2C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0" y="382219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0" y="3822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15400" y="4206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91540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会员复购率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三年周期 · 2025–2027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三大战略支柱总览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品牌·渠道·产品三线并进，形成全国化增长的完整闭环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74520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237744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品牌年轻化再定位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76656" y="2834640"/>
            <a:ext cx="30967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从「清爽茶饮」升级为「元气情绪补给站」，用IP联名、内容矩阵、私域会员体系建立情感连接。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1292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3237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28" y="187452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32376" y="237744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渠道下沉全国拓店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532376" y="2834640"/>
            <a:ext cx="30967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S/A/B/C四级城市分级拓店模型，直营+加盟并行，配套加盟商赋能体系加速全国铺开。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6864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8809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248" y="187452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88096" y="237744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产品矩阵季节飞轮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88096" y="2834640"/>
            <a:ext cx="30967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四季上新机制驱动持续新鲜感，健康化产品线与极速研发流水线支撑口味迭代速度。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 · 支柱一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品牌年轻化再定位：从「清爽茶饮」到「元气情绪补给站」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重新定义品牌在消费者心智中的情感角色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53492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7830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6B6B7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旧定位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清爽茶饮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功能性解渴饮品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口味导向的产品沟通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促销驱动的低频交易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门店即渠道，缺乏情感连接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80760" y="1554480"/>
            <a:ext cx="5349240" cy="4343400"/>
          </a:xfrm>
          <a:prstGeom prst="roundRect">
            <a:avLst>
              <a:gd name="adj" fmla="val 2947"/>
            </a:avLst>
          </a:prstGeom>
          <a:solidFill>
            <a:srgbClr val="15151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7830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新定位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元气情绪补给站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6A6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情绪价值与社交货币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6A6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IP联名+内容驱动的心智占领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6A6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私域会员体系驱动高频复购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6A6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门店成为年轻文化社交场景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 · 支柱一 · 战术A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IP联名日历：四季8档跨界联名矩阵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动漫、游戏、城市文旅三类IP组合，全年制造持续话题热度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571750" cy="4343400"/>
          </a:xfrm>
          <a:prstGeom prst="roundRect">
            <a:avLst>
              <a:gd name="adj" fmla="val 4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7739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春季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2331720"/>
            <a:ext cx="2169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2档联名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2743200"/>
            <a:ext cx="21328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国民动漫IP·樱花限定杯</a:t>
            </a:r>
            <a:endParaRPr lang="en-US" sz="12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城市文旅·江南水乡系列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48990" y="1554480"/>
            <a:ext cx="2571750" cy="4343400"/>
          </a:xfrm>
          <a:prstGeom prst="roundRect">
            <a:avLst>
              <a:gd name="adj" fmla="val 4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50158" y="17739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FF2E7E"/>
          </a:solidFill>
          <a:ln/>
        </p:spPr>
      </p:sp>
      <p:sp>
        <p:nvSpPr>
          <p:cNvPr id="16" name="Text 14"/>
          <p:cNvSpPr/>
          <p:nvPr/>
        </p:nvSpPr>
        <p:spPr>
          <a:xfrm>
            <a:off x="3550158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夏季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50158" y="2331720"/>
            <a:ext cx="2169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2档联名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8446" y="2743200"/>
            <a:ext cx="21328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热门游戏IP·夏日副本联名</a:t>
            </a:r>
            <a:endParaRPr lang="en-US" sz="12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国潮插画·冰饮限定包装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0780" y="1554480"/>
            <a:ext cx="2571750" cy="4343400"/>
          </a:xfrm>
          <a:prstGeom prst="roundRect">
            <a:avLst>
              <a:gd name="adj" fmla="val 4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1948" y="17739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FFD2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41948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秋季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1948" y="2331720"/>
            <a:ext cx="2169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2档联名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60236" y="2743200"/>
            <a:ext cx="21328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经典动漫IP·丰收季联名</a:t>
            </a:r>
            <a:endParaRPr lang="en-US" sz="12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城市文旅·古城桂香系列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32570" y="1554480"/>
            <a:ext cx="2571750" cy="4343400"/>
          </a:xfrm>
          <a:prstGeom prst="roundRect">
            <a:avLst>
              <a:gd name="adj" fmla="val 4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33738" y="17739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FF2E7E"/>
          </a:solidFill>
          <a:ln/>
        </p:spPr>
      </p:sp>
      <p:sp>
        <p:nvSpPr>
          <p:cNvPr id="26" name="Text 24"/>
          <p:cNvSpPr/>
          <p:nvPr/>
        </p:nvSpPr>
        <p:spPr>
          <a:xfrm>
            <a:off x="9333738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冬季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33738" y="2331720"/>
            <a:ext cx="2169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2档联名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52026" y="2743200"/>
            <a:ext cx="21328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热门游戏IP·跨年活动联名</a:t>
            </a:r>
            <a:endParaRPr lang="en-US" sz="12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国民IP·新年贺岁限定款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全年共计 8 档联名 · 单档联名周期约 6 周 · 覆盖全国门店同步上市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 · 支柱一 · 战术B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内容矩阵：短视频·直播·门店打卡三线策略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三条内容线各司其职，共同驱动品牌声量与到店转化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210312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内容线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核心平台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内容形式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月度产出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核心KPI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短视频种草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抖音·小红书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产品测评/联名开箱/花式喝法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120条/月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曝光量 ≥ 8,000万/月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达人直播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抖音·快手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门店探店直播/新品首发直播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30场/月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直播间引导到店率 ≥ 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门店打卡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小红书·大众点评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UGC打卡激励/装置艺术拍照点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覆盖80%门店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UGC笔记 ≥ 3,000篇/月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977640"/>
            <a:ext cx="3535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" y="4178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25196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" y="475488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短视频种草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76656" y="5212080"/>
            <a:ext cx="309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以「花式喝法」+联名开箱制造分享欲，KOC矩阵铺量，重点承接产品新鲜感传播。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312920" y="3977640"/>
            <a:ext cx="3535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32376" y="4178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28" y="425196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32376" y="475488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达人直播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532376" y="5212080"/>
            <a:ext cx="309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探店直播+新品首发直播双线并行，直播间发券直连到店核销，缩短转化路径。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168640" y="3977640"/>
            <a:ext cx="3535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88096" y="4178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248" y="425196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88096" y="475488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门店打卡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388096" y="5212080"/>
            <a:ext cx="309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装置艺术与拍照点位标准化设计，激励UGC自传播，强化线下情绪价值体验。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 · 支柱一 · 战术C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私域会员体系：积分·等级·裂变三层架构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从单次交易到长期关系资产，构建可持续复购飞轮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0332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80136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17099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第一层 · 积分体系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170992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消费积分实时累积，可兑换新品试饮、专属周边、联名限定权益，提升单次消费的延展价值。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9418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08152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29900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第二层 · 等级体系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299008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青苗/元气/超能三级会员成长体系，高等级享受生日礼遇、专属客服、新品优先购买权。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503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43616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361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42702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第三层 · 裂变机制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2702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拼团优惠、邀请好友得券、社交裂变海报三种工具组合，驱动会员自传播拉新。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金字塔式架构：积分沉淀交易→等级建立归属感→裂变实现自增长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 · 支柱二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渠道下沉全国拓店：城市分级拓店模型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S/A/B/C四级城市画像与差异化门店模型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246888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城市分级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代表类型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门店模型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单店投资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3年目标店数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一线及新一线核心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旗舰店+标准店并行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¥58万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新一线/强二线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标准店为主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¥42万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二三线核心商圈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标准店/紧凑店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¥32万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三四线县域市场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紧凑店/社区店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¥24万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343400"/>
            <a:ext cx="11247120" cy="1783080"/>
          </a:xfrm>
          <a:prstGeom prst="roundRect">
            <a:avLst>
              <a:gd name="adj" fmla="val 7179"/>
            </a:avLst>
          </a:prstGeom>
          <a:solidFill>
            <a:srgbClr val="15151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分级拓店逻辑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486460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S/A级城市承担品牌旗舰形象与规模基本盘，B/C级城市承担全国覆盖广度与下沉增量。四级门店模型采用统一VI与差异化坪效结构，确保「元气情绪补给站」的品牌体验在不同城市能级下保持一致性。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 · 支柱二 · 战术A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直营+加盟并行比例规划：3年从7:3调整到2:8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加盟占比逐年提升，加速全国拓店速度，直营聚焦标杆城市与模型验证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60020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269480" y="1600200"/>
            <a:ext cx="443484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17099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· 模型验证期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0" y="20574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直营占70%，重点验证华南/西南新区域门店模型与坪效基准，控制试错成本。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69480" y="3090672"/>
            <a:ext cx="443484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98080" y="3200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2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· 加速拓展期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98080" y="35478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加盟占比升至55%，标准化SOP与供应链前置仓落地，支撑加盟商规模化复制。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269480" y="4581144"/>
            <a:ext cx="443484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498080" y="46908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 · 全国覆盖期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498080" y="503834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加盟占比达80%，直营聚焦S级城市旗舰店与品牌形象窗口，加盟主导下沉增量。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 · 支柱二 · 战术B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加盟商赋能体系：开店SOP 90天极速流程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选址算法+供应链前置仓+标准化培训，压缩加盟商从签约到开业的周期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55064" y="3291840"/>
            <a:ext cx="8851392" cy="0"/>
          </a:xfrm>
          <a:prstGeom prst="line">
            <a:avLst/>
          </a:prstGeom>
          <a:noFill/>
          <a:ln w="25400">
            <a:solidFill>
              <a:srgbClr val="A6A6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53896" y="3090672"/>
            <a:ext cx="402336" cy="402336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169164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第1-15天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0391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选址评估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" y="2386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AI选址算法+实地勘测双确认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55064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66744" y="3090672"/>
            <a:ext cx="402336" cy="402336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71216" y="370332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62656" y="3794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第16-35天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62656" y="40507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装修施工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62656" y="439826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标准化设计包+驻场监理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67912" y="3493008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879592" y="3090672"/>
            <a:ext cx="402336" cy="402336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959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84064" y="169164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75504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第36-55天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75504" y="20391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供应链接入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175504" y="2386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区域前置仓对接+首批备货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092440" y="3090672"/>
            <a:ext cx="402336" cy="402336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96912" y="370332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88352" y="3794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第56-75天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88352" y="40507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人员培训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388352" y="439826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总部实训营+在地带教考核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93608" y="3493008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0305288" y="3090672"/>
            <a:ext cx="402336" cy="402336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05288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509760" y="169164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第76-90天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01200" y="20391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试营业开业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601200" y="2386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试营业调优+正式开业仪式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506456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 · 支柱三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产品矩阵季节飞轮：四季上新机制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春鲜果·夏气泡·秋桂香·冬热飨，全年不间断制造产品新鲜感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5544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035040" y="1554480"/>
            <a:ext cx="56692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5564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春 · 鲜果系列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995160" y="2011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以草莓、蜜桃等时令鲜果为主打，突出「第一口春天」的清新感官体验。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2688336"/>
            <a:ext cx="56692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889504"/>
            <a:ext cx="603504" cy="6035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2798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夏 · 气泡系列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995160" y="314553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核心大单品季，碳酸气泡+果肉颗粒组合，全年销售占比最高达34%。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35040" y="3822192"/>
            <a:ext cx="56692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4023360"/>
            <a:ext cx="603504" cy="6035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9516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秋 · 桂香系列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995160" y="427939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桂花、乌龙等秋季风味主打，联动城市文旅打造「秋日限定」话题。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035040" y="4956048"/>
            <a:ext cx="56692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5157216"/>
            <a:ext cx="603504" cy="6035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50657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冬 · 热飨系列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995160" y="54132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热饮线补齐冬季场景空白，暖身暖心概念承接跨年联名活动热度。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 · 支柱三 · 战术A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健康化产品线：0蔗糖/轻卡系列占比 9%→35%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三年内将健康化系列打造为第二增长曲线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600200"/>
          <a:ext cx="63093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178040" y="1600200"/>
            <a:ext cx="40233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698480" y="17647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6B6B76"/>
          </a:solidFill>
          <a:ln/>
        </p:spPr>
      </p:sp>
      <p:sp>
        <p:nvSpPr>
          <p:cNvPr id="12" name="Text 9"/>
          <p:cNvSpPr/>
          <p:nvPr/>
        </p:nvSpPr>
        <p:spPr>
          <a:xfrm>
            <a:off x="106984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79208" y="2020824"/>
            <a:ext cx="35661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buNone/>
            </a:pPr>
            <a:r>
              <a:rPr lang="en-US" sz="1800" b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7379208" y="28895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起始占比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79208" y="323697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健康化系列刚起步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78040" y="1600200"/>
            <a:ext cx="40233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0698480" y="17647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8" name="Text 15"/>
          <p:cNvSpPr/>
          <p:nvPr/>
        </p:nvSpPr>
        <p:spPr>
          <a:xfrm>
            <a:off x="106984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79208" y="2020824"/>
            <a:ext cx="35661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pPr algn="l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7379208" y="28895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 目标占比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79208" y="323697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第二增长曲线成型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178040" y="1600200"/>
            <a:ext cx="40233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698480" y="17647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6B6B76"/>
          </a:solidFill>
          <a:ln/>
        </p:spPr>
      </p:sp>
      <p:sp>
        <p:nvSpPr>
          <p:cNvPr id="24" name="Text 21"/>
          <p:cNvSpPr/>
          <p:nvPr/>
        </p:nvSpPr>
        <p:spPr>
          <a:xfrm>
            <a:off x="106984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79208" y="2020824"/>
            <a:ext cx="35661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buNone/>
            </a:pPr>
            <a:r>
              <a:rPr lang="en-US" sz="1800" b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7379208" y="28895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起始占比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79208" y="323697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健康化系列刚起步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178040" y="3749040"/>
            <a:ext cx="40233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0698480" y="39136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30" name="Text 27"/>
          <p:cNvSpPr/>
          <p:nvPr/>
        </p:nvSpPr>
        <p:spPr>
          <a:xfrm>
            <a:off x="1069848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79208" y="4169664"/>
            <a:ext cx="35661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pPr algn="l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32" name="Text 29"/>
          <p:cNvSpPr/>
          <p:nvPr/>
        </p:nvSpPr>
        <p:spPr>
          <a:xfrm>
            <a:off x="7379208" y="503834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 目标占比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379208" y="538581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第二增长曲线成型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178040" y="5870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驱动因素：真果汁基底研发突破 · 代糖口感优化 · 轻卡标签透明化认证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 · 支柱三 · 战术B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研发流水线：从洞察到上市8周极速开发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标准化开发流程压缩上新周期，支撑四季飞轮的快速迭代节奏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55064" y="3291840"/>
            <a:ext cx="8851392" cy="0"/>
          </a:xfrm>
          <a:prstGeom prst="line">
            <a:avLst/>
          </a:prstGeom>
          <a:noFill/>
          <a:ln w="25400">
            <a:solidFill>
              <a:srgbClr val="A6A6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53896" y="3090672"/>
            <a:ext cx="402336" cy="402336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169164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第1-2周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0391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趋势洞察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" y="2386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社媒热词+竞品扫描+口味调研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55064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66744" y="3090672"/>
            <a:ext cx="402336" cy="402336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71216" y="370332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62656" y="3794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第3-4周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62656" y="40507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配方研发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62656" y="439826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中央研发中心打样+盲测评分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67912" y="3493008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879592" y="3090672"/>
            <a:ext cx="402336" cy="402336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959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84064" y="169164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75504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第5-6周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75504" y="20391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供应链打通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175504" y="2386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原料备货+门店设备适配确认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092440" y="3090672"/>
            <a:ext cx="402336" cy="402336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96912" y="370332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88352" y="3794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第7周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88352" y="40507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区域试销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388352" y="439826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10家门店限定试销+数据回收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93608" y="3493008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0305288" y="3090672"/>
            <a:ext cx="402336" cy="402336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05288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509760" y="169164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第8周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01200" y="20391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全国上市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601200" y="2386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全渠道同步上新+内容矩阵配合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506456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战略蓝图 · 飞轮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全渠道增长飞轮：声量→转化→复购→裂变闭环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四个环节相互强化，形成自增强的全国化增长引擎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2834640"/>
            <a:ext cx="1920240" cy="1920240"/>
          </a:xfrm>
          <a:prstGeom prst="ellipse">
            <a:avLst/>
          </a:prstGeom>
          <a:solidFill>
            <a:srgbClr val="15151F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8346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元气浆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增长飞轮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66160" y="1280160"/>
            <a:ext cx="5029200" cy="5029200"/>
          </a:xfrm>
          <a:prstGeom prst="ellipse">
            <a:avLst/>
          </a:prstGeom>
          <a:ln w="19050">
            <a:solidFill>
              <a:srgbClr val="A6A6B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303520" y="128016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2E7E"/>
            </a:solidFill>
            <a:prstDash val="solid"/>
          </a:ln>
          <a:effectLst>
            <a:outerShdw sx="100000" sy="100000" kx="0" ky="0" algn="bl" rotWithShape="0" blurRad="76200" dist="38100" dir="5400000">
              <a:srgbClr val="15151F">
                <a:alpha val="1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1600200"/>
            <a:ext cx="585216" cy="5852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03520" y="22037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品牌声量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40880" y="301752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C2A8"/>
            </a:solidFill>
            <a:prstDash val="solid"/>
          </a:ln>
          <a:effectLst>
            <a:outerShdw sx="100000" sy="100000" kx="0" ky="0" algn="bl" rotWithShape="0" blurRad="76200" dist="38100" dir="5400000">
              <a:srgbClr val="15151F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2" y="3337560"/>
            <a:ext cx="585216" cy="5852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0880" y="39410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到店转化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303520" y="475488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D23F"/>
            </a:solidFill>
            <a:prstDash val="solid"/>
          </a:ln>
          <a:effectLst>
            <a:outerShdw sx="100000" sy="100000" kx="0" ky="0" algn="bl" rotWithShape="0" blurRad="76200" dist="38100" dir="5400000">
              <a:srgbClr val="15151F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5074920"/>
            <a:ext cx="585216" cy="5852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03520" y="56784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私域复购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566160" y="301752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2E7E"/>
            </a:solidFill>
            <a:prstDash val="solid"/>
          </a:ln>
          <a:effectLst>
            <a:outerShdw sx="100000" sy="100000" kx="0" ky="0" algn="bl" rotWithShape="0" blurRad="76200" dist="38100" dir="5400000">
              <a:srgbClr val="15151F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337560"/>
            <a:ext cx="585216" cy="5852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566160" y="39410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口碑裂变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235440" y="1508760"/>
            <a:ext cx="25146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400032" y="1636776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26" name="Text 20"/>
          <p:cNvSpPr/>
          <p:nvPr/>
        </p:nvSpPr>
        <p:spPr>
          <a:xfrm>
            <a:off x="9400032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品牌声量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400032" y="21305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四季IP联名+三线内容矩阵持续制造话题热度，拉升全国认知广度。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9235440" y="2752344"/>
            <a:ext cx="25146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400032" y="2880360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30" name="Text 24"/>
          <p:cNvSpPr/>
          <p:nvPr/>
        </p:nvSpPr>
        <p:spPr>
          <a:xfrm>
            <a:off x="9400032" y="3118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到店转化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9400032" y="337413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门店打卡设计+促销激活承接线上声量，提升进店转化效率。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9235440" y="3995928"/>
            <a:ext cx="25146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400032" y="4123944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34" name="Text 28"/>
          <p:cNvSpPr/>
          <p:nvPr/>
        </p:nvSpPr>
        <p:spPr>
          <a:xfrm>
            <a:off x="9400032" y="4361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私域复购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9400032" y="46177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积分等级裂变体系沉淀会员资产，驱动高频复购与长期粘性。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235440" y="5239512"/>
            <a:ext cx="25146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400032" y="5367528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8" name="Text 32"/>
          <p:cNvSpPr/>
          <p:nvPr/>
        </p:nvSpPr>
        <p:spPr>
          <a:xfrm>
            <a:off x="9400032" y="5605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口碑裂变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9400032" y="58613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UGC内容与社交分享反哺品牌声量，飞轮完成自增强闭环。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数字化与私域运营体系：三端协同架构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小程序+企微+抖音团购形成数据互通的私域运营闭环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5356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6060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小程序商城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01752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会员积分/等级/权益核心载体，线上点单与到店核销一体化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12920" y="1600200"/>
            <a:ext cx="35356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240" y="18288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87240" y="26060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企微社群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87240" y="301752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1V1客服+社群运营承接高频互动，新品预告与专属福利推送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68640" y="1600200"/>
            <a:ext cx="35356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960" y="182880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42960" y="26060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抖音团购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42960" y="301752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本地生活流量入口，团购券直连门店核销，拉新引流主战场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108960" y="4297680"/>
            <a:ext cx="5943600" cy="1508760"/>
          </a:xfrm>
          <a:prstGeom prst="roundRect">
            <a:avLst>
              <a:gd name="adj" fmla="val 8485"/>
            </a:avLst>
          </a:prstGeom>
          <a:solidFill>
            <a:srgbClr val="15151F"/>
          </a:solidFill>
          <a:ln/>
        </p:spPr>
      </p:sp>
      <p:sp>
        <p:nvSpPr>
          <p:cNvPr id="22" name="Text 17"/>
          <p:cNvSpPr/>
          <p:nvPr/>
        </p:nvSpPr>
        <p:spPr>
          <a:xfrm>
            <a:off x="3383280" y="44439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会员数据中台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3383280" y="480974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统一会员ID打通三端行为数据，支撑千人千面的精准营销触达与复购预测模型。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737360" y="3886200"/>
            <a:ext cx="0" cy="41148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6080760" y="3886200"/>
            <a:ext cx="0" cy="41148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10424160" y="3886200"/>
            <a:ext cx="0" cy="41148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供应链与门店运营能力升级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中央工厂·区域前置仓·标准化培训三级能力支撑全国化复制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74520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237744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中央工厂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76656" y="2834640"/>
            <a:ext cx="30967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华东总部中央工厂统一原料标准化预处理，保障全国口味一致性与食安可追溯。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1292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3237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28" y="187452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32376" y="237744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区域前置仓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532376" y="2834640"/>
            <a:ext cx="30967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华南/华北/西南三大区域前置仓建设，48小时内完成门店补货，降低损耗与断货率。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6864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8809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248" y="187452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88096" y="237744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门店标准化培训体系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88096" y="2834640"/>
            <a:ext cx="30967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总部实训营+在地带教考核双轨制，新店店长上岗合格率目标提升至95%以上。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组织与团队规划：总部职能升级+区域战区制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矩阵式组织架构支撑全国化多区域并行作战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15151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554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总裁办 · 全国化战略指挥中心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60220" y="224028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60320"/>
            <a:ext cx="2606040" cy="621792"/>
          </a:xfrm>
          <a:prstGeom prst="roundRect">
            <a:avLst>
              <a:gd name="adj" fmla="val 14706"/>
            </a:avLst>
          </a:prstGeom>
          <a:solidFill>
            <a:srgbClr val="FF2E7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品牌营销中心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0580" y="224028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560320"/>
            <a:ext cx="2606040" cy="621792"/>
          </a:xfrm>
          <a:prstGeom prst="roundRect">
            <a:avLst>
              <a:gd name="adj" fmla="val 14706"/>
            </a:avLst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供应链中心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20940" y="224028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560320"/>
            <a:ext cx="2606040" cy="621792"/>
          </a:xfrm>
          <a:prstGeom prst="roundRect">
            <a:avLst>
              <a:gd name="adj" fmla="val 14706"/>
            </a:avLst>
          </a:prstGeom>
          <a:solidFill>
            <a:srgbClr val="FFD23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数字化中心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401300" y="224028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2560320"/>
            <a:ext cx="2606040" cy="621792"/>
          </a:xfrm>
          <a:prstGeom prst="roundRect">
            <a:avLst>
              <a:gd name="adj" fmla="val 14706"/>
            </a:avLst>
          </a:prstGeom>
          <a:solidFill>
            <a:srgbClr val="FF2E7E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加盟拓展中心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0760" y="3182112"/>
            <a:ext cx="0" cy="292608"/>
          </a:xfrm>
          <a:prstGeom prst="line">
            <a:avLst/>
          </a:prstGeom>
          <a:noFill/>
          <a:ln w="19050">
            <a:solidFill>
              <a:srgbClr val="A6A6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347472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E8DFCF"/>
          </a:solidFill>
          <a:ln/>
        </p:spPr>
      </p:sp>
      <p:sp>
        <p:nvSpPr>
          <p:cNvPr id="25" name="Text 23"/>
          <p:cNvSpPr/>
          <p:nvPr/>
        </p:nvSpPr>
        <p:spPr>
          <a:xfrm>
            <a:off x="4251960" y="3474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区域战区制（华东/华南/华北/西南）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760220" y="402336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57200" y="43434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华东战区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482803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战区总经理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拓店/运营/供应链三小组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40580" y="402336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337560" y="43434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华南战区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482803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战区总经理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拓店/运营/供应链三小组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520940" y="402336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43434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5508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华北战区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482803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战区总经理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拓店/运营/供应链三小组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401300" y="402336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9098280" y="43434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23544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西南战区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35440" y="482803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战区总经理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拓店/运营/供应链三小组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执行路线图 Year 1（2025）：四大季度里程碑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华东深耕→华南试点→中台搭建→首批加盟招募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31670" y="3291840"/>
            <a:ext cx="8298180" cy="0"/>
          </a:xfrm>
          <a:prstGeom prst="line">
            <a:avLst/>
          </a:prstGeom>
          <a:noFill/>
          <a:ln w="25400">
            <a:solidFill>
              <a:srgbClr val="A6A6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0502" y="3090672"/>
            <a:ext cx="402336" cy="402336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050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1691640"/>
            <a:ext cx="25466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1783080"/>
            <a:ext cx="2363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039112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华东深耕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" y="2386584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标杆门店模型验证+坪效优化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31670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496562" y="3090672"/>
            <a:ext cx="402336" cy="402336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656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4428" y="3703320"/>
            <a:ext cx="25466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15868" y="3794760"/>
            <a:ext cx="2363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15868" y="4050792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华南试点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15868" y="4398264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首批10家试点门店开业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97730" y="3493008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262622" y="3090672"/>
            <a:ext cx="402336" cy="402336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262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90488" y="1691640"/>
            <a:ext cx="25466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81928" y="1783080"/>
            <a:ext cx="2363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81928" y="2039112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中台搭建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81928" y="2386584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会员数据中台+前置仓1期上线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63790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0028682" y="3090672"/>
            <a:ext cx="402336" cy="402336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2868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956548" y="3703320"/>
            <a:ext cx="25466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047988" y="3794760"/>
            <a:ext cx="2363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47988" y="4050792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首批加盟招募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047988" y="4398264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加盟商招募启动+90天SOP试运行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229850" y="3493008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执行路线图 Year 2-3：全国拓店节奏甘特图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华南/华北/西南三大新兴区域滚动开城，加盟占比逐年提升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华东（巩固）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173736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819656"/>
            <a:ext cx="4206240" cy="493776"/>
          </a:xfrm>
          <a:prstGeom prst="roundRect">
            <a:avLst>
              <a:gd name="adj" fmla="val 14815"/>
            </a:avLst>
          </a:prstGeom>
          <a:solidFill>
            <a:srgbClr val="FF2E7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237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华南（放量）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77440" y="2523744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606040"/>
            <a:ext cx="8412480" cy="493776"/>
          </a:xfrm>
          <a:prstGeom prst="roundRect">
            <a:avLst>
              <a:gd name="adj" fmla="val 14815"/>
            </a:avLst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101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华北（起步）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3310128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3392424"/>
            <a:ext cx="7360920" cy="493776"/>
          </a:xfrm>
          <a:prstGeom prst="roundRect">
            <a:avLst>
              <a:gd name="adj" fmla="val 14815"/>
            </a:avLst>
          </a:prstGeom>
          <a:solidFill>
            <a:srgbClr val="FFD23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965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西南（起步）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4096512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4178808"/>
            <a:ext cx="6309360" cy="493776"/>
          </a:xfrm>
          <a:prstGeom prst="roundRect">
            <a:avLst>
              <a:gd name="adj" fmla="val 14815"/>
            </a:avLst>
          </a:prstGeom>
          <a:solidFill>
            <a:srgbClr val="FF2E7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828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加盟商规模化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4882896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4965192"/>
            <a:ext cx="5257800" cy="493776"/>
          </a:xfrm>
          <a:prstGeom prst="roundRect">
            <a:avLst>
              <a:gd name="adj" fmla="val 14815"/>
            </a:avLst>
          </a:prstGeom>
          <a:solidFill>
            <a:srgbClr val="00C2A8"/>
          </a:solidFill>
          <a:ln/>
        </p:spPr>
      </p:sp>
      <p:sp>
        <p:nvSpPr>
          <p:cNvPr id="24" name="Text 22"/>
          <p:cNvSpPr/>
          <p:nvPr/>
        </p:nvSpPr>
        <p:spPr>
          <a:xfrm>
            <a:off x="237744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Q3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首90天行动计划：13周执行清单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战略批准后立即启动的关键行动项，锁定全国化第一阶段窗口期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16733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FF2E7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6733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W1-2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9164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94560" y="15727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组建全国化专项工作组，明确战区负责人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22585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" y="23591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00C2A8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23591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W3-4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37744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194560" y="22585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启动会员数据中台需求梳理与厂商选型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57200" y="29443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" y="30449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FFD23F"/>
          </a:solidFill>
          <a:ln/>
        </p:spPr>
      </p:sp>
      <p:sp>
        <p:nvSpPr>
          <p:cNvPr id="21" name="Text 17"/>
          <p:cNvSpPr/>
          <p:nvPr/>
        </p:nvSpPr>
        <p:spPr>
          <a:xfrm>
            <a:off x="621792" y="30449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W5-6</a:t>
            </a:r>
            <a:endParaRPr lang="en-US" sz="11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06324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194560" y="29443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华南区域前置仓选址与供应链协议签署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57200" y="36301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21792" y="37307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FF2E7E"/>
          </a:solidFill>
          <a:ln/>
        </p:spPr>
      </p:sp>
      <p:sp>
        <p:nvSpPr>
          <p:cNvPr id="26" name="Text 21"/>
          <p:cNvSpPr/>
          <p:nvPr/>
        </p:nvSpPr>
        <p:spPr>
          <a:xfrm>
            <a:off x="621792" y="3730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W7-8</a:t>
            </a:r>
            <a:endParaRPr lang="en-US" sz="11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74904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194560" y="36301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IP联名首档合作方筛选与合同谈判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57200" y="43159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21792" y="44165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00C2A8"/>
          </a:solidFill>
          <a:ln/>
        </p:spPr>
      </p:sp>
      <p:sp>
        <p:nvSpPr>
          <p:cNvPr id="31" name="Text 25"/>
          <p:cNvSpPr/>
          <p:nvPr/>
        </p:nvSpPr>
        <p:spPr>
          <a:xfrm>
            <a:off x="621792" y="44165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W9-10</a:t>
            </a:r>
            <a:endParaRPr lang="en-US" sz="11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443484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194560" y="43159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加盟商招募政策定稿+首批意向客户面谈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457200" y="50017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1792" y="51023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FFD23F"/>
          </a:solidFill>
          <a:ln/>
        </p:spPr>
      </p:sp>
      <p:sp>
        <p:nvSpPr>
          <p:cNvPr id="36" name="Text 29"/>
          <p:cNvSpPr/>
          <p:nvPr/>
        </p:nvSpPr>
        <p:spPr>
          <a:xfrm>
            <a:off x="621792" y="51023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W11-12</a:t>
            </a:r>
            <a:endParaRPr lang="en-US" sz="115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512064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194560" y="50017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90天开店SOP试运行门店选定+培训教材定稿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457200" y="56875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21792" y="57881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FF2E7E"/>
          </a:solidFill>
          <a:ln/>
        </p:spPr>
      </p:sp>
      <p:sp>
        <p:nvSpPr>
          <p:cNvPr id="41" name="Text 33"/>
          <p:cNvSpPr/>
          <p:nvPr/>
        </p:nvSpPr>
        <p:spPr>
          <a:xfrm>
            <a:off x="621792" y="57881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W13</a:t>
            </a:r>
            <a:endParaRPr lang="en-US" sz="115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5806440"/>
            <a:ext cx="365760" cy="36576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2194560" y="56875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首阶段复盘会+Year1路线图正式下发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团队与合作伙伴分工：RACI矩阵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总部·区域·加盟商·供应商四方职责边界清晰化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329184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职能事项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总部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区域战区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加盟商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供应商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品牌营销与IP联名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/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门店选址与拓店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供应链与前置仓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门店日常运营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数字化私域运营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/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食品安全与合规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 = Responsible 执行方  ·  A = Accountable 问责方  ·  C = Consulted 咨询方  ·  I = Informed 知情方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预算与资源分配：3年总投入 ¥6.8亿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拓店与供应链是资源投入主体，数字化与组织建设夯实长期能力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600200"/>
          <a:ext cx="59436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766560" y="1600200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31152" y="181965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2E7E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167335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拓店建设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509760" y="167335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¥2.6亿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744200" y="167335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66560" y="2459736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931152" y="267919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C2A8"/>
          </a:solidFill>
          <a:ln/>
        </p:spPr>
      </p:sp>
      <p:sp>
        <p:nvSpPr>
          <p:cNvPr id="17" name="Text 14"/>
          <p:cNvSpPr/>
          <p:nvPr/>
        </p:nvSpPr>
        <p:spPr>
          <a:xfrm>
            <a:off x="7406640" y="25328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营销推广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509760" y="253288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¥1.5亿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744200" y="253288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66560" y="3319272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31152" y="35387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D23F"/>
          </a:solidFill>
          <a:ln/>
        </p:spPr>
      </p:sp>
      <p:sp>
        <p:nvSpPr>
          <p:cNvPr id="22" name="Text 19"/>
          <p:cNvSpPr/>
          <p:nvPr/>
        </p:nvSpPr>
        <p:spPr>
          <a:xfrm>
            <a:off x="7406640" y="339242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供应链升级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509760" y="339242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¥1.4亿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744200" y="339242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766560" y="4178808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931152" y="439826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5151F"/>
          </a:solidFill>
          <a:ln/>
        </p:spPr>
      </p:sp>
      <p:sp>
        <p:nvSpPr>
          <p:cNvPr id="27" name="Text 24"/>
          <p:cNvSpPr/>
          <p:nvPr/>
        </p:nvSpPr>
        <p:spPr>
          <a:xfrm>
            <a:off x="7406640" y="42519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数字化建设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509760" y="425196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¥0.8亿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744200" y="425196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766560" y="5038344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931152" y="52578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A6A6B0"/>
          </a:solidFill>
          <a:ln/>
        </p:spPr>
      </p:sp>
      <p:sp>
        <p:nvSpPr>
          <p:cNvPr id="32" name="Text 29"/>
          <p:cNvSpPr/>
          <p:nvPr/>
        </p:nvSpPr>
        <p:spPr>
          <a:xfrm>
            <a:off x="7406640" y="511149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组织与培训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509760" y="511149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¥0.5亿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744200" y="5111496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关键指标看板：12个核心指标一览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北极星指标+过程指标双层看板，支撑月度经营例会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47120" cy="489204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指标类型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指标名称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2025基准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2027目标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北极星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全国门店总数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约400家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北极星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年营业收入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¥6.5亿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¥18亿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北极星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会员复购率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城市覆盖数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私域触达率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健康化产品占比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加盟商流失率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单店月均坪效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¥1,650/㎡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¥2,100/㎡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新品年上新数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UGC内容月产出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会员等级渗透率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食安合规达标率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财务测算：3年营收·门店数·毛利率预测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规模扩张与毛利率同步优化，验证全国化战略的财务健康度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572768"/>
          <a:ext cx="112471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风险矩阵与应对预案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四大关键风险及对应管控措施，纳入月度战区会常态监控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292608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风险项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风险等级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潜在影响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应对预案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原料价格波动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毛利率承压1-3个百分点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主要原料年度锁价协议+多供应商竞价机制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加盟商管控失序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品牌形象与食安风险外溢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标准化SOP+区域战区驻店督导+末位淘汰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同质化竞争加剧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获客成本上升/客单价承压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IP联名差异化+研发流水线加速迭代速度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食品安全事件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品牌信任断崖式下滑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全链路溯源系统+季度飞行检查+应急预案演练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9032"/>
            </a:avLst>
          </a:prstGeom>
          <a:solidFill>
            <a:srgbClr val="15151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9377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48463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2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风险治理原则：分级预警 · 属地首责 · 月度复盘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5230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所有风险项纳入月度战区会固定议题，触发预警阈值自动升级至总部风控委员会审议。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标杆对标：行业标杆增长打法拆解对比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匿名化对标三类代表打法，明确元气浆的差异化定位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3200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对标对象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核心打法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门店规模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客单价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元气浆差异化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行业标杆A系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高端全国连锁·稳健扩张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2,800+家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以气泡感官化差异化对抗其品类同质化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行业标杆B系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大众价位·极致下沉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5,600+家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以健康化标签避免陷入纯价格竞争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行业标杆C系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高端联名·话题营销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1,200+家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以中价位+高频联名兼顾性价比与话题度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区域黑马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低价快拓·区域深耕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600+家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以全国供应链体系构筑规模化护城河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说明：以上为行业公开信息匿名化整理的代表性打法归纳，用于战略参照，非特定企业指认。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落地保障机制：三级治理节奏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月度战区会·季度战略复盘·年度誓师大会构成闭环治理体系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81051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810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每月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040" y="1737360"/>
            <a:ext cx="640080" cy="640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2423160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月度战区会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13232" y="2971800"/>
            <a:ext cx="30236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各战区总经理汇报门店拓展、坪效、私域数据，识别风险预警并制定下月行动。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1292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68952" y="181051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7" name="Text 14"/>
          <p:cNvSpPr/>
          <p:nvPr/>
        </p:nvSpPr>
        <p:spPr>
          <a:xfrm>
            <a:off x="4568952" y="1810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每季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760" y="173736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68952" y="2423160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季度战略复盘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568952" y="2971800"/>
            <a:ext cx="30236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总部战略指挥中心对照北极星目标复盘四大战术执行进度，校准资源分配。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6864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24672" y="181051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23" name="Text 19"/>
          <p:cNvSpPr/>
          <p:nvPr/>
        </p:nvSpPr>
        <p:spPr>
          <a:xfrm>
            <a:off x="8424672" y="1810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每年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173736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24672" y="2423160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年度誓师大会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424672" y="2971800"/>
            <a:ext cx="30236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全国加盟商与总部团队年度大会，发布次年目标与激励政策，凝聚组织士气。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4015740" y="3611880"/>
            <a:ext cx="274320" cy="274320"/>
          </a:xfrm>
          <a:prstGeom prst="rightArrow">
            <a:avLst/>
          </a:prstGeom>
          <a:solidFill>
            <a:srgbClr val="A6A6B0"/>
          </a:solidFill>
          <a:ln/>
        </p:spPr>
      </p:sp>
      <p:sp>
        <p:nvSpPr>
          <p:cNvPr id="28" name="Shape 23"/>
          <p:cNvSpPr/>
          <p:nvPr/>
        </p:nvSpPr>
        <p:spPr>
          <a:xfrm>
            <a:off x="7871460" y="3611880"/>
            <a:ext cx="274320" cy="274320"/>
          </a:xfrm>
          <a:prstGeom prst="rightArrow">
            <a:avLst/>
          </a:prstGeom>
          <a:solidFill>
            <a:srgbClr val="A6A6B0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5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D2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20040" cy="3200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 rot="720000">
            <a:off x="11064240" y="64008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D23F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5486400"/>
            <a:ext cx="411480" cy="411480"/>
          </a:xfrm>
          <a:prstGeom prst="triangle">
            <a:avLst/>
          </a:prstGeom>
          <a:solidFill>
            <a:srgbClr val="FF2E7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总结与下一步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FF2E7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09397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机会已验证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43400" y="2093976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6A6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华东市场已验证「气泡感官化+低糖健康化」的产品心智与坪效模型，具备全国复制基础。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287121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路径已清晰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43400" y="2871216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6A6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品牌年轻化、渠道下沉、产品飞轮三支柱协同，配套数字化与组织能力支撑三年增长目标。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370332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FFD2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64845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风险已可控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43400" y="3648456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6A6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分级预警治理机制+标准化SOP体系，将全国化扩张的执行风险控制在可管理范围内。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892040"/>
            <a:ext cx="5577840" cy="685800"/>
          </a:xfrm>
          <a:prstGeom prst="roundRect">
            <a:avLst>
              <a:gd name="adj" fmla="val 49333"/>
            </a:avLst>
          </a:prstGeom>
          <a:solidFill>
            <a:srgbClr val="FF2E7E"/>
          </a:solidFill>
          <a:ln/>
          <a:effectLst>
            <a:outerShdw sx="100000" sy="100000" kx="0" ky="0" algn="bl" rotWithShape="0" blurRad="101600" dist="50800" dir="2700000">
              <a:srgbClr val="000000">
                <a:alpha val="8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8920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下一步：请批准战略预算，启动Year1执行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2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「有点冒泡，才叫元气」— 让全国年轻人爱上元气浆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附录：数据来源与测算假设说明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本报告数据来源与关键测算假设的透明化披露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170992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62763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市场规模数据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62763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参考公开行业研究报告与第三方数据平台（如新茶饮行业蓝皮书类公开出版物）测算合成，细分品类增速为行业趋势推演估算值。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6700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670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58775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竞品对标信息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58775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竞争格局与标杆对标部分采用匿名化处理，基于公开渠道信息（门店数、客单价区间）归纳，不涉及未公开商业机密。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63016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54787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内部经营数据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54787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门店数、营收、复购率等历史数据以公司内部2024财年经营台账为准，2025年及以后为战略规划测算值。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" y="45902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590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50799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财务测算假设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450799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毛利率提升假设基于规模效应与供应链集中采购降本测算；营收预测假设门店爬坡曲线遵循华东历史开店表现。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394960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" y="55504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5550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17320" y="546811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更新与免责说明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546811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本报告为战略规划参考文件，具体执行数据以年度经营计划及审计财务报表为准，如有调整以内部最新版本为准。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元气浆 2027全国化增长战略</dc:title>
  <dc:subject>PptxGenJS Presentation</dc:subject>
  <dc:creator>元气浆战略部</dc:creator>
  <cp:lastModifiedBy>元气浆战略部</cp:lastModifiedBy>
  <cp:revision>1</cp:revision>
  <dcterms:created xsi:type="dcterms:W3CDTF">2026-07-05T02:50:30Z</dcterms:created>
  <dcterms:modified xsi:type="dcterms:W3CDTF">2026-07-05T02:50:30Z</dcterms:modified>
</cp:coreProperties>
</file>