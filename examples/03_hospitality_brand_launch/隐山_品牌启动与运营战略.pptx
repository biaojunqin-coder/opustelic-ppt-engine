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高端休闲度假市场规模(亿元)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186</c:v>
                </c:pt>
                <c:pt idx="1">
                  <c:v>224</c:v>
                </c:pt>
                <c:pt idx="2">
                  <c:v>271</c:v>
                </c:pt>
                <c:pt idx="3">
                  <c:v>329</c:v>
                </c:pt>
                <c:pt idx="4">
                  <c:v>398</c:v>
                </c:pt>
                <c:pt idx="5">
                  <c:v>476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9B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ADR(元)</c:v>
                </c:pt>
              </c:strCache>
            </c:strRef>
          </c:tx>
          <c:spPr>
            <a:solidFill>
              <a:srgbClr val="B08D57"/>
            </a:solidFill>
            <a:ln w="31750" cap="flat">
              <a:solidFill>
                <a:srgbClr val="B08D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8D57"/>
              </a:solidFill>
              <a:ln w="9525" cap="flat">
                <a:solidFill>
                  <a:srgbClr val="B08D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3200</c:v>
                </c:pt>
                <c:pt idx="1">
                  <c:v>3400</c:v>
                </c:pt>
                <c:pt idx="2">
                  <c:v>3600</c:v>
                </c:pt>
                <c:pt idx="3">
                  <c:v>4200</c:v>
                </c:pt>
                <c:pt idx="4">
                  <c:v>4800</c:v>
                </c:pt>
                <c:pt idx="5">
                  <c:v>4400</c:v>
                </c:pt>
                <c:pt idx="6">
                  <c:v>5600</c:v>
                </c:pt>
                <c:pt idx="7">
                  <c:v>5400</c:v>
                </c:pt>
                <c:pt idx="8">
                  <c:v>4600</c:v>
                </c:pt>
                <c:pt idx="9">
                  <c:v>5100</c:v>
                </c:pt>
                <c:pt idx="10">
                  <c:v>3400</c:v>
                </c:pt>
                <c:pt idx="11">
                  <c:v>4900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RevPAR(元)</c:v>
                </c:pt>
              </c:strCache>
            </c:strRef>
          </c:tx>
          <c:spPr>
            <a:solidFill>
              <a:srgbClr val="2F4034"/>
            </a:solidFill>
            <a:ln w="31750" cap="flat">
              <a:solidFill>
                <a:srgbClr val="2F40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4034"/>
              </a:solidFill>
              <a:ln w="9525" cap="flat">
                <a:solidFill>
                  <a:srgbClr val="2F40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1850</c:v>
                </c:pt>
                <c:pt idx="1">
                  <c:v>2050</c:v>
                </c:pt>
                <c:pt idx="2">
                  <c:v>2200</c:v>
                </c:pt>
                <c:pt idx="3">
                  <c:v>2650</c:v>
                </c:pt>
                <c:pt idx="4">
                  <c:v>3100</c:v>
                </c:pt>
                <c:pt idx="5">
                  <c:v>2800</c:v>
                </c:pt>
                <c:pt idx="6">
                  <c:v>3850</c:v>
                </c:pt>
                <c:pt idx="7">
                  <c:v>3700</c:v>
                </c:pt>
                <c:pt idx="8">
                  <c:v>2950</c:v>
                </c:pt>
                <c:pt idx="9">
                  <c:v>3400</c:v>
                </c:pt>
                <c:pt idx="10">
                  <c:v>2000</c:v>
                </c:pt>
                <c:pt idx="11">
                  <c:v>3300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9B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预算分配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8D57"/>
              </a:solidFill>
              <a:effectLst/>
            </c:spPr>
          </c:dPt>
          <c:dPt>
            <c:idx val="1"/>
            <c:bubble3D val="0"/>
            <c:spPr>
              <a:solidFill>
                <a:srgbClr val="8B6F42"/>
              </a:solidFill>
              <a:effectLst/>
            </c:spPr>
          </c:dPt>
          <c:dPt>
            <c:idx val="2"/>
            <c:bubble3D val="0"/>
            <c:spPr>
              <a:solidFill>
                <a:srgbClr val="2F4034"/>
              </a:solidFill>
              <a:effectLst/>
            </c:spPr>
          </c:dPt>
          <c:dPt>
            <c:idx val="3"/>
            <c:bubble3D val="0"/>
            <c:spPr>
              <a:solidFill>
                <a:srgbClr val="C9B78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建造与设计</c:v>
                </c:pt>
                <c:pt idx="1">
                  <c:v>品牌与营销</c:v>
                </c:pt>
                <c:pt idx="2">
                  <c:v>数字化与会员系统</c:v>
                </c:pt>
                <c:pt idx="3">
                  <c:v>组织与人才培养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58</c:v>
                </c:pt>
                <c:pt idx="1">
                  <c:v>18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集团总营收(百万元)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241</c:v>
                </c:pt>
                <c:pt idx="2">
                  <c:v>612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9B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53419" y="5074920"/>
            <a:ext cx="3657509" cy="1783080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975336" y="4076395"/>
            <a:ext cx="4876678" cy="2781605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4" name="Shape 2"/>
          <p:cNvSpPr/>
          <p:nvPr/>
        </p:nvSpPr>
        <p:spPr>
          <a:xfrm>
            <a:off x="3413675" y="3291840"/>
            <a:ext cx="5852014" cy="3566160"/>
          </a:xfrm>
          <a:prstGeom prst="triangle">
            <a:avLst/>
          </a:prstGeom>
          <a:solidFill>
            <a:srgbClr val="2E2A20"/>
          </a:solidFill>
          <a:ln/>
        </p:spPr>
      </p:sp>
      <p:sp>
        <p:nvSpPr>
          <p:cNvPr id="5" name="Shape 3"/>
          <p:cNvSpPr/>
          <p:nvPr/>
        </p:nvSpPr>
        <p:spPr>
          <a:xfrm>
            <a:off x="6705432" y="4575658"/>
            <a:ext cx="4632844" cy="2282342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6" name="Shape 4"/>
          <p:cNvSpPr/>
          <p:nvPr/>
        </p:nvSpPr>
        <p:spPr>
          <a:xfrm>
            <a:off x="9753356" y="5360213"/>
            <a:ext cx="3413675" cy="1497787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8174" y="846734"/>
            <a:ext cx="592531" cy="59253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 ·  2027 BRAND LAUNCH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4224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品牌启动与运营战略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4736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C3A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「隐于山，见自己」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HOSPITALITY GROUP · 私密呈阅 · 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 目录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目录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609" y="2110801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39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市场洞察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INSIGHT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25735" y="2075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79192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4609" y="2952049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807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品牌战略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64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STRATEGY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25735" y="2916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21608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4609" y="3793297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3648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产品与体验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4105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EXPERIENCE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25735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16–25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361688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562856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4609" y="4634545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44897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落地路线图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80160" y="4946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ROADMAP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25735" y="4599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26–30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5202936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5404104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609" y="5475793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404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80160" y="53309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财务与治理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280160" y="5788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GOVERNANCE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25735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31–38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 · 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摘要 Executive Summary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四组核心数字，定义隐山第一阶段的战略靶心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首批开业门店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2027年内落地首批目的地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45104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73704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73704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年入住率目标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73704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对标同类精品度假标杆P60分位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7288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5888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3,800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元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15888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ADR平均房价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5888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旺季浮动区间¥2,900–5,600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29471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58071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+45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58071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3年品牌溢价目标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58071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相对区域普通度假酒店ADR差值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480560"/>
            <a:ext cx="1118585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01600" dist="38100" dir="5400000">
              <a:srgbClr val="1C1C1C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61772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核心判断：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高端休闲度假需求已从「打卡型消费」转向「疗愈型消费」，但供给端仍以标准化连锁或孤立民宿为主，缺少兼具品牌可信度与在地稀缺性的中间层——这正是隐山切入的结构性窗口。首批3店验证模型，3年内完成从「单点标杆」到「品类代名词」的跃迁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 · 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高端休闲度假市场大势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市场规模持续扩容，增速跑赢大盘住宿业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96596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52360" y="1965960"/>
            <a:ext cx="4236415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0" y="2148840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680960" y="278892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2023–2028E 复合增长率(CAGR)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80960" y="3200400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同期全国住宿业整体规模CAGR约7.8%，高端休闲度假细分跑赢大盘近2.7倍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52360" y="3794760"/>
            <a:ext cx="423641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680960" y="39776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驱动因素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0" y="4315968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高净值人群年龄结构年轻化，35岁以下占比升至41%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「反向旅游」「疗愈经济」成为社交媒体核心议题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国际高端连锁在三四线以外区域供给不足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数据来源：见附录（第38页）测算假设说明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 · 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细分赛道格局：精品度假酒店2×2矩阵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横轴：客单价 ｜ 纵轴：体验稀缺性 —— 隐山锚定右上角空白象限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768096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4046220"/>
            <a:ext cx="7498080" cy="0"/>
          </a:xfrm>
          <a:prstGeom prst="line">
            <a:avLst/>
          </a:prstGeom>
          <a:noFill/>
          <a:ln w="12700">
            <a:solidFill>
              <a:srgbClr val="D8C9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240280"/>
            <a:ext cx="0" cy="3611880"/>
          </a:xfrm>
          <a:prstGeom prst="line">
            <a:avLst/>
          </a:prstGeom>
          <a:noFill/>
          <a:ln w="12700">
            <a:solidFill>
              <a:srgbClr val="D8C9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体验稀缺性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600" y="40919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客单价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6947" y="3490265"/>
            <a:ext cx="201168" cy="201168"/>
          </a:xfrm>
          <a:prstGeom prst="ellipse">
            <a:avLst/>
          </a:prstGeom>
          <a:solidFill>
            <a:srgbClr val="9A8B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7411" y="3737153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标杆品牌A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国际连锁高奢线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80944" y="4628693"/>
            <a:ext cx="201168" cy="201168"/>
          </a:xfrm>
          <a:prstGeom prst="ellipse">
            <a:avLst/>
          </a:prstGeom>
          <a:solidFill>
            <a:srgbClr val="9A8B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487558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标杆品牌B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设计师精品独立店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38851" y="5159959"/>
            <a:ext cx="201168" cy="201168"/>
          </a:xfrm>
          <a:prstGeom prst="ellipse">
            <a:avLst/>
          </a:prstGeom>
          <a:solidFill>
            <a:srgbClr val="9A8B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9315" y="5406847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标杆品牌C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网红打卡型民宿集群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2676449"/>
            <a:ext cx="310896" cy="310896"/>
          </a:xfrm>
          <a:prstGeom prst="ellipse">
            <a:avLst/>
          </a:prstGeom>
          <a:solidFill>
            <a:srgbClr val="B08D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3033065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在地美学+静奢体验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78240" y="2148840"/>
            <a:ext cx="2910535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2331720"/>
            <a:ext cx="2453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空白象限洞察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06840" y="2743200"/>
            <a:ext cx="245333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国际连锁高奢线：品牌信任度高，但建筑语言「全球化通用」，在地叙事薄弱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网红打卡型民宿：稀缺感强但难标准化，服务与安全参差不齐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隐山定位：以「可复制的在地美学体系」填补高客单×高稀缺的空白格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 · 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目标客群画像：静奢主义者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「Quiet Luxury Seeker」—— 隐山核心客群的人口特征与决策动因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493776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人口特征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年龄区间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060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30–45岁为主(占62%)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家庭结构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无孩/一孩高知家庭占71%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职业构成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0604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企业主/合伙人/高管/自由职业创作者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年可支配旅行预算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12–35万元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年度度假频次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3–5次，其中1–2次为「深度慢游」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决策周期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平均41天，重体验测评轻广告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2103120"/>
            <a:ext cx="5928055" cy="388620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2286000"/>
            <a:ext cx="5379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决策动因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86600" y="2770632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希望「脱离社交表演」而非展示消费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34564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86600" y="3483864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看重设计与建筑的在地真实性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41696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86600" y="4197096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在意管家/向导的专业度胜过设施豪华度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0" y="48828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86600" y="4910328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愿为「限量与隐私」支付溢价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 · 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消费者四大情感需求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从功能性住宿到情感疗愈——隐山产品设计的底层需求地图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12532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2143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8953" y="2543861"/>
            <a:ext cx="307238" cy="30723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32572" y="2589947"/>
            <a:ext cx="0" cy="215067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逃离喧嚣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对高强度都市节奏的主动断连，寻求可控的「消失感」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45104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4716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4327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1137" y="2589947"/>
            <a:ext cx="190488" cy="184343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20" name="Shape 18"/>
          <p:cNvSpPr/>
          <p:nvPr/>
        </p:nvSpPr>
        <p:spPr>
          <a:xfrm>
            <a:off x="4625598" y="2636032"/>
            <a:ext cx="184343" cy="138257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/>
          <p:nvPr/>
        </p:nvSpPr>
        <p:spPr>
          <a:xfrm>
            <a:off x="3527984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在地文化沉浸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73704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希望旅居本身即是对一方水土的深度阅读，而非景点打卡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7288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96900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6511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3320" y="2589947"/>
            <a:ext cx="153619" cy="153619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B08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2360" y="2697480"/>
            <a:ext cx="168981" cy="0"/>
          </a:xfrm>
          <a:prstGeom prst="line">
            <a:avLst/>
          </a:prstGeom>
          <a:noFill/>
          <a:ln w="15240">
            <a:solidFill>
              <a:srgbClr val="B08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0168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私密尊享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15888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对空间边界与服务边界有极高敏感度，拒绝被观看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29471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39083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28695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5504" y="2543861"/>
            <a:ext cx="307238" cy="307238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34" name="Text 32"/>
          <p:cNvSpPr/>
          <p:nvPr/>
        </p:nvSpPr>
        <p:spPr>
          <a:xfrm>
            <a:off x="9212351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可分享的松弛感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258071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愿意分享「慢下来的自己」，但拒绝分享具体位置与他人隐私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 · 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选址逻辑与首批目的地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三项选址标准，锁定首批3个化名山系目的地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118585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86000"/>
            <a:ext cx="420624" cy="42062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407" y="2344887"/>
            <a:ext cx="30284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自然稀缺度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拥有不可复制的地理意象(云海/古林/温泉带)，且开发强度可控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60138" y="2286000"/>
            <a:ext cx="420624" cy="42062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9026" y="2344887"/>
            <a:ext cx="30284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013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08778" y="228600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文化厚度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08778" y="265176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在地非遗、农事或工艺体系完整，可支撑长期内容策展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88757" y="2286000"/>
            <a:ext cx="420624" cy="42062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644" y="2344887"/>
            <a:ext cx="30284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8757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7397" y="228600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可达半径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37397" y="265176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距核心客源城市机场2.5小时车程内，兼顾私密与可达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3545738" cy="224028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9319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隐山·云隐(化名)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315968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C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西南云雾山系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709160"/>
            <a:ext cx="3088538" cy="0"/>
          </a:xfrm>
          <a:prstGeom prst="line">
            <a:avLst/>
          </a:prstGeom>
          <a:noFill/>
          <a:ln w="6350">
            <a:solidFill>
              <a:srgbClr val="D8C3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846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千年古茶道 · 常年云海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54864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18间</a:t>
            </a:r>
            <a:pPr indent="0" marL="0">
              <a:buNone/>
            </a:pPr>
            <a:r>
              <a:rPr lang="en-US" sz="9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客房规模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22978" y="374904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51578" y="39319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隐山·林隐(化名)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51578" y="4315968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东南竹林山系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51578" y="4709160"/>
            <a:ext cx="3088538" cy="0"/>
          </a:xfrm>
          <a:prstGeom prst="line">
            <a:avLst/>
          </a:prstGeom>
          <a:noFill/>
          <a:ln w="6350">
            <a:solidFill>
              <a:srgbClr val="8B6F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1578" y="4846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非遗竹编村落 · 溪谷地形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51578" y="54864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22间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客房规模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143037" y="374904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71637" y="39319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隐山·泉隐(化名)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71637" y="4315968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北方温泉山系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71637" y="4709160"/>
            <a:ext cx="3088538" cy="0"/>
          </a:xfrm>
          <a:prstGeom prst="line">
            <a:avLst/>
          </a:prstGeom>
          <a:noFill/>
          <a:ln w="6350">
            <a:solidFill>
              <a:srgbClr val="8B6F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71637" y="4846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天然温泉带 · 四季分明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71637" y="54864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16间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客房规模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市场洞察 · 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竞对标杆拆解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三个标杆案例的定位、客单价与复购率对比(品牌名称已匿名化)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7373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品牌定位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客单价(ADR)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年复购率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会员权益丰富度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标杆品牌A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国际连锁高奢度假线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¥4,200–6,800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★★★★☆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标杆品牌B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设计师精品独立店群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¥3,100–4,500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★★★☆☆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标杆品牌C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网红打卡型民宿集群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¥1,800–2,600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★★☆☆☆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隐山 YINSHAN(目标)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在地美学静奢会员制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¥2,900–5,600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≥38%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★★★★★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709160"/>
            <a:ext cx="11185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48920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关键差距识别：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A复购率被「全球化设计语言」拉低——客人体验一次即感「似曾相识」；标杆B、C复购率结构性受限于服务标准化程度与会员体系薄弱。隐山的差异化窗口在于：用可复制的品牌管理体系，稳定输出「不可复制」的在地体验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 · 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核心问题与挑战诊断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四个必须正面应对的结构性挑战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929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560" y="2556480"/>
            <a:ext cx="144841" cy="144841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3317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品牌认知空白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71600" y="27706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隐山作为新品牌，0-1阶段面临「无历史背书」的信任冷启动问题，需以可验证的实物标准建立初期口碑。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21488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1608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2016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0647" y="2556480"/>
            <a:ext cx="144841" cy="144841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1688" y="23317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供给稀缺难标准化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01688" y="27706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在地建筑与体验高度依赖当地工匠与生态资源，规模化扩张与「不可复制性」天然存在张力。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062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9" y="45052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2279" y="4565599"/>
            <a:ext cx="241402" cy="241402"/>
          </a:xfrm>
          <a:prstGeom prst="diamond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3891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淡旺季波动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71600" y="48280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山系目的地受气候与节假日影响显著，首批门店预测淡季入住率仅为旺季的43%。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3008" y="42062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1608" y="44348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2016" y="45052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2367" y="4565599"/>
            <a:ext cx="241402" cy="241402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31" name="Text 29"/>
          <p:cNvSpPr/>
          <p:nvPr/>
        </p:nvSpPr>
        <p:spPr>
          <a:xfrm>
            <a:off x="7101688" y="43891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人才稀缺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101688" y="48280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管家式服务人才在下沉山系区域储备不足，需自建学院体系而非依赖社会招聘。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 · 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38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-853419" y="5989320"/>
            <a:ext cx="3657509" cy="868680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8" name="Shape 6"/>
          <p:cNvSpPr/>
          <p:nvPr/>
        </p:nvSpPr>
        <p:spPr>
          <a:xfrm>
            <a:off x="975336" y="5502859"/>
            <a:ext cx="4876678" cy="1355141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9" name="Shape 7"/>
          <p:cNvSpPr/>
          <p:nvPr/>
        </p:nvSpPr>
        <p:spPr>
          <a:xfrm>
            <a:off x="3413675" y="5120640"/>
            <a:ext cx="5852014" cy="1737360"/>
          </a:xfrm>
          <a:prstGeom prst="triangle">
            <a:avLst/>
          </a:prstGeom>
          <a:solidFill>
            <a:srgbClr val="2E2A20"/>
          </a:solidFill>
          <a:ln/>
        </p:spPr>
      </p:sp>
      <p:sp>
        <p:nvSpPr>
          <p:cNvPr id="10" name="Shape 8"/>
          <p:cNvSpPr/>
          <p:nvPr/>
        </p:nvSpPr>
        <p:spPr>
          <a:xfrm>
            <a:off x="6705432" y="5746090"/>
            <a:ext cx="4632844" cy="1111910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11" name="Shape 9"/>
          <p:cNvSpPr/>
          <p:nvPr/>
        </p:nvSpPr>
        <p:spPr>
          <a:xfrm>
            <a:off x="9753356" y="6128309"/>
            <a:ext cx="3413675" cy="729691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08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北极星定位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中国式隐居度假的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标准制定者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Redefining the Standard of Reclusive Retreat in China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首批3店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验证「在地美学+静奢服务」可复制模型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31538" y="429768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区域心智第一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31538" y="470916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在3个核心客源城市认知调研中进入「山系度假」TOP3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0157" y="429768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品类代名词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60157" y="470916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「隐山式」成为行业对静奢度假产品的通用形容词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 · 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三大战略支柱总览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从建筑语言到会员体系，构成隐山品牌的完整支撑结构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7649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79978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0387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738" y="2544409"/>
            <a:ext cx="149669" cy="144841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2814" y="2580620"/>
            <a:ext cx="144841" cy="108631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632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在地美学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建筑语言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以「在地材料+低干预建造」定义隐山的空间辨识度，让每一店都是不可移植的地理注脚。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22978" y="2148840"/>
            <a:ext cx="3545738" cy="379476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7298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7707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729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00037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70446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0796" y="2508199"/>
            <a:ext cx="241402" cy="24140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497" y="2544409"/>
            <a:ext cx="0" cy="168981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7298" y="30632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静奢体验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体系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97298" y="39776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以管家服务三层体系与在地内容策展，把「服务」升级为「叙事」，让松弛感可被设计。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43037" y="2148840"/>
            <a:ext cx="3545738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7357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7766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7357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820095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90504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50854" y="2544409"/>
            <a:ext cx="120701" cy="120701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B08D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52243" y="2628900"/>
            <a:ext cx="132771" cy="0"/>
          </a:xfrm>
          <a:prstGeom prst="line">
            <a:avLst/>
          </a:prstGeom>
          <a:noFill/>
          <a:ln w="15240">
            <a:solidFill>
              <a:srgbClr val="B08D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7357" y="30632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会员制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轻资产扩张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417357" y="39776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以「品牌输出+业主合作」模型控制资本强度，用会员体系锁定复购与转介绍。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 · 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支柱一详解：在地美学建筑语言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设计准则——在地材料 / 低干预建造 / 四季景观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2860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在地材料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27248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结构性材料70%以上取自项目半径50公里内(夯土/毛石/本地木)，降低生态足迹并强化地理真实感。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2978" y="214884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51578" y="22860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51578" y="2743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低干预建造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1578" y="3127248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尊重原始地形等高线，禁止大挖大填；单体建筑占地率不超过地块的18%。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43037" y="214884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1637" y="22860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1637" y="2743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四季景观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1637" y="3127248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景观设计以「可四季轮值」为准则，避免依赖单一花期或雪期的短暂视觉噱头。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663440"/>
            <a:ext cx="11185855" cy="123444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463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C3A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「我们不建造风景，我们只是让风景被更好地看见。」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 · 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支柱一战术：建筑与室内设计五原则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五条准则贯穿从选址勘测到软装陈设的全过程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82594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5006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2789" y="2528865"/>
            <a:ext cx="217700" cy="210678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2" name="Shape 10"/>
          <p:cNvSpPr/>
          <p:nvPr/>
        </p:nvSpPr>
        <p:spPr>
          <a:xfrm>
            <a:off x="1492173" y="2581534"/>
            <a:ext cx="210678" cy="158008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顺应地形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建筑退让原生地貌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56341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8753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6536" y="2476195"/>
            <a:ext cx="351130" cy="35113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22101" y="2528865"/>
            <a:ext cx="0" cy="245791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5227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在地取材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39507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本地材料占比≥70%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30088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32500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90509" y="2546421"/>
            <a:ext cx="210678" cy="21067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8974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留白节制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3254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客房不做视觉过度堆砌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03835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6247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4256" y="2546421"/>
            <a:ext cx="210678" cy="21067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9" name="Text 27"/>
          <p:cNvSpPr/>
          <p:nvPr/>
        </p:nvSpPr>
        <p:spPr>
          <a:xfrm>
            <a:off x="7232721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光影为先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87001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自然采光优先于人工照明设计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77582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79994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67777" y="2528865"/>
            <a:ext cx="175565" cy="175565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B08D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15251" y="2651760"/>
            <a:ext cx="193121" cy="0"/>
          </a:xfrm>
          <a:prstGeom prst="line">
            <a:avLst/>
          </a:prstGeom>
          <a:noFill/>
          <a:ln w="15240">
            <a:solidFill>
              <a:srgbClr val="B08D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6468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可逆建造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60748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构件可拆卸，降低生态负债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709160"/>
            <a:ext cx="11185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48920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落地验收机制：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每店设计交付前须通过「五原则」评审委员会打分，任一维度低于3.5分(满分5)即退回修改，不因工期压力降标准。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品牌战略 · 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支柱一战术：单店空间配比模型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客房 / 公共空间 / 山林步道——空间比例决定体验密度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3132039" cy="822960"/>
          </a:xfrm>
          <a:prstGeom prst="rect">
            <a:avLst/>
          </a:prstGeom>
          <a:solidFill>
            <a:srgbClr val="B08D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3132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客房区 28%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34959" y="2377440"/>
            <a:ext cx="2460888" cy="822960"/>
          </a:xfrm>
          <a:prstGeom prst="rect">
            <a:avLst/>
          </a:prstGeom>
          <a:solidFill>
            <a:srgbClr val="8B6F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959" y="2377440"/>
            <a:ext cx="2460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公共/餐饮 22%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48" y="2377440"/>
            <a:ext cx="5592928" cy="822960"/>
          </a:xfrm>
          <a:prstGeom prst="rect">
            <a:avLst/>
          </a:prstGeom>
          <a:solidFill>
            <a:srgbClr val="2F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5848" y="2377440"/>
            <a:ext cx="559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山林步道与景观留野 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客房区 28%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520440"/>
            <a:ext cx="8351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18–22间/店，均层2层以内，最大化私密视野角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公共/餐饮 22%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4142232"/>
            <a:ext cx="8351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无声晚宴厅、晨昏茶室、图书角、SPA与温泉院落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764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山林步道与留野 50%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4764024"/>
            <a:ext cx="8351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刻意保留过半用地为原生植被与徒步动线，是「稀缺感」的核心资产而非待开发用地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522976"/>
            <a:ext cx="111858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660136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对比行业均值：主流精品度假酒店留野比例普遍在30%以下，隐山以「反密度开发」作为稀缺性护城河。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支柱二详解：一日「慢时区」体验动线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静奢体验体系的具体呈现——从晨昏茶室到无声晚宴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10820095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4074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2720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6662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06:30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晨昏茶室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山雾未散时的第一盏茶，管家不语，只奉茶与静坐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58093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6739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90681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2895539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95539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山径徒步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5539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在地向导带队，讲述一株植物或一块岩石的年岁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22112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0758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4700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5" name="Text 23"/>
          <p:cNvSpPr/>
          <p:nvPr/>
        </p:nvSpPr>
        <p:spPr>
          <a:xfrm>
            <a:off x="5059558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59558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农事共作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59558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参与当季农事或手作，体力代替社交成为松弛出口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86131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4777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8719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577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17:30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23577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落日院落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577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私享院落观景位，一人一席，互不相扰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250150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8796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82738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7" name="Text 35"/>
          <p:cNvSpPr/>
          <p:nvPr/>
        </p:nvSpPr>
        <p:spPr>
          <a:xfrm>
            <a:off x="9387596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19:30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87596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无声晚宴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87596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全程手势服务的沉浸式晚宴，用餐即冥想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349240"/>
            <a:ext cx="1118585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" y="54864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设计逻辑：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动线刻意压缩「安排感」，全天仅5个锚点、大量留白时间不设行程，让客人自主决定「什么都不做」——这正是「静奢」区别于「精致忙碌」的核心体验差异。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支柱二战术：管家服务标准三层体系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 / 静奢 / 私享定制——服务分层对应不同会员等级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331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基础层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8952" y="3154680"/>
            <a:ext cx="3033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全员标准化服务：入离住引导、客房整理、基础餐饮咨询、24小时管家专线。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" y="4800600"/>
            <a:ext cx="3033674" cy="0"/>
          </a:xfrm>
          <a:prstGeom prst="line">
            <a:avLst/>
          </a:prstGeom>
          <a:noFill/>
          <a:ln w="12700">
            <a:solidFill>
              <a:srgbClr val="C9B7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93776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1名管家 : 4间客房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2978" y="2148840"/>
            <a:ext cx="354573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9010" y="2331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9010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静奢层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9010" y="3154680"/>
            <a:ext cx="3033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在基础层之上增加：在地行程定制、无声晚宴专属席位、生辰纪念日仪式设计。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9010" y="4800600"/>
            <a:ext cx="3033674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9010" y="493776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1名管家 : 2间客房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43037" y="2148840"/>
            <a:ext cx="3545738" cy="384048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99069" y="2331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BESPOKE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99069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私享定制层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399069" y="3154680"/>
            <a:ext cx="3033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一对一贴身管家，覆盖全程行前咨询、专属向导、私人主厨、隐私安保协同。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99069" y="4800600"/>
            <a:ext cx="3033674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9069" y="493776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1名管家 : 1组客人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支柱二战术：在地内容策展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与在地非遗、农事、艺术家的三种合作机制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233172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5762" y="2408530"/>
            <a:ext cx="395021" cy="39502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1598" y="2474366"/>
            <a:ext cx="263347" cy="263347"/>
          </a:xfrm>
          <a:prstGeom prst="diamond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37744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非遗合作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" y="3063240"/>
            <a:ext cx="30336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与当地非遗传承人签订长期驻店协议，每季更新一项可体验的手作课程(竹编/制茶/扎染)，隐山提供场地与传播权益分成。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22978" y="2148840"/>
            <a:ext cx="354573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9010" y="233172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5820" y="2408530"/>
            <a:ext cx="395021" cy="39502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1657" y="2474366"/>
            <a:ext cx="263347" cy="263347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53330" y="2513868"/>
            <a:ext cx="0" cy="184343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3098" y="237744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农事合作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9010" y="3063240"/>
            <a:ext cx="30336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与周边合作社建立「订单农业」，客人可参与当季农事并将收获带走，合作社获得稳定溢价采购，隐山获得真实内容素材。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43037" y="2148840"/>
            <a:ext cx="354573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99069" y="233172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75878" y="2408530"/>
            <a:ext cx="395021" cy="39502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1715" y="2474366"/>
            <a:ext cx="263347" cy="263347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9103157" y="237744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艺术家驻留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99069" y="3063240"/>
            <a:ext cx="30336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「隐山艺术家驻留计划」每年邀约4-6位创作者驻店1-3个月，创作成果限量陈列于店内，形成不可复制的空间叙事更新机制。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532120"/>
            <a:ext cx="11185855" cy="77724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6692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C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合作机制底线：内容策展不做「表演式民俗」，坚持「过程真实优先于视觉效果」，宁可素材产出慢，不做摆拍式伪民俗。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支柱三详解：会员制轻资产扩张模型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「品牌管理输出 + 业主合作」——用轻资产结构换取扩张速度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3108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578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业主/投资方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0358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提供土地与建造资本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60520" y="2377440"/>
            <a:ext cx="3291840" cy="137160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25786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隐山品牌管理公司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30358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输出设计标准/管家学院/会员体系/营销中台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18120" y="2377440"/>
            <a:ext cx="3108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2578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会员与旅居客群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30358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支付会员费与住宿消费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30168" y="2916936"/>
            <a:ext cx="512064" cy="292608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9" name="Shape 17"/>
          <p:cNvSpPr/>
          <p:nvPr/>
        </p:nvSpPr>
        <p:spPr>
          <a:xfrm>
            <a:off x="7470648" y="2916936"/>
            <a:ext cx="512064" cy="292608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160520"/>
            <a:ext cx="11185855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轻资产收益结构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品牌授权费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4754880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签约一次性收取，覆盖标准手册与设计导入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138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管理服务费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5138928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按门店营收的8%-12%持续收取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522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会员体系分润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5522976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全国会员消费在单店发生时，隐山抽取15%平台服务费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支柱三战术：业主筛选标准与收益分成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严格准入筛选，是轻资产模型不被稀释的前提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54864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合作业主筛选四条准入线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地块符合选址三标准(第8页)，且业主认可「反密度开发」留野比例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业主具备≥3年当地属地关系与合规资质，能协调在地工匠与非遗合作方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接受隐山设计与运营标准一票否决权，不得中途替换施工规范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首期出资比例不低于项目总投的65%，隐山不做主要出资方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263640" y="2148840"/>
            <a:ext cx="5425135" cy="379476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33172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收益分成结构(示例)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818120" y="295351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业主净收益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818120" y="359359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隐山管理费+分润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818120" y="423367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会员平台服务费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937760"/>
            <a:ext cx="4876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8AD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以门店年营业净收入(NOI)为分成基数，隐山不参与固定资产估值分成，确保业主资本回报优先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支柱三战术：3年开业节奏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首批3店 → 第二批7店 → 第三批15店——阶梯式验证后加速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11858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4028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节奏纪律：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每一批开业前必须满足「上一批店入住率≥60%持续两个季度」的门槛，不因资本压力提前透支下一批开业，避免品牌溢价被稀释。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3545738" cy="1097280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98348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5458968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08076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2027 首批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391656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自建标准验证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单店模型跑通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978" y="4251960"/>
            <a:ext cx="3545738" cy="1737360"/>
          </a:xfrm>
          <a:prstGeom prst="rect">
            <a:avLst/>
          </a:prstGeom>
          <a:solidFill>
            <a:srgbClr val="C9B78E"/>
          </a:solidFill>
          <a:ln/>
        </p:spPr>
      </p:sp>
      <p:sp>
        <p:nvSpPr>
          <p:cNvPr id="17" name="Text 15"/>
          <p:cNvSpPr/>
          <p:nvPr/>
        </p:nvSpPr>
        <p:spPr>
          <a:xfrm>
            <a:off x="4322978" y="434340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2978" y="4818888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22978" y="608076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2028 第二批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22978" y="6391656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轻资产合作模型启动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跨区域复制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43037" y="3520440"/>
            <a:ext cx="3545738" cy="246888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8143037" y="361188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143037" y="4087368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3037" y="608076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2029 第三批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43037" y="6391656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全国心智扩张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会员体系规模化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品牌体验闭环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C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认知种草 → 预订 → 在店体验 → 会员复购 → 口碑传播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4208" y="2468880"/>
            <a:ext cx="3383280" cy="338328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8D57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5528920" y="1901952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28920" y="197510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28920" y="223113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认知种草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35728" y="133502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杂志级内容+KOL共居计划建立第一触点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137765" y="3070846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7765" y="314399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7765" y="340003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预订转化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70737" y="327789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私域顾问式1v1咨询，降低决策门槛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523241" y="4962158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23241" y="503531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23241" y="529134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在店体验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30049" y="620574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三层管家服务体系兑现品牌承诺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34599" y="4962158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34599" y="503531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34599" y="529134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会员复购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41407" y="620574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三级会员权益驱动年度多次到访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920074" y="3070846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20074" y="314399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20074" y="340003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口碑传播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00719" y="327789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真实体验内容反哺认知层，形成自循环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272888" y="3776472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体验闭环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会员与私域体系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三级会员架构——山客 / 隐客 / 挚友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2377440"/>
                <a:gridCol w="237744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等级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准入条件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核心权益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房价优惠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专属服务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山客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首次入住即自动获得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积分累计 / 生日礼遇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9.5折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标准管家服务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隐客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年累计消费满5万元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淡季优先预订 / 专属客服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9折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静奢层管家服务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挚友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年累计消费满18万元或受邀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全国门店免费升房 / 艺术家驻留活动优先席位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8.5折+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私享定制层管家服务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709160"/>
            <a:ext cx="11185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48920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私域运营原则：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会员体系不做「充值升级」的强销售动作，等级晋升仅由真实消费与到访行为驱动，避免会员权益因过度营销而贬值——静奢客群对「被推销」高度敏感。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内容与传播策略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KOL共居计划 / 杂志级视觉内容 / 自有度假杂志《隐山志》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83181" y="2377440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5111" y="2459370"/>
            <a:ext cx="421356" cy="42135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5337" y="2529596"/>
            <a:ext cx="280904" cy="280904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089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KOL共居计划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0885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邀请10-15位调性契合的创作者「共居」7-14天而非一日探店，产出深度体验内容，拒绝快闪打卡式合作。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22978" y="2148840"/>
            <a:ext cx="354573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3240" y="2377440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85170" y="2459370"/>
            <a:ext cx="421356" cy="42135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1576" y="2585777"/>
            <a:ext cx="168542" cy="16854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5858" y="31089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杂志级视觉内容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51578" y="3566160"/>
            <a:ext cx="30885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统一由隐山内容中台把控视觉调性(米白/墨黑/暖金基调)，杜绝加盟店各自为政的营销素材。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43037" y="2148840"/>
            <a:ext cx="354573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23298" y="2377440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05228" y="2459370"/>
            <a:ext cx="421356" cy="42135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1635" y="2585777"/>
            <a:ext cx="168542" cy="16854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5" name="Text 23"/>
          <p:cNvSpPr/>
          <p:nvPr/>
        </p:nvSpPr>
        <p:spPr>
          <a:xfrm>
            <a:off x="8325917" y="31089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《隐山志》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71637" y="3566160"/>
            <a:ext cx="30885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季度刊自有度假杂志，收录在地人文选题与住客随笔，纸质版随房赠送、电子版沉淀私域内容资产。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623560"/>
            <a:ext cx="11185855" cy="68580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56235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8C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传播底线：绝不购买虚假流量与刷量种草，宁可慢一点，也不透支品牌信任资产。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产品与体验 · 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定价与收益管理策略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淡旺季动态定价模型 + RevPAR目标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210312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26680" y="2103120"/>
            <a:ext cx="3962095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55280" y="228600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pPr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955280" y="288036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旺季入住率峰值(7月)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246120"/>
            <a:ext cx="3504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淡季(2月/11月)通过会员专属价维持基本盘，不做大幅折扣损伤定价心智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26680" y="3977640"/>
            <a:ext cx="3962095" cy="173736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955280" y="416052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动态定价三原则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4498848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旺季不超发：即使满房也保留5%房量给挚友级会员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淡季不打折：以增值服务(延住/升房)替代降价促销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C9B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价格单向透明：全渠道同价，杜绝OTA暗价扰乱心智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 · 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组织与人才规划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总部品牌中台 + 驻店运营团队 + 管家学院培训体系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49928" y="2103120"/>
            <a:ext cx="3291840" cy="77724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49928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隐山品牌管理总部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5848" y="288036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75789" y="320040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520440"/>
            <a:ext cx="354573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703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品牌与产品中台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308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设计标准 / 会员体系 / 内容中台 / 收益管理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5848" y="288036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320040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2978" y="3520440"/>
            <a:ext cx="354573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1578" y="3703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管家学院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51578" y="4160520"/>
            <a:ext cx="308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服务标准培训 / 分级认证 / 在地文化课程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5848" y="288036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15906" y="320040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3037" y="3520440"/>
            <a:ext cx="354573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71637" y="3703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驻店运营团队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71637" y="4160520"/>
            <a:ext cx="308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总经理 / 管家团队 / 工程维保 / 在地合作对接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75789" y="3200400"/>
            <a:ext cx="7640117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 · 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供应链与运营标准化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在地食材网络 / 管家培训 / 工程维保SOP体系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8585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929" y="2521001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3591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在地食材网络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2359152"/>
            <a:ext cx="70710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每店签约8-12家半径30公里内的合作社/农户，建立「订单+溯源」双轨供应，季度轮换菜单降低对单一供应商依赖。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1118585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67912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929" y="3938321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776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管家培训认证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3776472"/>
            <a:ext cx="70710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新管家须完成6周「隐山学院」课程(服务礼仪/在地文化/应急处置)并通过盲测考核，方可独立带客。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029200"/>
            <a:ext cx="1118585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285232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9" y="5355641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1937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工程维保SOP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43400" y="5193792"/>
            <a:ext cx="70710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统一制定建筑维保周期表(月检/季检/年检)，涵盖夯土墙防潮、木结构防虫、温泉水质监测等在地特殊项。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 · 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执行路线图 Year 1：首店开业里程碑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选址 → 设计 → 建造 → 试运营，季度甘特视图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56784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56784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7448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67448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8111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78111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选址勘测与签约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340864"/>
            <a:ext cx="2110664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066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建筑与室内设计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01452" y="2761488"/>
            <a:ext cx="3165996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272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在地工匠组织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56784" y="3182112"/>
            <a:ext cx="2110664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478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主体建造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2116" y="3602736"/>
            <a:ext cx="4221328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684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软装与景观植入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78111" y="4023360"/>
            <a:ext cx="1688531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891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管家团队招募培训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22780" y="4443984"/>
            <a:ext cx="2743863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8097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试运营与内测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844510" y="4864608"/>
            <a:ext cx="844266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5504688"/>
            <a:ext cx="1118585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641848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关键里程碑：Q4末完成试运营内测，须通过「五原则设计评审」与「管家盲测考核」双通过方可对外开放预订。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 · 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执行路线图 Year 2-3：第二三批拓展节奏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轻资产合作模型规模化——从7店到15店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94760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 H1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8264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 H2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8264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1768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 H1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41768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271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 H2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715271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第二批业主筛选与签约(7店)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94760" y="2340864"/>
            <a:ext cx="1973504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第二批设计导入与建造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6811" y="2761488"/>
            <a:ext cx="2960256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272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第二批陆续开业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55016" y="3182112"/>
            <a:ext cx="1381453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4787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会员体系全国联通上线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8264" y="3602736"/>
            <a:ext cx="1184102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684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第三批业主筛选与签约(15店)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47067" y="4023360"/>
            <a:ext cx="1973504" cy="292608"/>
          </a:xfrm>
          <a:prstGeom prst="roundRect">
            <a:avLst>
              <a:gd name="adj" fmla="val 12500"/>
            </a:avLst>
          </a:prstGeom>
          <a:solidFill>
            <a:srgbClr val="2F403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891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第三批设计导入与建造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36468" y="4443984"/>
            <a:ext cx="2762905" cy="292608"/>
          </a:xfrm>
          <a:prstGeom prst="roundRect">
            <a:avLst>
              <a:gd name="adj" fmla="val 12500"/>
            </a:avLst>
          </a:prstGeom>
          <a:solidFill>
            <a:srgbClr val="2F403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8097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第三批陆续开业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109972" y="4864608"/>
            <a:ext cx="1578803" cy="292608"/>
          </a:xfrm>
          <a:prstGeom prst="roundRect">
            <a:avLst>
              <a:gd name="adj" fmla="val 12500"/>
            </a:avLst>
          </a:prstGeom>
          <a:solidFill>
            <a:srgbClr val="2F4034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5504688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632704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金色=第二批(轻资产合作起步) · 墨绿=第三批(规模化扩张)——两批间保留2个季度缓冲期用于运营复盘与模型迭代。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落地路线图 · 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首90天行动计划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13周清单——从组建团队到首店动工的关键路径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234086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67004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核心团队组建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306324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品牌/设计/拓展三条线负责人到位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8906" y="234086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W3-4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8906" y="267004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首批选址终选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8906" y="306324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3个候选目的地实地尽调与签约谈判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2557" y="21945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13725" y="234086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W5-6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67004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品牌视觉体系定稿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13725" y="306324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VI手册/建筑设计导则发布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" y="412394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W7-9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" y="445312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首店设计深化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" y="484632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建筑与室内设计图完成并通过评审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07738" y="397764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08906" y="412394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W10-11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08906" y="445312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管家学院筹建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08906" y="484632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课程体系与首期讲师团队确定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12557" y="397764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13725" y="412394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W12-13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13725" y="445312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首店动工准备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13725" y="484632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工匠组织到位，动工仪式与在地合作签约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 · 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预算与资源分配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3年总投入¥3.2亿的四大分配方向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10312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2194560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2860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建造与设计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2240" y="2615184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首批3店建造+全案设计费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9768535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¥1.856亿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768535" y="26151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3640" y="3182112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3273552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品牌与营销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92240" y="3602736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VI体系/内容中台/KOL共居计划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9768535" y="32735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¥0.576亿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768535" y="3602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4169664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92240" y="4261104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数字化与会员系统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92240" y="4590288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会员平台/私域CRM/收益管理系统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9768535" y="42611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¥0.384亿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768535" y="4590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63640" y="5157216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92240" y="5248656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组织与人才培养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92240" y="557784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管家学院/核心团队组建与培训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9768535" y="52486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¥0.384亿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768535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 · 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关键指标看板 KPI Dashboard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12项指标一览，覆盖经营/品牌/组织三维度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年入住率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94661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1821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1821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¥3,800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31821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86402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23562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23562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¥2,584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23562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RevPAR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8144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15304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15304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≥38%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15304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年复购率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9885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07045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07045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+35%/年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07045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会员净增速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61626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98786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403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98786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4.8/5.0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098786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口碑评分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403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TOP3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40080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品牌搜索指数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94661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31821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403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31821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≥55%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2531821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自然流量占比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86402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23562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23562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≥82%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4423562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管家留存率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8144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15304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15304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≥90%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315304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管家培训通过率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69885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207045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07045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8207045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工程维保达标率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961626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098786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098786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0起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0098786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食安零事故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 · 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财务测算：3年营收/RevPAR/开店数预测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首批3店验证期后进入规模化增长通道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2148840"/>
          <a:ext cx="73152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138160" y="2148840"/>
            <a:ext cx="355061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39328" y="2240280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9328" y="2496312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店累计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39328" y="2843784"/>
            <a:ext cx="3148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RevPAR </a:t>
            </a:r>
            <a:pPr indent="0" marL="0">
              <a:buNone/>
            </a:pPr>
            <a:r>
              <a:rPr lang="en-US" sz="1250" b="1" dirty="0">
                <a:solidFill>
                  <a:srgbClr val="2F4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¥2,584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138160" y="3282696"/>
            <a:ext cx="355061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9328" y="3374136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39328" y="3630168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店累计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39328" y="3977640"/>
            <a:ext cx="3148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RevPAR </a:t>
            </a:r>
            <a:pPr indent="0" marL="0">
              <a:buNone/>
            </a:pPr>
            <a:r>
              <a:rPr lang="en-US" sz="1250" b="1" dirty="0">
                <a:solidFill>
                  <a:srgbClr val="2F4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¥2,910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138160" y="4416552"/>
            <a:ext cx="355061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39328" y="4507992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9328" y="4764024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店累计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339328" y="5111496"/>
            <a:ext cx="3148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RevPAR </a:t>
            </a:r>
            <a:pPr indent="0" marL="0">
              <a:buNone/>
            </a:pPr>
            <a:r>
              <a:rPr lang="en-US" sz="1250" b="1" dirty="0">
                <a:solidFill>
                  <a:srgbClr val="2F4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¥3,265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数据来源：见附录测算假设(第38页)——营收含客房/餐饮/会员/管理输出四类收入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 · 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风险矩阵与应对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四大风险的识别与预案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134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选址稀缺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271576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风险：符合三标准的地块日益稀缺，拓展速度可能受限。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3756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建立「选址情报官」网络，提前2-3年储备候选地块清单。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233008" y="214884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1608" y="23134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淡季波动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61608" y="271576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风险：山系目的地气候依赖度高，淡季入住率承压。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461608" y="324612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608" y="333756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会员专属定制产品+企业团建包场对冲淡季波动。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41655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品牌稀释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481888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风险：轻资产扩张若业主执行走样，损伤整体品牌一致性。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31520" y="534924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44068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「一票否决权」+神秘客季度暗访+业主退出机制。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33008" y="425196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1608" y="441655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人才流失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61608" y="481888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风险：管家人才在山系区域培养成本高、易被同业挖角。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461608" y="534924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1608" y="544068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98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管家学院学分制+长期服务分红计划锁定核心人才。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 · 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落地保障机制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品牌委员会 + 季度品鉴会 + 年度隐山雅集——三层治理节奏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920240" y="333756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8D57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2450592" y="2770632"/>
            <a:ext cx="1133856" cy="11338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284378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309981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品牌委员会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2037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月度审议设计与选址一票否决事项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00864" y="4416552"/>
            <a:ext cx="1133856" cy="11338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00864" y="448970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0864" y="474573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季度品鉴会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99112" y="566013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业主+总部+客户代表联合体验评审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00320" y="4416552"/>
            <a:ext cx="1133856" cy="11338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0320" y="448970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0320" y="474573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年度隐山雅集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98568" y="566013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2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全国门店负责人年度述职与标准迭代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94560" y="4050792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治理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三层节奏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2148840"/>
            <a:ext cx="5470855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233172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治理节奏说明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2697480"/>
            <a:ext cx="49222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品牌委员会：由创始团队+设计顾问+法务组成，对选址/设计/业主准入拥有一票否决权，每月召开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季度品鉴会：邀请3-5位挚友级会员参与「神秘客」体验并现场打分，分数纳入门店考核</a:t>
            </a:r>
            <a:endParaRPr lang="en-US" sz="10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年度隐山雅集：全体门店负责人与业主代表齐聚，复盘年度标准执行偏差并共同修订下一年手册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财务与治理 · 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团队与合作伙伴分工：RACI矩阵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R负责执行 / A最终问责 / C需咨询 / I需知会</a:t>
            </a:r>
            <a:endParaRPr lang="en-US" sz="12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事项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隐山总部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业主方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驻店团队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设计顾问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选址决策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建筑与室内设计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管家招募与培训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R/A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定价与收益管理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在地合作方签约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品牌与营销内容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R/A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48640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说明：「A最终问责」始终锁定在隐山总部或业主方一方，避免出现「无人问责」的灰色地带，尤其在选址与设计等承重决策上。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53419" y="5669280"/>
            <a:ext cx="3657509" cy="1188720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975336" y="5003597"/>
            <a:ext cx="4876678" cy="1854403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4" name="Shape 2"/>
          <p:cNvSpPr/>
          <p:nvPr/>
        </p:nvSpPr>
        <p:spPr>
          <a:xfrm>
            <a:off x="3413675" y="4480560"/>
            <a:ext cx="5852014" cy="2377440"/>
          </a:xfrm>
          <a:prstGeom prst="triangle">
            <a:avLst/>
          </a:prstGeom>
          <a:solidFill>
            <a:srgbClr val="2E2A20"/>
          </a:solidFill>
          <a:ln/>
        </p:spPr>
      </p:sp>
      <p:sp>
        <p:nvSpPr>
          <p:cNvPr id="5" name="Shape 3"/>
          <p:cNvSpPr/>
          <p:nvPr/>
        </p:nvSpPr>
        <p:spPr>
          <a:xfrm>
            <a:off x="6705432" y="5336438"/>
            <a:ext cx="4632844" cy="1521562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6" name="Shape 4"/>
          <p:cNvSpPr/>
          <p:nvPr/>
        </p:nvSpPr>
        <p:spPr>
          <a:xfrm>
            <a:off x="9753356" y="5859475"/>
            <a:ext cx="3413675" cy="998525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F0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 · CLOSING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38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08D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三句话总结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7373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17373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隐山不是又一个高端酒店品牌，而是「中国式隐居度假」这个新品类的定义者。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606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首批3店验证的不只是选址与设计，更是「轻资产+强标准」能否兼得的商业模型。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4747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0E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3年后，「隐山式」应当成为行业描述静奢体验的通用形容词，而非专有名词。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11185855" cy="502920"/>
          </a:xfrm>
          <a:prstGeom prst="rect">
            <a:avLst/>
          </a:prstGeom>
          <a:solidFill>
            <a:srgbClr val="232019"/>
          </a:solidFill>
          <a:ln w="9525">
            <a:solidFill>
              <a:srgbClr val="E4D9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805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C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下一步(Call To Action)：完成首批3地尽调与意向业主签约，90天内启动首店动工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附录 · APPENDIX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附录：数据来源与测算假设说明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本提案所有数据的口径与假设边界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市场规模与CAGR(第4页)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77640" y="2194560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基于行业公开研究报告区间估算并结合内部访谈校准，用于趋势判断而非精确预测。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细分赛道矩阵与标杆对比(第5、9页)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77640" y="3035808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标杆品牌信息已匿名化处理，客单价与复购率为行业访谈交叉验证的区间估计。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721608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77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客群画像数据(第6页)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77640" y="3877056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基于500份高净值休闲度假消费者问卷及30场深度访谈样本推演，非全量普查数据。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562856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财务测算(第31、33页)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77640" y="4718304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以首店实际设计概算+同类项目造价系数测算，运营期收入采用保守情景(P25分位)假设。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404104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5595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KPI目标值(第32页)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77640" y="5559552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参照标杆品牌历史表现与内部试运营模拟数据设定，作为阶段性管理目标而非行业公认基准。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6245352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379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本提案所有品牌名称、数据与测算均为演示目的编制，隐山 YINSHAN 为虚构品牌，不涉及任何真实企业与在建项目。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隐山 YINSHAN · 品牌启动与运营战略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隐山 品牌启动与运营战略</dc:title>
  <dc:subject>PptxGenJS Presentation</dc:subject>
  <dc:creator>隐山 YINSHAN</dc:creator>
  <cp:lastModifiedBy>隐山 YINSHAN</cp:lastModifiedBy>
  <cp:revision>1</cp:revision>
  <dcterms:created xsi:type="dcterms:W3CDTF">2026-07-05T02:48:20Z</dcterms:created>
  <dcterms:modified xsi:type="dcterms:W3CDTF">2026-07-05T02:48:20Z</dcterms:modified>
</cp:coreProperties>
</file>