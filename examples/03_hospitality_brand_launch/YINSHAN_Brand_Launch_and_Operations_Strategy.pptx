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2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3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4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High-End Leisure Resort Market Size (RMB M)</c:v>
                </c:pt>
              </c:strCache>
            </c:strRef>
          </c:tx>
          <c:spPr>
            <a:solidFill>
              <a:srgbClr val="B08D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1C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2026E</c:v>
                  </c:pt>
                  <c:pt idx="4">
                    <c:v>2027E</c:v>
                  </c:pt>
                  <c:pt idx="5">
                    <c:v>2028E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18600</c:v>
                </c:pt>
                <c:pt idx="1">
                  <c:v>22400</c:v>
                </c:pt>
                <c:pt idx="2">
                  <c:v>27100</c:v>
                </c:pt>
                <c:pt idx="3">
                  <c:v>32900</c:v>
                </c:pt>
                <c:pt idx="4">
                  <c:v>39800</c:v>
                </c:pt>
                <c:pt idx="5">
                  <c:v>47600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C1C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250"/>
                </a:solidFill>
                <a:latin typeface="Cambri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D9B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250"/>
                </a:solidFill>
                <a:latin typeface="Cambri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ADR (RMB)</c:v>
                </c:pt>
              </c:strCache>
            </c:strRef>
          </c:tx>
          <c:spPr>
            <a:solidFill>
              <a:srgbClr val="B08D57"/>
            </a:solidFill>
            <a:ln w="31750" cap="flat">
              <a:solidFill>
                <a:srgbClr val="B08D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08D57"/>
              </a:solidFill>
              <a:ln w="9525" cap="flat">
                <a:solidFill>
                  <a:srgbClr val="B08D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3200</c:v>
                </c:pt>
                <c:pt idx="1">
                  <c:v>3400</c:v>
                </c:pt>
                <c:pt idx="2">
                  <c:v>3600</c:v>
                </c:pt>
                <c:pt idx="3">
                  <c:v>4200</c:v>
                </c:pt>
                <c:pt idx="4">
                  <c:v>4800</c:v>
                </c:pt>
                <c:pt idx="5">
                  <c:v>4400</c:v>
                </c:pt>
                <c:pt idx="6">
                  <c:v>5600</c:v>
                </c:pt>
                <c:pt idx="7">
                  <c:v>5400</c:v>
                </c:pt>
                <c:pt idx="8">
                  <c:v>4600</c:v>
                </c:pt>
                <c:pt idx="9">
                  <c:v>5100</c:v>
                </c:pt>
                <c:pt idx="10">
                  <c:v>3400</c:v>
                </c:pt>
                <c:pt idx="11">
                  <c:v>4900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RevPAR (RMB)</c:v>
                </c:pt>
              </c:strCache>
            </c:strRef>
          </c:tx>
          <c:spPr>
            <a:solidFill>
              <a:srgbClr val="2F4034"/>
            </a:solidFill>
            <a:ln w="31750" cap="flat">
              <a:solidFill>
                <a:srgbClr val="2F40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4034"/>
              </a:solidFill>
              <a:ln w="9525" cap="flat">
                <a:solidFill>
                  <a:srgbClr val="2F40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1850</c:v>
                </c:pt>
                <c:pt idx="1">
                  <c:v>2050</c:v>
                </c:pt>
                <c:pt idx="2">
                  <c:v>2200</c:v>
                </c:pt>
                <c:pt idx="3">
                  <c:v>2650</c:v>
                </c:pt>
                <c:pt idx="4">
                  <c:v>3100</c:v>
                </c:pt>
                <c:pt idx="5">
                  <c:v>2800</c:v>
                </c:pt>
                <c:pt idx="6">
                  <c:v>3850</c:v>
                </c:pt>
                <c:pt idx="7">
                  <c:v>3700</c:v>
                </c:pt>
                <c:pt idx="8">
                  <c:v>2950</c:v>
                </c:pt>
                <c:pt idx="9">
                  <c:v>3400</c:v>
                </c:pt>
                <c:pt idx="10">
                  <c:v>2000</c:v>
                </c:pt>
                <c:pt idx="11">
                  <c:v>3300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62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D9B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2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08D57"/>
              </a:solidFill>
              <a:effectLst/>
            </c:spPr>
          </c:dPt>
          <c:dPt>
            <c:idx val="1"/>
            <c:bubble3D val="0"/>
            <c:spPr>
              <a:solidFill>
                <a:srgbClr val="8B6F42"/>
              </a:solidFill>
              <a:effectLst/>
            </c:spPr>
          </c:dPt>
          <c:dPt>
            <c:idx val="2"/>
            <c:bubble3D val="0"/>
            <c:spPr>
              <a:solidFill>
                <a:srgbClr val="2F4034"/>
              </a:solidFill>
              <a:effectLst/>
            </c:spPr>
          </c:dPt>
          <c:dPt>
            <c:idx val="3"/>
            <c:bubble3D val="0"/>
            <c:spPr>
              <a:solidFill>
                <a:srgbClr val="C9B78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Construction &amp; Design</c:v>
                </c:pt>
                <c:pt idx="1">
                  <c:v>Brand &amp; Marketing</c:v>
                </c:pt>
                <c:pt idx="2">
                  <c:v>Digital &amp; Membership Systems</c:v>
                </c:pt>
                <c:pt idx="3">
                  <c:v>Organization &amp; Talent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58</c:v>
                </c:pt>
                <c:pt idx="1">
                  <c:v>18</c:v>
                </c:pt>
                <c:pt idx="2">
                  <c:v>12</c:v>
                </c:pt>
                <c:pt idx="3">
                  <c:v>12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Group Total Revenue (RMB M)</c:v>
                </c:pt>
              </c:strCache>
            </c:strRef>
          </c:tx>
          <c:spPr>
            <a:solidFill>
              <a:srgbClr val="B08D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C1C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</c:v>
                </c:pt>
                <c:pt idx="1">
                  <c:v>241</c:v>
                </c:pt>
                <c:pt idx="2">
                  <c:v>612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C1C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2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D9B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2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53419" y="5074920"/>
            <a:ext cx="3657509" cy="1783080"/>
          </a:xfrm>
          <a:prstGeom prst="triangle">
            <a:avLst/>
          </a:prstGeom>
          <a:solidFill>
            <a:srgbClr val="141414"/>
          </a:solidFill>
          <a:ln/>
        </p:spPr>
      </p:sp>
      <p:sp>
        <p:nvSpPr>
          <p:cNvPr id="3" name="Shape 1"/>
          <p:cNvSpPr/>
          <p:nvPr/>
        </p:nvSpPr>
        <p:spPr>
          <a:xfrm>
            <a:off x="975336" y="4076395"/>
            <a:ext cx="4876678" cy="2781605"/>
          </a:xfrm>
          <a:prstGeom prst="triangle">
            <a:avLst/>
          </a:prstGeom>
          <a:solidFill>
            <a:srgbClr val="211E18"/>
          </a:solidFill>
          <a:ln/>
        </p:spPr>
      </p:sp>
      <p:sp>
        <p:nvSpPr>
          <p:cNvPr id="4" name="Shape 2"/>
          <p:cNvSpPr/>
          <p:nvPr/>
        </p:nvSpPr>
        <p:spPr>
          <a:xfrm>
            <a:off x="3413675" y="3291840"/>
            <a:ext cx="5852014" cy="3566160"/>
          </a:xfrm>
          <a:prstGeom prst="triangle">
            <a:avLst/>
          </a:prstGeom>
          <a:solidFill>
            <a:srgbClr val="2E2A20"/>
          </a:solidFill>
          <a:ln/>
        </p:spPr>
      </p:sp>
      <p:sp>
        <p:nvSpPr>
          <p:cNvPr id="5" name="Shape 3"/>
          <p:cNvSpPr/>
          <p:nvPr/>
        </p:nvSpPr>
        <p:spPr>
          <a:xfrm>
            <a:off x="6705432" y="4575658"/>
            <a:ext cx="4632844" cy="2282342"/>
          </a:xfrm>
          <a:prstGeom prst="triangle">
            <a:avLst/>
          </a:prstGeom>
          <a:solidFill>
            <a:srgbClr val="211E18"/>
          </a:solidFill>
          <a:ln/>
        </p:spPr>
      </p:sp>
      <p:sp>
        <p:nvSpPr>
          <p:cNvPr id="6" name="Shape 4"/>
          <p:cNvSpPr/>
          <p:nvPr/>
        </p:nvSpPr>
        <p:spPr>
          <a:xfrm>
            <a:off x="9753356" y="5360213"/>
            <a:ext cx="3413675" cy="1497787"/>
          </a:xfrm>
          <a:prstGeom prst="triangle">
            <a:avLst/>
          </a:prstGeom>
          <a:solidFill>
            <a:srgbClr val="141414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731520"/>
            <a:ext cx="822960" cy="82296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8174" y="846734"/>
            <a:ext cx="592531" cy="592531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6930" y="1004743"/>
            <a:ext cx="244913" cy="237012"/>
          </a:xfrm>
          <a:prstGeom prst="triangle">
            <a:avLst/>
          </a:prstGeom>
          <a:solidFill>
            <a:srgbClr val="B08D57"/>
          </a:solidFill>
          <a:ln/>
        </p:spPr>
      </p:sp>
      <p:sp>
        <p:nvSpPr>
          <p:cNvPr id="11" name="Shape 9"/>
          <p:cNvSpPr/>
          <p:nvPr/>
        </p:nvSpPr>
        <p:spPr>
          <a:xfrm>
            <a:off x="1171237" y="1063996"/>
            <a:ext cx="237012" cy="177759"/>
          </a:xfrm>
          <a:prstGeom prst="triangle">
            <a:avLst/>
          </a:prstGeom>
          <a:solidFill>
            <a:srgbClr val="B08D57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920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D8C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YINSHAN  ·  2027 BRAND LAUNCH 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28600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5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YINSHAN</a:t>
            </a:r>
            <a:endParaRPr lang="en-US" sz="8800" dirty="0"/>
          </a:p>
        </p:txBody>
      </p:sp>
      <p:sp>
        <p:nvSpPr>
          <p:cNvPr id="14" name="Text 12"/>
          <p:cNvSpPr/>
          <p:nvPr/>
        </p:nvSpPr>
        <p:spPr>
          <a:xfrm>
            <a:off x="50292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400" kern="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LAUNCH &amp; OPERATIONS STRATEGY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2920" y="42245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2027 Strategic Blueprint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2920" y="4736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8C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Hide in the mountains. Find yourself.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YINSHAN HOSPITALITY GROUP · PRIVATE &amp; CONFIDENTIAL · 2027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39112"/>
            <a:ext cx="512064" cy="512064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609" y="2110801"/>
            <a:ext cx="368686" cy="368686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391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1965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Insight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423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INSIGHT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25735" y="2075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03–09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679192"/>
            <a:ext cx="11185855" cy="0"/>
          </a:xfrm>
          <a:prstGeom prst="line">
            <a:avLst/>
          </a:prstGeom>
          <a:noFill/>
          <a:ln w="6350">
            <a:solidFill>
              <a:srgbClr val="DDD1B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880360"/>
            <a:ext cx="512064" cy="512064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4609" y="2952049"/>
            <a:ext cx="368686" cy="368686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80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28072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Strategy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32644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STRATEGY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225735" y="29169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520440"/>
            <a:ext cx="11185855" cy="0"/>
          </a:xfrm>
          <a:prstGeom prst="line">
            <a:avLst/>
          </a:prstGeom>
          <a:noFill/>
          <a:ln w="6350">
            <a:solidFill>
              <a:srgbClr val="DDD1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721608"/>
            <a:ext cx="512064" cy="512064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4609" y="3793297"/>
            <a:ext cx="368686" cy="368686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721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80160" y="364845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Experience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80160" y="41056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EXPERIENCE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225735" y="37581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16–25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4361688"/>
            <a:ext cx="11185855" cy="0"/>
          </a:xfrm>
          <a:prstGeom prst="line">
            <a:avLst/>
          </a:prstGeom>
          <a:noFill/>
          <a:ln w="6350">
            <a:solidFill>
              <a:srgbClr val="DDD1B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4562856"/>
            <a:ext cx="512064" cy="512064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4609" y="4634545"/>
            <a:ext cx="368686" cy="368686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5628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280160" y="44897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Roadmap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280160" y="49469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ROADMAP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225735" y="45994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26–30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02920" y="5202936"/>
            <a:ext cx="11185855" cy="0"/>
          </a:xfrm>
          <a:prstGeom prst="line">
            <a:avLst/>
          </a:prstGeom>
          <a:noFill/>
          <a:ln w="6350">
            <a:solidFill>
              <a:srgbClr val="DDD1B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5404104"/>
            <a:ext cx="512064" cy="512064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4609" y="5475793"/>
            <a:ext cx="368686" cy="368686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5404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80160" y="53309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&amp; Governance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280160" y="5788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&amp; GOVERNANCE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225735" y="5440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31–38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INSIGHT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numbers that define YINSHAN's Phase 1 strategic target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2659304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27000" dist="38100" dir="5400000">
              <a:srgbClr val="1C1C1C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331720"/>
            <a:ext cx="2202104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properties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31520" y="3367735"/>
            <a:ext cx="220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in Year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660343"/>
            <a:ext cx="2202104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First-wave destinations launching in 2027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45104" y="2148840"/>
            <a:ext cx="2659304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27000" dist="38100" dir="5400000">
              <a:srgbClr val="1C1C1C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73704" y="2331720"/>
            <a:ext cx="2202104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573704" y="3367735"/>
            <a:ext cx="220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annual occupancy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73704" y="3660343"/>
            <a:ext cx="2202104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at P60 of peer boutique resorts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87288" y="2148840"/>
            <a:ext cx="2659304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27000" dist="38100" dir="5400000">
              <a:srgbClr val="1C1C1C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15888" y="2331720"/>
            <a:ext cx="2202104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3,800</a:t>
            </a:r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RMB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415888" y="3367735"/>
            <a:ext cx="220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ADR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15888" y="3660343"/>
            <a:ext cx="2202104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Peak-season range RMB 2,900–5,600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029471" y="2148840"/>
            <a:ext cx="2659304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27000" dist="38100" dir="5400000">
              <a:srgbClr val="1C1C1C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258071" y="2331720"/>
            <a:ext cx="2202104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+45</a:t>
            </a:r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258071" y="3367735"/>
            <a:ext cx="220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brand premium target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58071" y="3660343"/>
            <a:ext cx="2202104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Versus regional mass-market resort ADR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4480560"/>
            <a:ext cx="1118585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01600" dist="38100" dir="5400000">
              <a:srgbClr val="1C1C1C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4617720"/>
            <a:ext cx="106372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thesis: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China's high-end leisure travel demand has shifted from “destination checklisting” to “restorative retreat.” Supply remains split between standardized chains and isolated homestays — with no credible middle tier offering both brand trust and true local rarity. That gap is YINSHAN's structural opening. The first 3 properties will prove the model; within 3 years, YINSHAN moves from single-site landmark to category-defining name.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YINSHAN · Brand Launch &amp; Operations Strategy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INSIGHT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High-End Leisure Resort Market Momentum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keeps expanding, outgrowing the broader lodging sector</a:t>
            </a:r>
            <a:endParaRPr lang="en-US" sz="12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1965960"/>
          <a:ext cx="66751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452360" y="1965960"/>
            <a:ext cx="4236415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680960" y="2148840"/>
            <a:ext cx="3779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21.4</a:t>
            </a:r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7680960" y="2788920"/>
            <a:ext cx="3779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2023–2028E CAGR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680960" y="3200400"/>
            <a:ext cx="3779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lodging CAGR is ~7.8% over the same period — high-end leisure resorts are outpacing the broader market by nearly 2.7x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452360" y="3794760"/>
            <a:ext cx="4236415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680960" y="397764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Drivers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680960" y="4315968"/>
            <a:ext cx="3779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High-net-worth cohort is skewing younger — under-35s now 41% of the base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“Reverse tourism” and the “restorative economy” are dominating social conversation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luxury chains remain under-supplied beyond tier-1/2 cities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see appendix (p.38) for methodology and assumptions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INSIGHT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Landscape: Boutique Resort 2×2 Matrix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X-axis: price point  |  Y-axis: experiential rarity — YINSHAN claims the open upper-right quadrant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148840"/>
            <a:ext cx="768096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4046220"/>
            <a:ext cx="7498080" cy="0"/>
          </a:xfrm>
          <a:prstGeom prst="line">
            <a:avLst/>
          </a:prstGeom>
          <a:noFill/>
          <a:ln w="12700">
            <a:solidFill>
              <a:srgbClr val="D8C9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240280"/>
            <a:ext cx="0" cy="3611880"/>
          </a:xfrm>
          <a:prstGeom prst="line">
            <a:avLst/>
          </a:prstGeom>
          <a:noFill/>
          <a:ln w="12700">
            <a:solidFill>
              <a:srgbClr val="D8C9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2130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 rarity →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86600" y="40919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point 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06947" y="3034894"/>
            <a:ext cx="201168" cy="201168"/>
          </a:xfrm>
          <a:prstGeom prst="ellipse">
            <a:avLst/>
          </a:prstGeom>
          <a:solidFill>
            <a:srgbClr val="9A8B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7411" y="328178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luxury chain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80944" y="4628693"/>
            <a:ext cx="201168" cy="201168"/>
          </a:xfrm>
          <a:prstGeom prst="ellipse">
            <a:avLst/>
          </a:prstGeom>
          <a:solidFill>
            <a:srgbClr val="9A8B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21408" y="4875581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boutique group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38851" y="5159959"/>
            <a:ext cx="201168" cy="201168"/>
          </a:xfrm>
          <a:prstGeom prst="ellipse">
            <a:avLst/>
          </a:prstGeom>
          <a:solidFill>
            <a:srgbClr val="9A8B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9315" y="5406847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6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Social-media homestay cluster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2676449"/>
            <a:ext cx="310896" cy="310896"/>
          </a:xfrm>
          <a:prstGeom prst="ellipse">
            <a:avLst/>
          </a:prstGeom>
          <a:solidFill>
            <a:srgbClr val="B08D5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61888" y="3033065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YINSHAN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aesthetics + quiet luxury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778240" y="2148840"/>
            <a:ext cx="2910535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006840" y="2331720"/>
            <a:ext cx="2453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Quadrant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06840" y="2743200"/>
            <a:ext cx="2453335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luxury chains: strong brand trust, but a placeless design language with thin local narrative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Social-media homestays: high rarity but hard to standardize — service and safety vary widely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YINSHAN's position: a replicable system of local aesthetics, filling the gap at the intersection of high price and high rarity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YINSHAN · Brand Launch &amp; Operations Strategy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INSIGHT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Guest Profile: The Quiet Luxury Seeker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and decision drivers behind YINSHAN's core guest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493776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286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range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0604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30–45 (62% of base)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0604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dual-income, no or one child, highly educated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06040" y="3703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/ partners / executives / creative freelancers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420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travel budget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06040" y="4206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RMB 120K–350K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per year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06040" y="4709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3–5, with 1–2 as “deep slow travel”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" y="5212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cycle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06040" y="5212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days on average; trusts peer reviews over ads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760720" y="2103120"/>
            <a:ext cx="5928055" cy="3886200"/>
          </a:xfrm>
          <a:prstGeom prst="rect">
            <a:avLst/>
          </a:prstGeom>
          <a:solidFill>
            <a:srgbClr val="1C1C1C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35040" y="2286000"/>
            <a:ext cx="5379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Drivers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35040" y="27432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086600" y="2770632"/>
            <a:ext cx="4282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to “step out of social performance,” not display consumption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35040" y="34564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086600" y="3483864"/>
            <a:ext cx="4282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authentic, site-specific design over generic luxury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35040" y="416966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086600" y="4197096"/>
            <a:ext cx="4282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host/guide expertise above facility opulence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35040" y="488289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086600" y="4910328"/>
            <a:ext cx="4282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pay a premium for scarcity and privacy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YINSHAN · Brand Launch &amp; Operations Strategy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INSIGHT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Emotional Needs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functional lodging to emotional restoration — the deep map behind YINSHAN's product design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2659304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512532" y="2377440"/>
            <a:ext cx="640080" cy="64008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2143" y="2467051"/>
            <a:ext cx="460858" cy="460858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78953" y="2543861"/>
            <a:ext cx="307238" cy="30723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32572" y="2589947"/>
            <a:ext cx="0" cy="215067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0040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Escape the Noise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794760"/>
            <a:ext cx="2202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disconnect from urban intensity — a controlled sense of disappearing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45104" y="2148840"/>
            <a:ext cx="2659304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54716" y="2377440"/>
            <a:ext cx="640080" cy="64008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44327" y="2467051"/>
            <a:ext cx="460858" cy="460858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21137" y="2589947"/>
            <a:ext cx="190488" cy="184343"/>
          </a:xfrm>
          <a:prstGeom prst="triangle">
            <a:avLst/>
          </a:prstGeom>
          <a:solidFill>
            <a:srgbClr val="B08D57"/>
          </a:solidFill>
          <a:ln/>
        </p:spPr>
      </p:sp>
      <p:sp>
        <p:nvSpPr>
          <p:cNvPr id="20" name="Shape 18"/>
          <p:cNvSpPr/>
          <p:nvPr/>
        </p:nvSpPr>
        <p:spPr>
          <a:xfrm>
            <a:off x="4625598" y="2636032"/>
            <a:ext cx="184343" cy="138257"/>
          </a:xfrm>
          <a:prstGeom prst="triangle">
            <a:avLst/>
          </a:prstGeom>
          <a:solidFill>
            <a:srgbClr val="B08D57"/>
          </a:solidFill>
          <a:ln/>
        </p:spPr>
      </p:sp>
      <p:sp>
        <p:nvSpPr>
          <p:cNvPr id="21" name="Text 19"/>
          <p:cNvSpPr/>
          <p:nvPr/>
        </p:nvSpPr>
        <p:spPr>
          <a:xfrm>
            <a:off x="3527984" y="320040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Immersion in Place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73704" y="3794760"/>
            <a:ext cx="2202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as a deep reading of one land, not a checklist of sights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87288" y="2148840"/>
            <a:ext cx="2659304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96900" y="2377440"/>
            <a:ext cx="640080" cy="64008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86511" y="2467051"/>
            <a:ext cx="460858" cy="460858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63320" y="2589947"/>
            <a:ext cx="153619" cy="153619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B08D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2360" y="2697480"/>
            <a:ext cx="168981" cy="0"/>
          </a:xfrm>
          <a:prstGeom prst="line">
            <a:avLst/>
          </a:prstGeom>
          <a:noFill/>
          <a:ln w="15240">
            <a:solidFill>
              <a:srgbClr val="B08D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0168" y="320040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Indulgence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15888" y="3794760"/>
            <a:ext cx="2202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sensitivity to spatial and service boundaries — a refusal to be watched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29471" y="2148840"/>
            <a:ext cx="2659304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039083" y="2377440"/>
            <a:ext cx="640080" cy="64008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28695" y="2467051"/>
            <a:ext cx="460858" cy="460858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05504" y="2543861"/>
            <a:ext cx="307238" cy="307238"/>
          </a:xfrm>
          <a:prstGeom prst="star5">
            <a:avLst/>
          </a:prstGeom>
          <a:solidFill>
            <a:srgbClr val="B08D57"/>
          </a:solidFill>
          <a:ln/>
        </p:spPr>
      </p:sp>
      <p:sp>
        <p:nvSpPr>
          <p:cNvPr id="34" name="Text 32"/>
          <p:cNvSpPr/>
          <p:nvPr/>
        </p:nvSpPr>
        <p:spPr>
          <a:xfrm>
            <a:off x="9212351" y="320040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Shareable Stillness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258071" y="3794760"/>
            <a:ext cx="2202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share a slower self, but never the exact location or others' privacy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YINSHAN · Brand Launch &amp; Operations Strategy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INSIGHT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Site-Selection Logic &amp; First Destinations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criteria, three anonymized mountain-range destinations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1118585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286000"/>
            <a:ext cx="420624" cy="420624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0407" y="2344887"/>
            <a:ext cx="302849" cy="302849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286000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rarity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80160" y="2651760"/>
            <a:ext cx="27227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irreplaceable geography (cloud seas / ancient forest / hot springs) with development kept deliberately light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60138" y="2286000"/>
            <a:ext cx="420624" cy="420624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19026" y="2344887"/>
            <a:ext cx="302849" cy="302849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0138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08778" y="2286000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depth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08778" y="2651760"/>
            <a:ext cx="27227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system of heritage crafts, farming, or artisanship that supports long-term content programming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188757" y="2286000"/>
            <a:ext cx="420624" cy="420624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47644" y="2344887"/>
            <a:ext cx="302849" cy="302849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88757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37397" y="2286000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37397" y="2651760"/>
            <a:ext cx="27227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2.5 hours of a core-source-city airport — private, yet accessible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3749040"/>
            <a:ext cx="3545738" cy="2240280"/>
          </a:xfrm>
          <a:prstGeom prst="rect">
            <a:avLst/>
          </a:prstGeom>
          <a:solidFill>
            <a:srgbClr val="1C1C1C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393192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YINSHAN · Cloudveil (working name)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4315968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C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cloud-forest range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4709160"/>
            <a:ext cx="3088538" cy="0"/>
          </a:xfrm>
          <a:prstGeom prst="line">
            <a:avLst/>
          </a:prstGeom>
          <a:noFill/>
          <a:ln w="6350">
            <a:solidFill>
              <a:srgbClr val="D8C3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84632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tea route · Year-round cloud sea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548640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keys</a:t>
            </a:r>
            <a:pPr indent="0" marL="0">
              <a:buNone/>
            </a:pPr>
            <a:r>
              <a:rPr lang="en-US" sz="950" dirty="0">
                <a:solidFill>
                  <a:srgbClr val="C9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scale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322978" y="3749040"/>
            <a:ext cx="354573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51578" y="393192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YINSHAN · Bambooshade (working name)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51578" y="4315968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Southeast bamboo range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51578" y="4709160"/>
            <a:ext cx="3088538" cy="0"/>
          </a:xfrm>
          <a:prstGeom prst="line">
            <a:avLst/>
          </a:prstGeom>
          <a:noFill/>
          <a:ln w="6350">
            <a:solidFill>
              <a:srgbClr val="8B6F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51578" y="484632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bamboo-weaving village · Ravine terrain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51578" y="548640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keys</a:t>
            </a:r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scale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143037" y="3749040"/>
            <a:ext cx="354573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371637" y="393192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YINSHAN · Springveil (working name)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371637" y="4315968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hot-spring range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371637" y="4709160"/>
            <a:ext cx="3088538" cy="0"/>
          </a:xfrm>
          <a:prstGeom prst="line">
            <a:avLst/>
          </a:prstGeom>
          <a:noFill/>
          <a:ln w="6350">
            <a:solidFill>
              <a:srgbClr val="8B6F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71637" y="484632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hot-spring belt · Four distinct seasons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371637" y="548640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keys</a:t>
            </a:r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scale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INSIGHT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Benchmark Breakdown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Positioning, ADR, and repeat-visit rate across three benchmark cases (brand names anonymized)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1118585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1737360"/>
                <a:gridCol w="173736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Membership Depth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Global luxury resort chain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RMB 4,200–6,800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★★★★☆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Designer boutique group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RMB 3,100–4,500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★★★☆☆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Social-media homestay cluster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RMB 1,800–2,600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★★☆☆☆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YINSHAN (target)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Local-aesthetic quiet-luxury membership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RMB 2,900–5,600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≥38%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★★★★★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4709160"/>
            <a:ext cx="11185855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" y="489204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gap: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A's repeat rate is capped by a placeless design language — guests feel “seen it before” after one stay. Benchmarks B and C are structurally limited by inconsistent service and thin membership systems. YINSHAN's opening: use a replicable brand-management system to consistently deliver an experience that is, by design, irreplicable.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YINSHAN · Brand Launch &amp; Operations Strategy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Challenges &amp; Diagnosis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structural challenges YINSHAN must confront head-on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545576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377440"/>
            <a:ext cx="502920" cy="502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1929" y="2447849"/>
            <a:ext cx="362102" cy="362102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0560" y="2556480"/>
            <a:ext cx="144841" cy="144841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2331720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Brand Equity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71600" y="2770632"/>
            <a:ext cx="4358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new brand, YINSHAN faces a cold-start trust problem with no track record — early credibility must be earned through verifiable, tangible standards.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33008" y="2148840"/>
            <a:ext cx="545576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61608" y="2377440"/>
            <a:ext cx="502920" cy="502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2016" y="2447849"/>
            <a:ext cx="362102" cy="362102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40647" y="2556480"/>
            <a:ext cx="144841" cy="144841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01688" y="2331720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Rarity Resists Standardization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101688" y="2770632"/>
            <a:ext cx="4358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Site-specific architecture and experience depend heavily on local artisans and ecology — scale and irreplicability are naturally in tension.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206240"/>
            <a:ext cx="545576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4434840"/>
            <a:ext cx="502920" cy="502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1929" y="4505249"/>
            <a:ext cx="362102" cy="362102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2279" y="4565599"/>
            <a:ext cx="241402" cy="241402"/>
          </a:xfrm>
          <a:prstGeom prst="diamond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4389120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Volatility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371600" y="4828032"/>
            <a:ext cx="4358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 destinations are highly climate- and holiday-dependent; first-wave properties project low-season occupancy at just 43% of peak.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33008" y="4206240"/>
            <a:ext cx="545576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61608" y="4434840"/>
            <a:ext cx="502920" cy="502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2016" y="4505249"/>
            <a:ext cx="362102" cy="362102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92367" y="4565599"/>
            <a:ext cx="241402" cy="241402"/>
          </a:xfrm>
          <a:prstGeom prst="star5">
            <a:avLst/>
          </a:prstGeom>
          <a:solidFill>
            <a:srgbClr val="B08D57"/>
          </a:solidFill>
          <a:ln/>
        </p:spPr>
      </p:sp>
      <p:sp>
        <p:nvSpPr>
          <p:cNvPr id="31" name="Text 29"/>
          <p:cNvSpPr/>
          <p:nvPr/>
        </p:nvSpPr>
        <p:spPr>
          <a:xfrm>
            <a:off x="7101688" y="4389120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Talent Scarcity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101688" y="4828032"/>
            <a:ext cx="4358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Butler-grade service talent is scarce in remote mountain regions — requires an in-house academy rather than open-market hiring.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YINSHAN · Brand Launch &amp; Operations Strategy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8C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/ 38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-853419" y="5989320"/>
            <a:ext cx="3657509" cy="868680"/>
          </a:xfrm>
          <a:prstGeom prst="triangle">
            <a:avLst/>
          </a:prstGeom>
          <a:solidFill>
            <a:srgbClr val="141414"/>
          </a:solidFill>
          <a:ln/>
        </p:spPr>
      </p:sp>
      <p:sp>
        <p:nvSpPr>
          <p:cNvPr id="8" name="Shape 6"/>
          <p:cNvSpPr/>
          <p:nvPr/>
        </p:nvSpPr>
        <p:spPr>
          <a:xfrm>
            <a:off x="975336" y="5502859"/>
            <a:ext cx="4876678" cy="1355141"/>
          </a:xfrm>
          <a:prstGeom prst="triangle">
            <a:avLst/>
          </a:prstGeom>
          <a:solidFill>
            <a:srgbClr val="211E18"/>
          </a:solidFill>
          <a:ln/>
        </p:spPr>
      </p:sp>
      <p:sp>
        <p:nvSpPr>
          <p:cNvPr id="9" name="Shape 7"/>
          <p:cNvSpPr/>
          <p:nvPr/>
        </p:nvSpPr>
        <p:spPr>
          <a:xfrm>
            <a:off x="3413675" y="5120640"/>
            <a:ext cx="5852014" cy="1737360"/>
          </a:xfrm>
          <a:prstGeom prst="triangle">
            <a:avLst/>
          </a:prstGeom>
          <a:solidFill>
            <a:srgbClr val="2E2A20"/>
          </a:solidFill>
          <a:ln/>
        </p:spPr>
      </p:sp>
      <p:sp>
        <p:nvSpPr>
          <p:cNvPr id="10" name="Shape 8"/>
          <p:cNvSpPr/>
          <p:nvPr/>
        </p:nvSpPr>
        <p:spPr>
          <a:xfrm>
            <a:off x="6705432" y="5746090"/>
            <a:ext cx="4632844" cy="1111910"/>
          </a:xfrm>
          <a:prstGeom prst="triangle">
            <a:avLst/>
          </a:prstGeom>
          <a:solidFill>
            <a:srgbClr val="211E18"/>
          </a:solidFill>
          <a:ln/>
        </p:spPr>
      </p:sp>
      <p:sp>
        <p:nvSpPr>
          <p:cNvPr id="11" name="Shape 9"/>
          <p:cNvSpPr/>
          <p:nvPr/>
        </p:nvSpPr>
        <p:spPr>
          <a:xfrm>
            <a:off x="9753356" y="6128309"/>
            <a:ext cx="3413675" cy="729691"/>
          </a:xfrm>
          <a:prstGeom prst="triangle">
            <a:avLst/>
          </a:prstGeom>
          <a:solidFill>
            <a:srgbClr val="141414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178308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5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standard-setter for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5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reclusive retreat in China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02920" y="3611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C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Redefining the Standard of Reclusive Retreat in China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Properties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" y="4709160"/>
            <a:ext cx="3362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replicable “local aesthetics + quiet luxury service” model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31538" y="4297680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Top-of-Mind, Regionally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31538" y="4709160"/>
            <a:ext cx="3362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top 3 in “mountain retreat” brand recall across 3 core source cities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60157" y="4297680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Category Name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960157" y="4709160"/>
            <a:ext cx="3362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“YINSHAN-style” becomes shorthand across the industry for quiet-luxury retreat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Strategic Pillars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architectural language to membership — the full structure behind the YINSHAN brand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3545738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377440"/>
            <a:ext cx="502920" cy="502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7649" y="2447849"/>
            <a:ext cx="362102" cy="362102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179978" y="2377440"/>
            <a:ext cx="502920" cy="502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50387" y="2447849"/>
            <a:ext cx="362102" cy="362102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0738" y="2544409"/>
            <a:ext cx="149669" cy="144841"/>
          </a:xfrm>
          <a:prstGeom prst="triangle">
            <a:avLst/>
          </a:prstGeom>
          <a:solidFill>
            <a:srgbClr val="B08D57"/>
          </a:solidFill>
          <a:ln/>
        </p:spPr>
      </p:sp>
      <p:sp>
        <p:nvSpPr>
          <p:cNvPr id="16" name="Shape 14"/>
          <p:cNvSpPr/>
          <p:nvPr/>
        </p:nvSpPr>
        <p:spPr>
          <a:xfrm>
            <a:off x="3392814" y="2580620"/>
            <a:ext cx="144841" cy="108631"/>
          </a:xfrm>
          <a:prstGeom prst="triangle">
            <a:avLst/>
          </a:prstGeom>
          <a:solidFill>
            <a:srgbClr val="B08D5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063240"/>
            <a:ext cx="299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Aesthetics,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Architectural Language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3977640"/>
            <a:ext cx="29970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materials and low-intervention building define YINSHAN's spatial identity — every property an unmovable footnote to its geography.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22978" y="2148840"/>
            <a:ext cx="3545738" cy="3794760"/>
          </a:xfrm>
          <a:prstGeom prst="rect">
            <a:avLst/>
          </a:prstGeom>
          <a:solidFill>
            <a:srgbClr val="1C1C1C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97298" y="2377440"/>
            <a:ext cx="502920" cy="502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7707" y="2447849"/>
            <a:ext cx="362102" cy="362102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7298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000037" y="2377440"/>
            <a:ext cx="502920" cy="502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70446" y="2447849"/>
            <a:ext cx="362102" cy="362102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0796" y="2508199"/>
            <a:ext cx="241402" cy="241402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51497" y="2544409"/>
            <a:ext cx="0" cy="168981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7298" y="3063240"/>
            <a:ext cx="299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5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Quiet Luxury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5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 System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97298" y="3977640"/>
            <a:ext cx="29970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9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three-tier butler system and local content curation elevate “service” into “narrative” — stillness, by design.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43037" y="2148840"/>
            <a:ext cx="3545738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7357" y="2377440"/>
            <a:ext cx="502920" cy="502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87766" y="2447849"/>
            <a:ext cx="362102" cy="362102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7357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0820095" y="2377440"/>
            <a:ext cx="502920" cy="502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890504" y="2447849"/>
            <a:ext cx="362102" cy="362102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950854" y="2544409"/>
            <a:ext cx="120701" cy="120701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B08D5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052243" y="2628900"/>
            <a:ext cx="132771" cy="0"/>
          </a:xfrm>
          <a:prstGeom prst="line">
            <a:avLst/>
          </a:prstGeom>
          <a:noFill/>
          <a:ln w="15240">
            <a:solidFill>
              <a:srgbClr val="B08D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7357" y="3063240"/>
            <a:ext cx="299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Membership-Led,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Asset-Light Expansion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17357" y="3977640"/>
            <a:ext cx="29970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brand-management-plus-owner-partnership model controls capital intensity, while membership locks in repeat visits and referrals.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YINSHAN · Brand Launch &amp; Operations Strategy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Pillar One: Local-Aesthetic Architectural Language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 — local materials / low-intervention building / four-season landscaping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354573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28600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Materials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127248"/>
            <a:ext cx="3088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70% of structural material sourced within 50 km of the site (rammed earth, fieldstone, native timber) — lowering ecological footprint and reinforcing a genuine sense of place.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22978" y="2148840"/>
            <a:ext cx="354573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51578" y="228600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51578" y="274320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Low-Intervention Building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51578" y="3127248"/>
            <a:ext cx="3088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contour lines are respected; large-scale cut-and-fill is prohibited. No single building may exceed 18% site coverage.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43037" y="2148840"/>
            <a:ext cx="354573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71637" y="228600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71637" y="274320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Four-Season Landscape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71637" y="3127248"/>
            <a:ext cx="3088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Landscaping is designed to hold across all four seasons, avoiding reliance on a single bloom or snow window for visual impact.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663440"/>
            <a:ext cx="11185855" cy="1234440"/>
          </a:xfrm>
          <a:prstGeom prst="rect">
            <a:avLst/>
          </a:prstGeom>
          <a:solidFill>
            <a:srgbClr val="1C1C1C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484632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8C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do not build the view. We simply let it be seen.”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YINSHAN · Brand Launch &amp; Operations Strategy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Pillar One Tactics: Five Design Principles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rules that govern everything from site survey to soft furnishing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182594" y="2286000"/>
            <a:ext cx="731520" cy="7315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5006" y="2388413"/>
            <a:ext cx="526694" cy="526694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2789" y="2528865"/>
            <a:ext cx="217700" cy="210678"/>
          </a:xfrm>
          <a:prstGeom prst="triangle">
            <a:avLst/>
          </a:prstGeom>
          <a:solidFill>
            <a:srgbClr val="B08D57"/>
          </a:solidFill>
          <a:ln/>
        </p:spPr>
      </p:sp>
      <p:sp>
        <p:nvSpPr>
          <p:cNvPr id="12" name="Shape 10"/>
          <p:cNvSpPr/>
          <p:nvPr/>
        </p:nvSpPr>
        <p:spPr>
          <a:xfrm>
            <a:off x="1492173" y="2581534"/>
            <a:ext cx="210678" cy="158008"/>
          </a:xfrm>
          <a:prstGeom prst="triangle">
            <a:avLst/>
          </a:prstGeom>
          <a:solidFill>
            <a:srgbClr val="B08D57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154680"/>
            <a:ext cx="22737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 Terrain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5760" y="3566160"/>
            <a:ext cx="23651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defer to native contours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56341" y="2286000"/>
            <a:ext cx="731520" cy="7315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58753" y="2388413"/>
            <a:ext cx="526694" cy="526694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46536" y="2476195"/>
            <a:ext cx="351130" cy="35113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22101" y="2528865"/>
            <a:ext cx="0" cy="245791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85227" y="3154680"/>
            <a:ext cx="22737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Sourcing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639507" y="3566160"/>
            <a:ext cx="23651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≥70% local material share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30088" y="2286000"/>
            <a:ext cx="731520" cy="7315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32500" y="2388413"/>
            <a:ext cx="526694" cy="526694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90509" y="2546421"/>
            <a:ext cx="210678" cy="210678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8974" y="3154680"/>
            <a:ext cx="22737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Restraint in Space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913254" y="3566160"/>
            <a:ext cx="23651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visual over-styling in rooms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03835" y="2286000"/>
            <a:ext cx="731520" cy="7315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06247" y="2388413"/>
            <a:ext cx="526694" cy="526694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64256" y="2546421"/>
            <a:ext cx="210678" cy="210678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29" name="Text 27"/>
          <p:cNvSpPr/>
          <p:nvPr/>
        </p:nvSpPr>
        <p:spPr>
          <a:xfrm>
            <a:off x="7232721" y="3154680"/>
            <a:ext cx="22737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 First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187001" y="3566160"/>
            <a:ext cx="23651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light prioritized over fixtures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277582" y="2286000"/>
            <a:ext cx="731520" cy="7315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79994" y="2388413"/>
            <a:ext cx="526694" cy="526694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467777" y="2528865"/>
            <a:ext cx="175565" cy="175565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B08D5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15251" y="2651760"/>
            <a:ext cx="193121" cy="0"/>
          </a:xfrm>
          <a:prstGeom prst="line">
            <a:avLst/>
          </a:prstGeom>
          <a:noFill/>
          <a:ln w="15240">
            <a:solidFill>
              <a:srgbClr val="B08D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06468" y="3154680"/>
            <a:ext cx="22737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Reversible Building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460748" y="3566160"/>
            <a:ext cx="23651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Demountable components, lower ecological debt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4709160"/>
            <a:ext cx="11185855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77240" y="489204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mechanism: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must pass review by the Five Principles committee before delivery. Any dimension scoring below 3.5 (of 5) is sent back for revision — schedule pressure never lowers the bar.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YINSHAN · Brand Launch &amp; Operations Strategy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Pillar One Tactics: Space Allocation Model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/ public spaces / forest trails — ratio determines experience density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377440"/>
            <a:ext cx="3132039" cy="822960"/>
          </a:xfrm>
          <a:prstGeom prst="rect">
            <a:avLst/>
          </a:prstGeom>
          <a:solidFill>
            <a:srgbClr val="B08D5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77440"/>
            <a:ext cx="31320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Rooms 28%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34959" y="2377440"/>
            <a:ext cx="2460888" cy="822960"/>
          </a:xfrm>
          <a:prstGeom prst="rect">
            <a:avLst/>
          </a:prstGeom>
          <a:solidFill>
            <a:srgbClr val="8B6F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4959" y="2377440"/>
            <a:ext cx="2460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Dining 22%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95848" y="2377440"/>
            <a:ext cx="5592928" cy="822960"/>
          </a:xfrm>
          <a:prstGeom prst="rect">
            <a:avLst/>
          </a:prstGeom>
          <a:solidFill>
            <a:srgbClr val="2F40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5848" y="2377440"/>
            <a:ext cx="559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Trails &amp; Preserved Landscape 50%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Rooms 28%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3520440"/>
            <a:ext cx="8168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18–22 keys per property, max 2 stories, maximizing private sightlines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1422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Dining 22%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4142232"/>
            <a:ext cx="8168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dining hall, dawn-and-dusk tea room, reading corner, spa and hot-spring courtyard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7640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Trails &amp; Preserved Landscape 50%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0440" y="4764024"/>
            <a:ext cx="8168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half the land is deliberately kept as native vegetation and walking trails — the core asset of rarity, not land held for future development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5522976"/>
            <a:ext cx="1118585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5660136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Versus the industry: mainstream boutique resorts typically preserve under 30% of land. YINSHAN uses “anti-density” development as its rarity moat.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YINSHAN · Brand Launch &amp; Operations Strategy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EXPERIENCE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Pillar Two: A Day in the “Slow Zone”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quiet-luxury system in practice — from dawn tea to silent dinner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487168"/>
            <a:ext cx="10820095" cy="0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94074" y="2313432"/>
            <a:ext cx="347472" cy="347472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2720" y="2362078"/>
            <a:ext cx="250180" cy="250180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26662" y="2446020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43200"/>
            <a:ext cx="20725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6:30 AM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017520"/>
            <a:ext cx="20725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Dawn Tea Room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447288"/>
            <a:ext cx="207257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cup before the mist clears — the host says nothing, only pours and sits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58093" y="2313432"/>
            <a:ext cx="347472" cy="347472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06739" y="2362078"/>
            <a:ext cx="250180" cy="250180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90681" y="2446020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9" name="Text 17"/>
          <p:cNvSpPr/>
          <p:nvPr/>
        </p:nvSpPr>
        <p:spPr>
          <a:xfrm>
            <a:off x="2895539" y="2743200"/>
            <a:ext cx="20725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9:00 AM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95539" y="3017520"/>
            <a:ext cx="20725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 Trail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95539" y="3447288"/>
            <a:ext cx="207257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guide leads, recounting the age of a plant or the history of a stone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22112" y="2313432"/>
            <a:ext cx="347472" cy="347472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70758" y="2362078"/>
            <a:ext cx="250180" cy="250180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54700" y="2446020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25" name="Text 23"/>
          <p:cNvSpPr/>
          <p:nvPr/>
        </p:nvSpPr>
        <p:spPr>
          <a:xfrm>
            <a:off x="5059558" y="2743200"/>
            <a:ext cx="20725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1:00 PM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59558" y="3017520"/>
            <a:ext cx="20725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Fieldwork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59558" y="3447288"/>
            <a:ext cx="207257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farming or craft — physical effort replaces socializing as the outlet for stillness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86131" y="2313432"/>
            <a:ext cx="347472" cy="347472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4777" y="2362078"/>
            <a:ext cx="250180" cy="250180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18719" y="2446020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31" name="Text 29"/>
          <p:cNvSpPr/>
          <p:nvPr/>
        </p:nvSpPr>
        <p:spPr>
          <a:xfrm>
            <a:off x="7223577" y="2743200"/>
            <a:ext cx="20725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5:30 PM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223577" y="3017520"/>
            <a:ext cx="20725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Courtyard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23577" y="3447288"/>
            <a:ext cx="207257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courtyard seat for the view — one guest, one seat, undisturbed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250150" y="2313432"/>
            <a:ext cx="347472" cy="347472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298796" y="2362078"/>
            <a:ext cx="250180" cy="250180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382738" y="2446020"/>
            <a:ext cx="82296" cy="82296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37" name="Text 35"/>
          <p:cNvSpPr/>
          <p:nvPr/>
        </p:nvSpPr>
        <p:spPr>
          <a:xfrm>
            <a:off x="9387596" y="2743200"/>
            <a:ext cx="20725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7:30 PM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387596" y="3017520"/>
            <a:ext cx="20725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Dinner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387596" y="3447288"/>
            <a:ext cx="207257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gesture-served immersive dinner — dining as meditation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" y="5349240"/>
            <a:ext cx="1118585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77240" y="54864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logic: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is deliberately under-scheduled — just 5 anchor points, with long open stretches and no itinerary — so guests choose to do nothing at all. That is the defining difference between “quiet luxury” and “exquisite busyness.”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EXPERIENCE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Pillar Two Tactics: Three-Tier Butler Service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/ Signature / Bespoke — service tiers mapped to membership levels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3545738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8952" y="233172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58952" y="260604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Tier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8952" y="3154680"/>
            <a:ext cx="30336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baseline service: check-in/out guidance, housekeeping, basic dining concierge, 24-hour butler line.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8952" y="4800600"/>
            <a:ext cx="3033674" cy="0"/>
          </a:xfrm>
          <a:prstGeom prst="line">
            <a:avLst/>
          </a:prstGeom>
          <a:noFill/>
          <a:ln w="12700">
            <a:solidFill>
              <a:srgbClr val="C9B7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4937760"/>
            <a:ext cx="3033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butler : 4 rooms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22978" y="2148840"/>
            <a:ext cx="3545738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9010" y="233172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9010" y="260604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 Tier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79010" y="3154680"/>
            <a:ext cx="30336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bespoke local itineraries, reserved seating at the silent dinner, and custom milestone-occasion rituals.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9010" y="4800600"/>
            <a:ext cx="3033674" cy="0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9010" y="4937760"/>
            <a:ext cx="3033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butler : 2 rooms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43037" y="2148840"/>
            <a:ext cx="3545738" cy="3840480"/>
          </a:xfrm>
          <a:prstGeom prst="rect">
            <a:avLst/>
          </a:prstGeom>
          <a:solidFill>
            <a:srgbClr val="1C1C1C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99069" y="233172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BESPOKE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99069" y="260604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Bespoke Tier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399069" y="3154680"/>
            <a:ext cx="30336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one-on-one butler covering pre-arrival planning, a private guide, a personal chef, and coordinated privacy security.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399069" y="4800600"/>
            <a:ext cx="3033674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99069" y="4937760"/>
            <a:ext cx="3033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C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butler : 1 party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YINSHAN · Brand Launch &amp; Operations Strategy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EXPERIENCE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Pillar Two Tactics: Local Content Curation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partnership models with heritage crafts, farming, and resident artists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354573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8952" y="2331720"/>
            <a:ext cx="548640" cy="54864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5762" y="2408530"/>
            <a:ext cx="395021" cy="395021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1598" y="2474366"/>
            <a:ext cx="263347" cy="263347"/>
          </a:xfrm>
          <a:prstGeom prst="diamond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2377440"/>
            <a:ext cx="235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Heritage Craft Partnerships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8952" y="3063240"/>
            <a:ext cx="30336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resident agreements with local heritage-craft masters; a new hands-on course each season (bamboo weaving, tea-making, batik dyeing), with YINSHAN providing venue and a share of media rights.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22978" y="2148840"/>
            <a:ext cx="354573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9010" y="2331720"/>
            <a:ext cx="548640" cy="54864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55820" y="2408530"/>
            <a:ext cx="395021" cy="395021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21657" y="2474366"/>
            <a:ext cx="263347" cy="263347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53330" y="2513868"/>
            <a:ext cx="0" cy="184343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83098" y="2377440"/>
            <a:ext cx="235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Farming Partnerships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9010" y="3063240"/>
            <a:ext cx="30336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“Order-based agriculture” with nearby cooperatives — guests join the season's harvest and take it home, cooperatives gain stable premium buyers, and YINSHAN gains authentic content.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143037" y="2148840"/>
            <a:ext cx="354573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99069" y="2331720"/>
            <a:ext cx="548640" cy="54864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75878" y="2408530"/>
            <a:ext cx="395021" cy="395021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41715" y="2474366"/>
            <a:ext cx="263347" cy="263347"/>
          </a:xfrm>
          <a:prstGeom prst="star5">
            <a:avLst/>
          </a:prstGeom>
          <a:solidFill>
            <a:srgbClr val="B08D57"/>
          </a:solidFill>
          <a:ln/>
        </p:spPr>
      </p:sp>
      <p:sp>
        <p:nvSpPr>
          <p:cNvPr id="26" name="Text 24"/>
          <p:cNvSpPr/>
          <p:nvPr/>
        </p:nvSpPr>
        <p:spPr>
          <a:xfrm>
            <a:off x="9103157" y="2377440"/>
            <a:ext cx="235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Artist Residency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99069" y="3063240"/>
            <a:ext cx="303367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YINSHAN Artist Residency invites 4–6 creators each year for 1–3 month stays; resulting works are displayed in limited runs on-site, refreshing the space's narrative in ways no one else can replicate.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5532120"/>
            <a:ext cx="11185855" cy="777240"/>
          </a:xfrm>
          <a:prstGeom prst="rect">
            <a:avLst/>
          </a:prstGeom>
          <a:solidFill>
            <a:srgbClr val="1C1C1C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" y="566928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8C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Non-negotiable: no staged folklore. We hold to “process authenticity over visual spectacle” — better a slower trickle of content than a single staged photo-op.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EXPERIENCE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Pillar Three: Membership-Led, Asset-Light Expansion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“Brand management + owner partnership” — trading capital intensity for speed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377440"/>
            <a:ext cx="3108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5786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 / Investor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063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land and construction capital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60520" y="2377440"/>
            <a:ext cx="3291840" cy="1371600"/>
          </a:xfrm>
          <a:prstGeom prst="rect">
            <a:avLst/>
          </a:prstGeom>
          <a:solidFill>
            <a:srgbClr val="1C1C1C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0" y="25786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YINSHAN Brand Management Co.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0" y="30632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design standards, butler academy, membership system, and marketing platform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18120" y="2377440"/>
            <a:ext cx="3108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46720" y="25786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 &amp; Guests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3063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membership fees and stay spend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30168" y="2916936"/>
            <a:ext cx="512064" cy="292608"/>
          </a:xfrm>
          <a:prstGeom prst="rightArrow">
            <a:avLst/>
          </a:prstGeom>
          <a:solidFill>
            <a:srgbClr val="B08D57"/>
          </a:solidFill>
          <a:ln/>
        </p:spPr>
      </p:sp>
      <p:sp>
        <p:nvSpPr>
          <p:cNvPr id="19" name="Shape 17"/>
          <p:cNvSpPr/>
          <p:nvPr/>
        </p:nvSpPr>
        <p:spPr>
          <a:xfrm>
            <a:off x="7470648" y="2916936"/>
            <a:ext cx="512064" cy="292608"/>
          </a:xfrm>
          <a:prstGeom prst="rightArrow">
            <a:avLst/>
          </a:prstGeom>
          <a:solidFill>
            <a:srgbClr val="B08D57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4160520"/>
            <a:ext cx="11185855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Asset-Light Revenue Structure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" y="4754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license fee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46120" y="4754880"/>
            <a:ext cx="8168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one-time fee at signing, covering the standards manual and design rollout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5138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service fee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46120" y="5138928"/>
            <a:ext cx="8168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8%–12% of property revenue, ongoing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55229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revenue share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46120" y="5522976"/>
            <a:ext cx="8168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YINSHAN takes a 15% platform fee on national-member spend at any property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YINSHAN · Brand Launch &amp; Operations Strategy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EXPERIENCE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Pillar Three Tactics: Owner Screening &amp; Revenue Split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admission criteria are the precondition for the asset-light model to hold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548640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Owner Admission Criteria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7889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meets the three selection criteria (p.8), and owner accepts the anti-density preservation ratio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7772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5661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holds ≥3 years of local relationships and compliance credentials, able to coordinate artisans and heritage partners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7772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3434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accepts YINSHAN's one-vote veto on design and operating standards; construction specs cannot be swapped mid-project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7772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51206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funds ≥65% of total project cost upfront; YINSHAN is never the majority capital provider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263640" y="2148840"/>
            <a:ext cx="5425135" cy="3794760"/>
          </a:xfrm>
          <a:prstGeom prst="rect">
            <a:avLst/>
          </a:prstGeom>
          <a:solidFill>
            <a:srgbClr val="1C1C1C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2331720"/>
            <a:ext cx="4876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Revenue Split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37960" y="2880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818120" y="2953512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net proceeds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3796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818120" y="3593592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YINSHAN mgmt fee + share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37960" y="4160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818120" y="4233672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platform fee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37960" y="4937760"/>
            <a:ext cx="4876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B8A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calculated on annual Net Operating Income (NOI); YINSHAN does not share in fixed-asset valuation gains, keeping owner capital returns the priority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YINSHAN · Brand Launch &amp; Operations Strategy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EXPERIENCE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Pillar Three Tactics: 3-Year Opening Cadence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1: 3 properties → Wave 2: 7 → Wave 3: 15 — validate in stages, then accelerate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1118585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24028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discipline: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wave requires the prior wave to sustain ≥60% occupancy for two consecutive quarters before opening begins. Capital pressure never pulls forward the next wave — that would dilute brand premium.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4892040"/>
            <a:ext cx="3545738" cy="1097280"/>
          </a:xfrm>
          <a:prstGeom prst="rect">
            <a:avLst/>
          </a:prstGeom>
          <a:solidFill>
            <a:srgbClr val="E8DEC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4983480"/>
            <a:ext cx="3545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2920" y="5458968"/>
            <a:ext cx="3545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6080760"/>
            <a:ext cx="3545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Wave 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6391656"/>
            <a:ext cx="3545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Owner-built validation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Single-site model proven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22978" y="4251960"/>
            <a:ext cx="3545738" cy="1737360"/>
          </a:xfrm>
          <a:prstGeom prst="rect">
            <a:avLst/>
          </a:prstGeom>
          <a:solidFill>
            <a:srgbClr val="C9B78E"/>
          </a:solidFill>
          <a:ln/>
        </p:spPr>
      </p:sp>
      <p:sp>
        <p:nvSpPr>
          <p:cNvPr id="17" name="Text 15"/>
          <p:cNvSpPr/>
          <p:nvPr/>
        </p:nvSpPr>
        <p:spPr>
          <a:xfrm>
            <a:off x="4322978" y="4343400"/>
            <a:ext cx="3545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22978" y="4818888"/>
            <a:ext cx="3545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22978" y="6080760"/>
            <a:ext cx="3545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Wave 2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22978" y="6391656"/>
            <a:ext cx="3545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Asset-light partnership begins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 replication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143037" y="3520440"/>
            <a:ext cx="3545738" cy="246888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22" name="Text 20"/>
          <p:cNvSpPr/>
          <p:nvPr/>
        </p:nvSpPr>
        <p:spPr>
          <a:xfrm>
            <a:off x="8143037" y="3611880"/>
            <a:ext cx="3545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143037" y="4087368"/>
            <a:ext cx="3545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43037" y="6080760"/>
            <a:ext cx="3545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 Wave 3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143037" y="6391656"/>
            <a:ext cx="3545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mindshare expansion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scaled nationally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EXPERIENCE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8C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Brand Experience Loop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8C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→ Booking → Experience → Membership → Word of Mouth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907128" y="3154680"/>
            <a:ext cx="2377440" cy="237744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B08D57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5528920" y="2587752"/>
            <a:ext cx="1133856" cy="1133856"/>
          </a:xfrm>
          <a:prstGeom prst="ellipse">
            <a:avLst/>
          </a:prstGeom>
          <a:solidFill>
            <a:srgbClr val="232019"/>
          </a:solidFill>
          <a:ln w="15875">
            <a:solidFill>
              <a:srgbClr val="B08D57"/>
            </a:solidFill>
            <a:prstDash val="solid"/>
          </a:ln>
          <a:effectLst>
            <a:outerShdw sx="100000" sy="100000" kx="0" ky="0" algn="bl" rotWithShape="0" blurRad="101600" dist="25400" dir="5400000">
              <a:srgbClr val="1C1C1C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28920" y="2660904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28920" y="2916936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55768" y="2020824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B8A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 residencies and magazine-grade content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659460" y="3409137"/>
            <a:ext cx="1133856" cy="1133856"/>
          </a:xfrm>
          <a:prstGeom prst="ellipse">
            <a:avLst/>
          </a:prstGeom>
          <a:solidFill>
            <a:srgbClr val="232019"/>
          </a:solidFill>
          <a:ln w="15875">
            <a:solidFill>
              <a:srgbClr val="B08D57"/>
            </a:solidFill>
            <a:prstDash val="solid"/>
          </a:ln>
          <a:effectLst>
            <a:outerShdw sx="100000" sy="100000" kx="0" ky="0" algn="bl" rotWithShape="0" blurRad="101600" dist="25400" dir="5400000">
              <a:srgbClr val="1C1C1C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59460" y="3482289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59460" y="3738321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30476" y="3793185"/>
            <a:ext cx="1088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B8A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one-to-one consultative advisory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227632" y="4738167"/>
            <a:ext cx="1133856" cy="1133856"/>
          </a:xfrm>
          <a:prstGeom prst="ellipse">
            <a:avLst/>
          </a:prstGeom>
          <a:solidFill>
            <a:srgbClr val="232019"/>
          </a:solidFill>
          <a:ln w="15875">
            <a:solidFill>
              <a:srgbClr val="B08D57"/>
            </a:solidFill>
            <a:prstDash val="solid"/>
          </a:ln>
          <a:effectLst>
            <a:outerShdw sx="100000" sy="100000" kx="0" ky="0" algn="bl" rotWithShape="0" blurRad="101600" dist="25400" dir="5400000">
              <a:srgbClr val="1C1C1C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27632" y="4811319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27632" y="5067351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Experience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54480" y="5981751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B8A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butler service, delivered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830208" y="4738167"/>
            <a:ext cx="1133856" cy="1133856"/>
          </a:xfrm>
          <a:prstGeom prst="ellipse">
            <a:avLst/>
          </a:prstGeom>
          <a:solidFill>
            <a:srgbClr val="232019"/>
          </a:solidFill>
          <a:ln w="15875">
            <a:solidFill>
              <a:srgbClr val="B08D57"/>
            </a:solidFill>
            <a:prstDash val="solid"/>
          </a:ln>
          <a:effectLst>
            <a:outerShdw sx="100000" sy="100000" kx="0" ky="0" algn="bl" rotWithShape="0" blurRad="101600" dist="25400" dir="5400000">
              <a:srgbClr val="1C1C1C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30208" y="4811319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30208" y="5067351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Membership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7056" y="5981751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B8A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perks drive repeat visits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398380" y="3409137"/>
            <a:ext cx="1133856" cy="1133856"/>
          </a:xfrm>
          <a:prstGeom prst="ellipse">
            <a:avLst/>
          </a:prstGeom>
          <a:solidFill>
            <a:srgbClr val="232019"/>
          </a:solidFill>
          <a:ln w="15875">
            <a:solidFill>
              <a:srgbClr val="B08D57"/>
            </a:solidFill>
            <a:prstDash val="solid"/>
          </a:ln>
          <a:effectLst>
            <a:outerShdw sx="100000" sy="100000" kx="0" ky="0" algn="bl" rotWithShape="0" blurRad="101600" dist="25400" dir="5400000">
              <a:srgbClr val="1C1C1C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398380" y="3482289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98380" y="3738321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of Mouth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73084" y="3793185"/>
            <a:ext cx="1088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B8A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stories renew awareness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5272888" y="3959352"/>
            <a:ext cx="1645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YINSHAN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5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 Loop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EXPERIENCE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Membership &amp; Private-Domain System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 — Wanderer / Recluse / Confidant</a:t>
            </a:r>
            <a:endParaRPr lang="en-US" sz="12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1118585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651760"/>
                <a:gridCol w="2377440"/>
                <a:gridCol w="237744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Benefits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Discount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Wanderer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Automatic on first stay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Points accrual / birthday gift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5% off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Standard butler service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RMB 50K+ annual spend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Low-season priority booking / dedicated support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10% off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Signature-tier butler service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RMB 180K+ annual spend, or by invitation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Free upgrades at any property / priority at artist-residency events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15%+ off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Bespoke-tier butler service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4709160"/>
            <a:ext cx="11185855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" y="489204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Private-domain principle: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is never driven by hard-sell top-up tactics — tier advancement follows only from genuine spend and visits, so benefits are never diluted by over-marketing. Quiet-luxury guests are acutely sensitive to being sold to.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YINSHAN · Brand Launch &amp; Operations Strategy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EXPERIENCE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&amp; Communications Strategy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 co-residency / magazine-grade visuals / The YINSHAN Journal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3545738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83181" y="2377440"/>
            <a:ext cx="585216" cy="585216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65111" y="2459370"/>
            <a:ext cx="421356" cy="421356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35337" y="2529596"/>
            <a:ext cx="280904" cy="280904"/>
          </a:xfrm>
          <a:prstGeom prst="star5">
            <a:avLst/>
          </a:prstGeom>
          <a:solidFill>
            <a:srgbClr val="B08D57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108960"/>
            <a:ext cx="3179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 Co-Residency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1520" y="3566160"/>
            <a:ext cx="30885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10–15 like-minded creators to co-reside for 7–14 days rather than a one-day visit, producing deep-immersion content — no flash pop-in collaborations.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22978" y="2148840"/>
            <a:ext cx="3545738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03240" y="2377440"/>
            <a:ext cx="585216" cy="585216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85170" y="2459370"/>
            <a:ext cx="421356" cy="421356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11576" y="2585777"/>
            <a:ext cx="168542" cy="168542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5858" y="3108960"/>
            <a:ext cx="3179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Magazine-Grade Visuals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51578" y="3566160"/>
            <a:ext cx="30885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visual tone (cream / ink / warm gold) is governed centrally by YINSHAN's content team, ending inconsistent marketing assets across partner properties.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43037" y="2148840"/>
            <a:ext cx="3545738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23298" y="2377440"/>
            <a:ext cx="585216" cy="585216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05228" y="2459370"/>
            <a:ext cx="421356" cy="421356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31635" y="2585777"/>
            <a:ext cx="168542" cy="168542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25" name="Text 23"/>
          <p:cNvSpPr/>
          <p:nvPr/>
        </p:nvSpPr>
        <p:spPr>
          <a:xfrm>
            <a:off x="8325917" y="3108960"/>
            <a:ext cx="3179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YINSHAN Journal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371637" y="3566160"/>
            <a:ext cx="30885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proprietary quarterly resort magazine featuring local culture and guest essays — print copies gifted in-room, digital editions build a lasting private-domain asset.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5623560"/>
            <a:ext cx="11185855" cy="685800"/>
          </a:xfrm>
          <a:prstGeom prst="rect">
            <a:avLst/>
          </a:prstGeom>
          <a:solidFill>
            <a:srgbClr val="1C1C1C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77240" y="562356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8C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Non-negotiable: never buy fake traffic or seeded engagement. Better slower growth than a brand-trust asset spent down.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EXPERIENCE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&amp; Revenue Management Strategy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dynamic pricing model + RevPAR targets</a:t>
            </a:r>
            <a:endParaRPr lang="en-US" sz="12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2103120"/>
          <a:ext cx="6949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726680" y="2103120"/>
            <a:ext cx="3962095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955280" y="2286000"/>
            <a:ext cx="3504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pPr indent="0" marL="0">
              <a:buNone/>
            </a:pPr>
            <a:r>
              <a:rPr lang="en-US" sz="1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955280" y="2880360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Peak-season occupancy (July)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55280" y="3246120"/>
            <a:ext cx="3504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season (Feb/Nov) holds the base via member-exclusive rates rather than deep discounting that erodes pricing perception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726680" y="3977640"/>
            <a:ext cx="3962095" cy="1737360"/>
          </a:xfrm>
          <a:prstGeom prst="rect">
            <a:avLst/>
          </a:prstGeom>
          <a:solidFill>
            <a:srgbClr val="1C1C1C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955280" y="4160520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Dynamic Pricing Rules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55280" y="4498848"/>
            <a:ext cx="3504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9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overselling peak: even at full occupancy, 5% of rooms held for Confidant-tier members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9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discounting low season: value-adds (extended stays/upgrades) replace price cuts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9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price transparency: same rate across all channels, no hidden OTA pricing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YINSHAN · Brand Launch &amp; Operations Strategy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ROADMAP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&amp; Talent Plan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brand platform + on-site operations teams + butler academy training system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49928" y="2103120"/>
            <a:ext cx="3291840" cy="777240"/>
          </a:xfrm>
          <a:prstGeom prst="rect">
            <a:avLst/>
          </a:prstGeom>
          <a:solidFill>
            <a:srgbClr val="1C1C1C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49928" y="2103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YINSHAN Brand Management HQ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95848" y="2880360"/>
            <a:ext cx="0" cy="320040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75789" y="3200400"/>
            <a:ext cx="0" cy="320040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520440"/>
            <a:ext cx="3545738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70332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&amp; Product Platform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4160520"/>
            <a:ext cx="308853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standards / membership system / content platform / revenue management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95848" y="2880360"/>
            <a:ext cx="0" cy="320040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5848" y="3200400"/>
            <a:ext cx="0" cy="320040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22978" y="3520440"/>
            <a:ext cx="3545738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51578" y="370332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Butler Academy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51578" y="4160520"/>
            <a:ext cx="308853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standard training / tiered certification / local culture curriculum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95848" y="2880360"/>
            <a:ext cx="0" cy="320040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15906" y="3200400"/>
            <a:ext cx="0" cy="320040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43037" y="3520440"/>
            <a:ext cx="3545738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371637" y="370332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On-Site Operations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371637" y="4160520"/>
            <a:ext cx="308853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manager / butler team / facilities maintenance / local partnership liaison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75789" y="3200400"/>
            <a:ext cx="7640117" cy="0"/>
          </a:xfrm>
          <a:prstGeom prst="line">
            <a:avLst/>
          </a:prstGeom>
          <a:noFill/>
          <a:ln w="12700">
            <a:solidFill>
              <a:srgbClr val="B08D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YINSHAN · Brand Launch &amp; Operations Strategy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ROADMAP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&amp; Operational Standardization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sourcing network / butler training / engineering maintenance SOPs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1118585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450592"/>
            <a:ext cx="502920" cy="502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1929" y="2521001"/>
            <a:ext cx="362102" cy="362102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235915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Sourcing Network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43400" y="2359152"/>
            <a:ext cx="707105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property contracts 8–12 cooperatives/farms within a 30 km radius, on a dual “order-plus-traceability” track, rotating menus seasonally to reduce single-supplier dependence.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502920" y="3611880"/>
            <a:ext cx="1118585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867912"/>
            <a:ext cx="502920" cy="502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1929" y="3938321"/>
            <a:ext cx="362102" cy="362102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867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377647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Butler Training &amp; Certification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43400" y="3776472"/>
            <a:ext cx="707105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butlers complete a 6-week YINSHAN Academy program (etiquette, local culture, crisis response) and must pass a blind assessment before serving guests independently.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02920" y="5029200"/>
            <a:ext cx="1118585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5285232"/>
            <a:ext cx="502920" cy="5029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1929" y="5355641"/>
            <a:ext cx="362102" cy="362102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285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63040" y="519379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Maintenance SOPs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43400" y="5193792"/>
            <a:ext cx="707105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maintenance calendar (monthly/quarterly/annual) covering rammed-earth damp-proofing, timber pest control, hot-spring water quality, and other site-specific items.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YINSHAN · Brand Launch &amp; Operations Strategy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ROADMAP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Roadmap Year 1: First Property Milestones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selection → design → construction → soft opening, quarterly Gantt view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46120" y="1920240"/>
            <a:ext cx="211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56784" y="1920240"/>
            <a:ext cx="211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56784" y="2194560"/>
            <a:ext cx="0" cy="3035808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67448" y="1920240"/>
            <a:ext cx="211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67448" y="2194560"/>
            <a:ext cx="0" cy="3035808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78111" y="1920240"/>
            <a:ext cx="211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578111" y="2194560"/>
            <a:ext cx="0" cy="3035808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8600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survey &amp; contract signing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2340864"/>
            <a:ext cx="2110664" cy="292608"/>
          </a:xfrm>
          <a:prstGeom prst="roundRect">
            <a:avLst>
              <a:gd name="adj" fmla="val 12500"/>
            </a:avLst>
          </a:prstGeom>
          <a:solidFill>
            <a:srgbClr val="B08D57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70662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interior design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01452" y="2761488"/>
            <a:ext cx="3165996" cy="292608"/>
          </a:xfrm>
          <a:prstGeom prst="roundRect">
            <a:avLst>
              <a:gd name="adj" fmla="val 12500"/>
            </a:avLst>
          </a:prstGeom>
          <a:solidFill>
            <a:srgbClr val="B08D57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12724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artisan mobilization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56784" y="3182112"/>
            <a:ext cx="2110664" cy="292608"/>
          </a:xfrm>
          <a:prstGeom prst="roundRect">
            <a:avLst>
              <a:gd name="adj" fmla="val 12500"/>
            </a:avLst>
          </a:prstGeom>
          <a:solidFill>
            <a:srgbClr val="B08D57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54787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construction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12116" y="3602736"/>
            <a:ext cx="4221328" cy="292608"/>
          </a:xfrm>
          <a:prstGeom prst="roundRect">
            <a:avLst>
              <a:gd name="adj" fmla="val 12500"/>
            </a:avLst>
          </a:prstGeom>
          <a:solidFill>
            <a:srgbClr val="B08D57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96849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Furnishing &amp; landscaping install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578111" y="4023360"/>
            <a:ext cx="1688531" cy="292608"/>
          </a:xfrm>
          <a:prstGeom prst="roundRect">
            <a:avLst>
              <a:gd name="adj" fmla="val 12500"/>
            </a:avLst>
          </a:prstGeom>
          <a:solidFill>
            <a:srgbClr val="B08D57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38912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Butler team recruiting &amp; training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522780" y="4443984"/>
            <a:ext cx="2743863" cy="292608"/>
          </a:xfrm>
          <a:prstGeom prst="roundRect">
            <a:avLst>
              <a:gd name="adj" fmla="val 12500"/>
            </a:avLst>
          </a:prstGeom>
          <a:solidFill>
            <a:srgbClr val="B08D57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80974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opening &amp; internal testing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844510" y="4864608"/>
            <a:ext cx="844266" cy="292608"/>
          </a:xfrm>
          <a:prstGeom prst="roundRect">
            <a:avLst>
              <a:gd name="adj" fmla="val 12500"/>
            </a:avLst>
          </a:prstGeom>
          <a:solidFill>
            <a:srgbClr val="B08D57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5504688"/>
            <a:ext cx="11185855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7240" y="5641848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milestone: soft opening testing completes by end of Q4, requiring both the “Five Principles design review” and the “butler blind assessment” to pass before booking opens publicly.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YINSHAN · Brand Launch &amp; Operations Strategy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ROADMAP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Roadmap Year 2-3: Waves 2 &amp; 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the asset-light partnership model — from 7 to 15 properties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794760" y="192024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 H1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68264" y="192024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 H2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8264" y="2194560"/>
            <a:ext cx="0" cy="3035808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41768" y="192024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2029 H1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41768" y="2194560"/>
            <a:ext cx="0" cy="3035808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15271" y="192024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2029 H2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715271" y="2194560"/>
            <a:ext cx="0" cy="3035808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8600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owner screening &amp; signing (7 sites)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3794760" y="2340864"/>
            <a:ext cx="1973504" cy="292608"/>
          </a:xfrm>
          <a:prstGeom prst="roundRect">
            <a:avLst>
              <a:gd name="adj" fmla="val 12500"/>
            </a:avLst>
          </a:prstGeom>
          <a:solidFill>
            <a:srgbClr val="B08D57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7066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design rollout &amp; construction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386811" y="2761488"/>
            <a:ext cx="2960256" cy="292608"/>
          </a:xfrm>
          <a:prstGeom prst="roundRect">
            <a:avLst>
              <a:gd name="adj" fmla="val 12500"/>
            </a:avLst>
          </a:prstGeom>
          <a:solidFill>
            <a:srgbClr val="B08D57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12724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openings (rolling)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755016" y="3182112"/>
            <a:ext cx="1381453" cy="292608"/>
          </a:xfrm>
          <a:prstGeom prst="roundRect">
            <a:avLst>
              <a:gd name="adj" fmla="val 12500"/>
            </a:avLst>
          </a:prstGeom>
          <a:solidFill>
            <a:srgbClr val="B08D57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54787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system goes national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5768264" y="3602736"/>
            <a:ext cx="1184102" cy="292608"/>
          </a:xfrm>
          <a:prstGeom prst="roundRect">
            <a:avLst>
              <a:gd name="adj" fmla="val 12500"/>
            </a:avLst>
          </a:prstGeom>
          <a:solidFill>
            <a:srgbClr val="B08D57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96849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 owner screening &amp; signing (15 sites)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347067" y="4023360"/>
            <a:ext cx="1973504" cy="292608"/>
          </a:xfrm>
          <a:prstGeom prst="roundRect">
            <a:avLst>
              <a:gd name="adj" fmla="val 12500"/>
            </a:avLst>
          </a:prstGeom>
          <a:solidFill>
            <a:srgbClr val="2F4034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38912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 design rollout &amp; construction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8136468" y="4443984"/>
            <a:ext cx="2762905" cy="292608"/>
          </a:xfrm>
          <a:prstGeom prst="roundRect">
            <a:avLst>
              <a:gd name="adj" fmla="val 12500"/>
            </a:avLst>
          </a:prstGeom>
          <a:solidFill>
            <a:srgbClr val="2F4034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80974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 openings (rolling)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10109972" y="4864608"/>
            <a:ext cx="1578803" cy="292608"/>
          </a:xfrm>
          <a:prstGeom prst="roundRect">
            <a:avLst>
              <a:gd name="adj" fmla="val 12500"/>
            </a:avLst>
          </a:prstGeom>
          <a:solidFill>
            <a:srgbClr val="2F4034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5504688"/>
            <a:ext cx="1118585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7240" y="5632704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= Wave 2 (asset-light partnership begins) · Pine = Wave 3 (scaled expansion) — a 2-quarter buffer between waves is reserved for operational review and model iteration.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YINSHAN · Brand Launch &amp; Operations Strategy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ROADMAP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90-Day Action Plan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13-week checklist — from team formation to breaking ground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357621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04088" y="2340864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W1-2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" y="2670048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Team Formation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" y="3063240"/>
            <a:ext cx="31738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design, and expansion leads in place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07738" y="2194560"/>
            <a:ext cx="357621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08906" y="2340864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W3-4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08906" y="2670048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Site Selection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08906" y="3063240"/>
            <a:ext cx="31738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due diligence and contract negotiation for 3 candidate destinations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112557" y="2194560"/>
            <a:ext cx="357621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13725" y="2340864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W5-6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13725" y="2670048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Visual System Finalized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13725" y="3063240"/>
            <a:ext cx="31738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manual and architectural design guidelines released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3977640"/>
            <a:ext cx="357621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4088" y="4123944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W7-9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" y="4453128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Property Design Development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" y="4846320"/>
            <a:ext cx="31738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and interior drawings completed and approved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07738" y="3977640"/>
            <a:ext cx="357621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08906" y="4123944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W10-11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08906" y="4453128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Butler Academy Setup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08906" y="4846320"/>
            <a:ext cx="31738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and founding instructor team confirmed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112557" y="3977640"/>
            <a:ext cx="357621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313725" y="4123944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W12-13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13725" y="4453128"/>
            <a:ext cx="3173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Groundbreaking Preparation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13725" y="4846320"/>
            <a:ext cx="31738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Artisans mobilized, groundbreaking ceremony and local partnership signings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YINSHAN · Brand Launch &amp; Operations Strategy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GOVERNANCE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&amp; Resource Allocation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allocation streams for a total 3-year investment of RMB 320M</a:t>
            </a:r>
            <a:endParaRPr lang="en-US" sz="12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77240" y="2103120"/>
          <a:ext cx="5120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263640" y="2194560"/>
            <a:ext cx="542513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2240" y="228600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&amp; Design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92240" y="2615184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and full design fees for the first 3 properties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9768535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RMB 185.6M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768535" y="261518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63640" y="3182112"/>
            <a:ext cx="542513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92240" y="3273552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Marketing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92240" y="3602736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system / content platform / KOL co-residency program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9768535" y="327355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RMB 57.6M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768535" y="360273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63640" y="4169664"/>
            <a:ext cx="542513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92240" y="4261104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&amp; Membership Systems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92240" y="4590288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platform / private-domain CRM / revenue management system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9768535" y="42611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RMB 38.4M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768535" y="45902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63640" y="5157216"/>
            <a:ext cx="542513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492240" y="5248656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&amp; Talent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92240" y="557784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Butler academy / core team formation and training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9768535" y="524865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RMB 38.4M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768535" y="5577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GOVERNANCE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Dashboard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metrics spanning operations, brand, and organization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172714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258568"/>
            <a:ext cx="1452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14528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081528"/>
            <a:ext cx="14528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Occupancy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94661" y="2148840"/>
            <a:ext cx="172714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31821" y="2258568"/>
            <a:ext cx="1452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31821" y="2514600"/>
            <a:ext cx="14528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RMB 3,800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31821" y="3081528"/>
            <a:ext cx="14528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286402" y="2148840"/>
            <a:ext cx="172714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23562" y="2258568"/>
            <a:ext cx="1452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423562" y="2514600"/>
            <a:ext cx="14528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RMB 2,584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23562" y="3081528"/>
            <a:ext cx="14528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RevPAR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178144" y="2148840"/>
            <a:ext cx="172714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15304" y="2258568"/>
            <a:ext cx="1452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315304" y="2514600"/>
            <a:ext cx="14528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≥38%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15304" y="3081528"/>
            <a:ext cx="14528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Repeat Rate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069885" y="2148840"/>
            <a:ext cx="172714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07045" y="2258568"/>
            <a:ext cx="1452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07045" y="2514600"/>
            <a:ext cx="14528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+35%/yr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07045" y="3081528"/>
            <a:ext cx="14528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Member Growth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961626" y="2148840"/>
            <a:ext cx="172714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098786" y="2258568"/>
            <a:ext cx="1452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4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098786" y="2514600"/>
            <a:ext cx="14528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4.8/5.0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098786" y="3081528"/>
            <a:ext cx="14528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Rating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72714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" y="4041648"/>
            <a:ext cx="1452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4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0080" y="4297680"/>
            <a:ext cx="14528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40080" y="4864608"/>
            <a:ext cx="14528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Search Index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394661" y="3931920"/>
            <a:ext cx="172714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531821" y="4041648"/>
            <a:ext cx="1452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4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531821" y="4297680"/>
            <a:ext cx="14528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≥55%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2531821" y="4864608"/>
            <a:ext cx="14528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Traffic Share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286402" y="3931920"/>
            <a:ext cx="172714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423562" y="4041648"/>
            <a:ext cx="1452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423562" y="4297680"/>
            <a:ext cx="14528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≥82%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4423562" y="4864608"/>
            <a:ext cx="14528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Butler Retention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178144" y="3931920"/>
            <a:ext cx="172714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315304" y="4041648"/>
            <a:ext cx="1452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15304" y="4297680"/>
            <a:ext cx="14528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≥90%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315304" y="4864608"/>
            <a:ext cx="14528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Butler Training Pass Rate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069885" y="3931920"/>
            <a:ext cx="172714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207045" y="4041648"/>
            <a:ext cx="1452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207045" y="4297680"/>
            <a:ext cx="14528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8207045" y="4864608"/>
            <a:ext cx="14528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Compliance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9961626" y="3931920"/>
            <a:ext cx="172714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10098786" y="4041648"/>
            <a:ext cx="1452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0098786" y="4297680"/>
            <a:ext cx="14528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0098786" y="4864608"/>
            <a:ext cx="14528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Safety Incidents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YINSHAN · Brand Launch &amp; Operations Strategy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GOVERNANCE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3-Year Financial Projections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RevPAR &amp; property count — scaling begins once the first 3 properties validate the model</a:t>
            </a:r>
            <a:endParaRPr lang="en-US" sz="12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2148840"/>
          <a:ext cx="73152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138160" y="2148840"/>
            <a:ext cx="3550615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339328" y="2240280"/>
            <a:ext cx="3148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339328" y="2496312"/>
            <a:ext cx="3148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properties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339328" y="2843784"/>
            <a:ext cx="31482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RevPAR </a:t>
            </a:r>
            <a:pPr indent="0" marL="0">
              <a:buNone/>
            </a:pPr>
            <a:r>
              <a:rPr lang="en-US" sz="1200" b="1" dirty="0">
                <a:solidFill>
                  <a:srgbClr val="2F4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RMB 2,584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138160" y="3282696"/>
            <a:ext cx="3550615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339328" y="3374136"/>
            <a:ext cx="3148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339328" y="3630168"/>
            <a:ext cx="3148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properties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339328" y="3977640"/>
            <a:ext cx="31482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RevPAR </a:t>
            </a:r>
            <a:pPr indent="0" marL="0">
              <a:buNone/>
            </a:pPr>
            <a:r>
              <a:rPr lang="en-US" sz="1200" b="1" dirty="0">
                <a:solidFill>
                  <a:srgbClr val="2F4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RMB 2,910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138160" y="4416552"/>
            <a:ext cx="3550615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339328" y="4507992"/>
            <a:ext cx="3148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2029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339328" y="4764024"/>
            <a:ext cx="3148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properties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339328" y="5111496"/>
            <a:ext cx="31482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RevPAR </a:t>
            </a:r>
            <a:pPr indent="0" marL="0">
              <a:buNone/>
            </a:pPr>
            <a:r>
              <a:rPr lang="en-US" sz="1200" b="1" dirty="0">
                <a:solidFill>
                  <a:srgbClr val="2F4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RMB 3,265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02920" y="635508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see appendix for methodology (p.38) — revenue includes rooms/F&amp;B/membership/management-fee income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GOVERNANCE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Matrix &amp; Mitigation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and preparing for four major risks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545576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313432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Scarcity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1520" y="2715768"/>
            <a:ext cx="499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Sites meeting all three criteria are increasingly scarce, potentially limiting expansion pace.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4998568" cy="0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337560"/>
            <a:ext cx="499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“site intelligence” network, pre-stocking a candidate pipeline 2–3 years ahead.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33008" y="2148840"/>
            <a:ext cx="545576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61608" y="2313432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Volatility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61608" y="2715768"/>
            <a:ext cx="499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Mountain destinations are highly climate-dependent, pressuring low-season occupancy.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61608" y="3246120"/>
            <a:ext cx="4998568" cy="0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1608" y="3337560"/>
            <a:ext cx="499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Member-exclusive custom packages plus corporate retreat bookings offset the low season.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4251960"/>
            <a:ext cx="545576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4416552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Dilution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31520" y="4818888"/>
            <a:ext cx="499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Asset-light expansion risks inconsistent execution by owners, harming overall brand coherence.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1520" y="5349240"/>
            <a:ext cx="4998568" cy="0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440680"/>
            <a:ext cx="499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One-vote veto rights, quarterly mystery-guest audits, and an owner exit mechanism.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33008" y="4251960"/>
            <a:ext cx="545576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61608" y="4416552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Talent Attrition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461608" y="4818888"/>
            <a:ext cx="499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Butler talent in mountain regions is costly to train and vulnerable to poaching.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61608" y="5349240"/>
            <a:ext cx="4998568" cy="0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61608" y="5440680"/>
            <a:ext cx="499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credit system plus long-term service profit-sharing to retain core talent.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YINSHAN · Brand Launch &amp; Operations Strategy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GOVERNANCE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Safeguards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Council + Quarterly Tasting Review + Annual YINSHAN Gathering — three governance rhythms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920240" y="3337560"/>
            <a:ext cx="2194560" cy="219456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B08D57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2450592" y="2770632"/>
            <a:ext cx="1133856" cy="11338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08D57"/>
            </a:solidFill>
            <a:prstDash val="solid"/>
          </a:ln>
          <a:effectLst>
            <a:outerShdw sx="100000" sy="100000" kx="0" ky="0" algn="bl" rotWithShape="0" blurRad="101600" dist="25400" dir="5400000">
              <a:srgbClr val="1C1C1C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0592" y="2843784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50592" y="3099816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Council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220370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6B6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review with veto power over design and site decisions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3400864" y="4416552"/>
            <a:ext cx="1133856" cy="11338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08D57"/>
            </a:solidFill>
            <a:prstDash val="solid"/>
          </a:ln>
          <a:effectLst>
            <a:outerShdw sx="100000" sy="100000" kx="0" ky="0" algn="bl" rotWithShape="0" blurRad="101600" dist="25400" dir="5400000">
              <a:srgbClr val="1C1C1C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00864" y="4489704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00864" y="4745736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Review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99112" y="5660136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6B6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experience audit with owners, HQ, and guest representatives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1500320" y="4416552"/>
            <a:ext cx="1133856" cy="11338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08D57"/>
            </a:solidFill>
            <a:prstDash val="solid"/>
          </a:ln>
          <a:effectLst>
            <a:outerShdw sx="100000" sy="100000" kx="0" ky="0" algn="bl" rotWithShape="0" blurRad="101600" dist="25400" dir="5400000">
              <a:srgbClr val="1C1C1C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500320" y="4489704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00320" y="4745736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Gathering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98568" y="5660136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6B6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review and standards update with all property GMs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2194560" y="4050792"/>
            <a:ext cx="1645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Rhythms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0" y="2148840"/>
            <a:ext cx="5470855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92240" y="2331720"/>
            <a:ext cx="4922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Rhythm Detail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92240" y="2697480"/>
            <a:ext cx="49222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Council: founders + design advisors + legal counsel, holding one-vote veto over site selection, design, and owner admission; meets monthly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Tasting Review: 3–5 Confidant-tier members join as “mystery guests,” scoring the experience on-site; scores feed into property evaluation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YINSHAN Gathering: all property GMs and owner representatives convene to review the year's standards execution and jointly revise next year's manual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YINSHAN · Brand Launch &amp; Operations Strategy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GOVERNANCE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Partner RACI Matrix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Responsible / A Accountable / C Consulted / I Informed</a:t>
            </a:r>
            <a:endParaRPr lang="en-US" sz="12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1118585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920240"/>
                <a:gridCol w="1920240"/>
                <a:gridCol w="192024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YINSHAN HQ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On-Site 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0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Advisor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selection decision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&amp; interior design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Butler recruiting &amp; training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R/A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&amp; revenue management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partner agreements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&amp; marketing content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R/A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5486400"/>
            <a:ext cx="1118585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BE"/>
            </a:solidFill>
            <a:prstDash val="solid"/>
          </a:ln>
          <a:effectLst>
            <a:outerShdw sx="100000" sy="100000" kx="0" ky="0" algn="bl" rotWithShape="0" blurRad="114300" dist="38100" dir="5400000">
              <a:srgbClr val="1C1C1C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" y="562356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“A” accountability always rests with either YINSHAN HQ or the owner — never left in a gray zone of no ownership, especially for load-bearing decisions like site selection and design.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53419" y="5669280"/>
            <a:ext cx="3657509" cy="1188720"/>
          </a:xfrm>
          <a:prstGeom prst="triangle">
            <a:avLst/>
          </a:prstGeom>
          <a:solidFill>
            <a:srgbClr val="141414"/>
          </a:solidFill>
          <a:ln/>
        </p:spPr>
      </p:sp>
      <p:sp>
        <p:nvSpPr>
          <p:cNvPr id="3" name="Shape 1"/>
          <p:cNvSpPr/>
          <p:nvPr/>
        </p:nvSpPr>
        <p:spPr>
          <a:xfrm>
            <a:off x="975336" y="5003597"/>
            <a:ext cx="4876678" cy="1854403"/>
          </a:xfrm>
          <a:prstGeom prst="triangle">
            <a:avLst/>
          </a:prstGeom>
          <a:solidFill>
            <a:srgbClr val="211E18"/>
          </a:solidFill>
          <a:ln/>
        </p:spPr>
      </p:sp>
      <p:sp>
        <p:nvSpPr>
          <p:cNvPr id="4" name="Shape 2"/>
          <p:cNvSpPr/>
          <p:nvPr/>
        </p:nvSpPr>
        <p:spPr>
          <a:xfrm>
            <a:off x="3413675" y="4480560"/>
            <a:ext cx="5852014" cy="2377440"/>
          </a:xfrm>
          <a:prstGeom prst="triangle">
            <a:avLst/>
          </a:prstGeom>
          <a:solidFill>
            <a:srgbClr val="2E2A20"/>
          </a:solidFill>
          <a:ln/>
        </p:spPr>
      </p:sp>
      <p:sp>
        <p:nvSpPr>
          <p:cNvPr id="5" name="Shape 3"/>
          <p:cNvSpPr/>
          <p:nvPr/>
        </p:nvSpPr>
        <p:spPr>
          <a:xfrm>
            <a:off x="6705432" y="5336438"/>
            <a:ext cx="4632844" cy="1521562"/>
          </a:xfrm>
          <a:prstGeom prst="triangle">
            <a:avLst/>
          </a:prstGeom>
          <a:solidFill>
            <a:srgbClr val="211E18"/>
          </a:solidFill>
          <a:ln/>
        </p:spPr>
      </p:sp>
      <p:sp>
        <p:nvSpPr>
          <p:cNvPr id="6" name="Shape 4"/>
          <p:cNvSpPr/>
          <p:nvPr/>
        </p:nvSpPr>
        <p:spPr>
          <a:xfrm>
            <a:off x="9753356" y="5859475"/>
            <a:ext cx="3413675" cy="998525"/>
          </a:xfrm>
          <a:prstGeom prst="triangle">
            <a:avLst/>
          </a:prstGeom>
          <a:solidFill>
            <a:srgbClr val="141414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8C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/ 38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TAKEAWAYS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17373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51560" y="17373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5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YINSHAN is not another luxury hotel brand — it defines a new category: reclusive retreat, Chinese-style.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26060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2606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5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3 properties validate more than site and design — they test whether asset-light and strong standards can coexist.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4747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" y="34747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5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3 years, “YINSHAN-style” should become the industry's generic term for quiet luxury — not a proper noun, but a category.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4480560"/>
            <a:ext cx="11185855" cy="502920"/>
          </a:xfrm>
          <a:prstGeom prst="rect">
            <a:avLst/>
          </a:prstGeom>
          <a:solidFill>
            <a:srgbClr val="232019"/>
          </a:solidFill>
          <a:ln w="9525">
            <a:solidFill>
              <a:srgbClr val="E4D9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48056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C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 (Call to Action): complete due diligence on all 3 sites and sign letters of intent with owners — break ground within 90 days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B08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6687" y="437815"/>
            <a:ext cx="276515" cy="276515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B08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384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82935" y="384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6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 / 38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Appendix: Data Sources &amp; Assumptions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boundaries of the assumptions underlying this proposal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&amp; CAGR (p.4)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77640" y="2194560"/>
            <a:ext cx="7711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from published industry research ranges, calibrated with internal interviews; intended for trend direction, not precise forecasting.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880360"/>
            <a:ext cx="11185855" cy="0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358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matrix &amp; benchmarks (p.5, 9)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77640" y="3035808"/>
            <a:ext cx="7711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brand identities anonymized; ADR and repeat-rate figures are range estimates cross-validated through industry interviews.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721608"/>
            <a:ext cx="11185855" cy="0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8770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profile data (p.6)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77640" y="3877056"/>
            <a:ext cx="7711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a 500-response high-net-worth leisure traveler survey and 30 in-depth interviews — a sample inference, not a full census.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4562856"/>
            <a:ext cx="11185855" cy="0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 (p.31, 33)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77640" y="4718304"/>
            <a:ext cx="7711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actual design cost estimates for the first property plus comparable-project cost factors; operating revenue uses a conservative (P25) scenario.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5404104"/>
            <a:ext cx="11185855" cy="0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555955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targets (p.32)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77640" y="5559552"/>
            <a:ext cx="7711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against benchmark brand historical performance and internal soft-opening simulation data — stage-appropriate management targets, not industry-recognized norms.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6245352"/>
            <a:ext cx="11185855" cy="0"/>
          </a:xfrm>
          <a:prstGeom prst="line">
            <a:avLst/>
          </a:prstGeom>
          <a:noFill/>
          <a:ln w="6350">
            <a:solidFill>
              <a:srgbClr val="E4D9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3796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brand names, data, and projections in this proposal are prepared for demonstration purposes only. YINSHAN is a fictional brand and does not represent any real company or project under construction.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6400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YINSHAN · Brand Launch &amp; Operations Strategy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YINSHAN Brand Launch and Operations Strategy</dc:title>
  <dc:subject>PptxGenJS Presentation</dc:subject>
  <dc:creator>YINSHAN</dc:creator>
  <cp:lastModifiedBy>YINSHAN</cp:lastModifiedBy>
  <cp:revision>1</cp:revision>
  <dcterms:created xsi:type="dcterms:W3CDTF">2026-07-05T03:12:53Z</dcterms:created>
  <dcterms:modified xsi:type="dcterms:W3CDTF">2026-07-05T03:12:53Z</dcterms:modified>
</cp:coreProperties>
</file>